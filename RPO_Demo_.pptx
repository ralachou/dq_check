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62" r:id="rId3"/>
    <p:sldId id="257" r:id="rId4"/>
    <p:sldId id="258" r:id="rId5"/>
    <p:sldId id="259" r:id="rId6"/>
    <p:sldId id="261" r:id="rId7"/>
    <p:sldId id="260"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DF0000"/>
    <a:srgbClr val="ED0000"/>
    <a:srgbClr val="FF9900"/>
    <a:srgbClr val="388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51" d="100"/>
          <a:sy n="151" d="100"/>
        </p:scale>
        <p:origin x="474"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OUKRI ABDELILAH" userId="0eb46584a777bbbf" providerId="LiveId" clId="{DDFF1900-471A-4341-BB58-F42E2C34B284}"/>
    <pc:docChg chg="custSel addSld modSld">
      <pc:chgData name="CHOUKRI ABDELILAH" userId="0eb46584a777bbbf" providerId="LiveId" clId="{DDFF1900-471A-4341-BB58-F42E2C34B284}" dt="2026-05-18T18:05:06.920" v="793" actId="20577"/>
      <pc:docMkLst>
        <pc:docMk/>
      </pc:docMkLst>
      <pc:sldChg chg="modSp mod">
        <pc:chgData name="CHOUKRI ABDELILAH" userId="0eb46584a777bbbf" providerId="LiveId" clId="{DDFF1900-471A-4341-BB58-F42E2C34B284}" dt="2026-05-18T18:00:13.596" v="352" actId="20577"/>
        <pc:sldMkLst>
          <pc:docMk/>
          <pc:sldMk cId="0" sldId="257"/>
        </pc:sldMkLst>
        <pc:spChg chg="mod">
          <ac:chgData name="CHOUKRI ABDELILAH" userId="0eb46584a777bbbf" providerId="LiveId" clId="{DDFF1900-471A-4341-BB58-F42E2C34B284}" dt="2026-05-18T17:55:04.181" v="165" actId="1076"/>
          <ac:spMkLst>
            <pc:docMk/>
            <pc:sldMk cId="0" sldId="257"/>
            <ac:spMk id="5" creationId="{00000000-0000-0000-0000-000000000000}"/>
          </ac:spMkLst>
        </pc:spChg>
        <pc:graphicFrameChg chg="mod modGraphic">
          <ac:chgData name="CHOUKRI ABDELILAH" userId="0eb46584a777bbbf" providerId="LiveId" clId="{DDFF1900-471A-4341-BB58-F42E2C34B284}" dt="2026-05-18T18:00:13.596" v="352" actId="20577"/>
          <ac:graphicFrameMkLst>
            <pc:docMk/>
            <pc:sldMk cId="0" sldId="257"/>
            <ac:graphicFrameMk id="4" creationId="{00000000-0000-0000-0000-000000000000}"/>
          </ac:graphicFrameMkLst>
        </pc:graphicFrameChg>
      </pc:sldChg>
      <pc:sldChg chg="modSp mod">
        <pc:chgData name="CHOUKRI ABDELILAH" userId="0eb46584a777bbbf" providerId="LiveId" clId="{DDFF1900-471A-4341-BB58-F42E2C34B284}" dt="2026-05-18T17:59:19.987" v="313" actId="20577"/>
        <pc:sldMkLst>
          <pc:docMk/>
          <pc:sldMk cId="0" sldId="258"/>
        </pc:sldMkLst>
        <pc:spChg chg="mod">
          <ac:chgData name="CHOUKRI ABDELILAH" userId="0eb46584a777bbbf" providerId="LiveId" clId="{DDFF1900-471A-4341-BB58-F42E2C34B284}" dt="2026-05-18T17:59:19.987" v="313" actId="20577"/>
          <ac:spMkLst>
            <pc:docMk/>
            <pc:sldMk cId="0" sldId="258"/>
            <ac:spMk id="10" creationId="{00000000-0000-0000-0000-000000000000}"/>
          </ac:spMkLst>
        </pc:spChg>
        <pc:graphicFrameChg chg="modGraphic">
          <ac:chgData name="CHOUKRI ABDELILAH" userId="0eb46584a777bbbf" providerId="LiveId" clId="{DDFF1900-471A-4341-BB58-F42E2C34B284}" dt="2026-05-18T17:59:10.707" v="306" actId="20577"/>
          <ac:graphicFrameMkLst>
            <pc:docMk/>
            <pc:sldMk cId="0" sldId="258"/>
            <ac:graphicFrameMk id="4" creationId="{00000000-0000-0000-0000-000000000000}"/>
          </ac:graphicFrameMkLst>
        </pc:graphicFrameChg>
      </pc:sldChg>
      <pc:sldChg chg="modSp mod">
        <pc:chgData name="CHOUKRI ABDELILAH" userId="0eb46584a777bbbf" providerId="LiveId" clId="{DDFF1900-471A-4341-BB58-F42E2C34B284}" dt="2026-05-18T18:00:58.613" v="353" actId="1076"/>
        <pc:sldMkLst>
          <pc:docMk/>
          <pc:sldMk cId="0" sldId="259"/>
        </pc:sldMkLst>
        <pc:spChg chg="mod">
          <ac:chgData name="CHOUKRI ABDELILAH" userId="0eb46584a777bbbf" providerId="LiveId" clId="{DDFF1900-471A-4341-BB58-F42E2C34B284}" dt="2026-05-18T18:00:58.613" v="353" actId="1076"/>
          <ac:spMkLst>
            <pc:docMk/>
            <pc:sldMk cId="0" sldId="259"/>
            <ac:spMk id="19" creationId="{00000000-0000-0000-0000-000000000000}"/>
          </ac:spMkLst>
        </pc:spChg>
      </pc:sldChg>
      <pc:sldChg chg="addSp modSp mod">
        <pc:chgData name="CHOUKRI ABDELILAH" userId="0eb46584a777bbbf" providerId="LiveId" clId="{DDFF1900-471A-4341-BB58-F42E2C34B284}" dt="2026-05-18T17:53:59.571" v="95" actId="20577"/>
        <pc:sldMkLst>
          <pc:docMk/>
          <pc:sldMk cId="3807044448" sldId="261"/>
        </pc:sldMkLst>
        <pc:spChg chg="mod">
          <ac:chgData name="CHOUKRI ABDELILAH" userId="0eb46584a777bbbf" providerId="LiveId" clId="{DDFF1900-471A-4341-BB58-F42E2C34B284}" dt="2026-05-18T17:53:31.074" v="22" actId="1076"/>
          <ac:spMkLst>
            <pc:docMk/>
            <pc:sldMk cId="3807044448" sldId="261"/>
            <ac:spMk id="3" creationId="{02937572-5B94-3ACC-FE20-1E0573D90879}"/>
          </ac:spMkLst>
        </pc:spChg>
        <pc:spChg chg="add mod">
          <ac:chgData name="CHOUKRI ABDELILAH" userId="0eb46584a777bbbf" providerId="LiveId" clId="{DDFF1900-471A-4341-BB58-F42E2C34B284}" dt="2026-05-18T17:53:59.571" v="95" actId="20577"/>
          <ac:spMkLst>
            <pc:docMk/>
            <pc:sldMk cId="3807044448" sldId="261"/>
            <ac:spMk id="5" creationId="{EFF22406-58D3-1B15-9D0A-85631DE1B3EB}"/>
          </ac:spMkLst>
        </pc:spChg>
      </pc:sldChg>
      <pc:sldChg chg="addSp modSp new mod">
        <pc:chgData name="CHOUKRI ABDELILAH" userId="0eb46584a777bbbf" providerId="LiveId" clId="{DDFF1900-471A-4341-BB58-F42E2C34B284}" dt="2026-05-18T18:05:06.920" v="793" actId="20577"/>
        <pc:sldMkLst>
          <pc:docMk/>
          <pc:sldMk cId="4057149852" sldId="262"/>
        </pc:sldMkLst>
        <pc:spChg chg="add mod">
          <ac:chgData name="CHOUKRI ABDELILAH" userId="0eb46584a777bbbf" providerId="LiveId" clId="{DDFF1900-471A-4341-BB58-F42E2C34B284}" dt="2026-05-18T18:05:06.920" v="793" actId="20577"/>
          <ac:spMkLst>
            <pc:docMk/>
            <pc:sldMk cId="4057149852" sldId="262"/>
            <ac:spMk id="2" creationId="{9AAF590F-E4E7-CE3E-7A5D-D6F382B38E41}"/>
          </ac:spMkLst>
        </pc:spChg>
        <pc:spChg chg="add mod">
          <ac:chgData name="CHOUKRI ABDELILAH" userId="0eb46584a777bbbf" providerId="LiveId" clId="{DDFF1900-471A-4341-BB58-F42E2C34B284}" dt="2026-05-18T17:56:28.538" v="255" actId="20577"/>
          <ac:spMkLst>
            <pc:docMk/>
            <pc:sldMk cId="4057149852" sldId="262"/>
            <ac:spMk id="4" creationId="{651B570B-4A6C-43D2-B3FC-D201CA6A298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086167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731520" y="548640"/>
            <a:ext cx="7680960" cy="91440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Risk Factor Eligibility Test</a:t>
            </a:r>
            <a:endParaRPr lang="en-US" sz="3600" dirty="0"/>
          </a:p>
        </p:txBody>
      </p:sp>
      <p:sp>
        <p:nvSpPr>
          <p:cNvPr id="3" name="Text 1"/>
          <p:cNvSpPr/>
          <p:nvPr/>
        </p:nvSpPr>
        <p:spPr>
          <a:xfrm>
            <a:off x="731520" y="1371600"/>
            <a:ext cx="7680960" cy="457200"/>
          </a:xfrm>
          <a:prstGeom prst="rect">
            <a:avLst/>
          </a:prstGeom>
          <a:noFill/>
          <a:ln/>
        </p:spPr>
        <p:txBody>
          <a:bodyPr wrap="square" lIns="0" tIns="0" rIns="0" bIns="0" rtlCol="0" anchor="ctr"/>
          <a:lstStyle/>
          <a:p>
            <a:pPr marL="0" indent="0">
              <a:buNone/>
            </a:pPr>
            <a:r>
              <a:rPr lang="en-US" sz="1800" dirty="0">
                <a:solidFill>
                  <a:srgbClr val="CADCFC"/>
                </a:solidFill>
                <a:latin typeface="Calibri" pitchFamily="34" charset="0"/>
                <a:ea typeface="Calibri" pitchFamily="34" charset="-122"/>
                <a:cs typeface="Calibri" pitchFamily="34" charset="-120"/>
              </a:rPr>
              <a:t>RFET Under FRTB IMA</a:t>
            </a:r>
            <a:endParaRPr lang="en-US" sz="1800" dirty="0"/>
          </a:p>
        </p:txBody>
      </p:sp>
      <p:sp>
        <p:nvSpPr>
          <p:cNvPr id="4" name="Shape 2"/>
          <p:cNvSpPr/>
          <p:nvPr/>
        </p:nvSpPr>
        <p:spPr>
          <a:xfrm>
            <a:off x="731520" y="2011680"/>
            <a:ext cx="2286000" cy="36576"/>
          </a:xfrm>
          <a:prstGeom prst="rect">
            <a:avLst/>
          </a:prstGeom>
          <a:solidFill>
            <a:srgbClr val="0EA5E9"/>
          </a:solidFill>
          <a:ln/>
        </p:spPr>
      </p:sp>
      <p:sp>
        <p:nvSpPr>
          <p:cNvPr id="5" name="Text 3"/>
          <p:cNvSpPr/>
          <p:nvPr/>
        </p:nvSpPr>
        <p:spPr>
          <a:xfrm>
            <a:off x="731520" y="2377440"/>
            <a:ext cx="7680960" cy="640080"/>
          </a:xfrm>
          <a:prstGeom prst="rect">
            <a:avLst/>
          </a:prstGeom>
          <a:noFill/>
          <a:ln/>
        </p:spPr>
        <p:txBody>
          <a:bodyPr wrap="square" lIns="0" tIns="0" rIns="0" bIns="0" rtlCol="0" anchor="ctr"/>
          <a:lstStyle/>
          <a:p>
            <a:pPr marL="0" indent="0">
              <a:buNone/>
            </a:pPr>
            <a:r>
              <a:rPr lang="en-US" sz="1400" i="1" dirty="0">
                <a:solidFill>
                  <a:srgbClr val="CADCFC"/>
                </a:solidFill>
                <a:latin typeface="Calibri" pitchFamily="34" charset="0"/>
                <a:ea typeface="Calibri" pitchFamily="34" charset="-122"/>
                <a:cs typeface="Calibri" pitchFamily="34" charset="-120"/>
              </a:rPr>
              <a:t>RFET = proof that each risk factor is suitable and liquid enough to be treated as modellable under FRTB IMA.</a:t>
            </a:r>
            <a:endParaRPr lang="en-US" sz="1400" dirty="0"/>
          </a:p>
        </p:txBody>
      </p:sp>
      <p:sp>
        <p:nvSpPr>
          <p:cNvPr id="6" name="Shape 4"/>
          <p:cNvSpPr/>
          <p:nvPr/>
        </p:nvSpPr>
        <p:spPr>
          <a:xfrm>
            <a:off x="731520" y="3200400"/>
            <a:ext cx="3657600" cy="1463040"/>
          </a:xfrm>
          <a:prstGeom prst="rect">
            <a:avLst/>
          </a:prstGeom>
          <a:solidFill>
            <a:srgbClr val="253275"/>
          </a:solidFill>
          <a:ln/>
          <a:effectLst>
            <a:outerShdw blurRad="76200" dist="25400" dir="8100000" algn="bl" rotWithShape="0">
              <a:srgbClr val="000000">
                <a:alpha val="12000"/>
              </a:srgbClr>
            </a:outerShdw>
          </a:effectLst>
        </p:spPr>
      </p:sp>
      <p:pic>
        <p:nvPicPr>
          <p:cNvPr id="7" name="Image 0" descr="preencoded.png"/>
          <p:cNvPicPr>
            <a:picLocks noChangeAspect="1"/>
          </p:cNvPicPr>
          <p:nvPr/>
        </p:nvPicPr>
        <p:blipFill>
          <a:blip r:embed="rId3"/>
          <a:stretch>
            <a:fillRect/>
          </a:stretch>
        </p:blipFill>
        <p:spPr>
          <a:xfrm>
            <a:off x="1005840" y="3383280"/>
            <a:ext cx="320040" cy="320040"/>
          </a:xfrm>
          <a:prstGeom prst="rect">
            <a:avLst/>
          </a:prstGeom>
        </p:spPr>
      </p:pic>
      <p:sp>
        <p:nvSpPr>
          <p:cNvPr id="8" name="Text 5"/>
          <p:cNvSpPr/>
          <p:nvPr/>
        </p:nvSpPr>
        <p:spPr>
          <a:xfrm>
            <a:off x="1463040" y="3337560"/>
            <a:ext cx="2743200" cy="365760"/>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Qualitative Test</a:t>
            </a:r>
            <a:endParaRPr lang="en-US" sz="1500" dirty="0"/>
          </a:p>
        </p:txBody>
      </p:sp>
      <p:sp>
        <p:nvSpPr>
          <p:cNvPr id="9" name="Text 6"/>
          <p:cNvSpPr/>
          <p:nvPr/>
        </p:nvSpPr>
        <p:spPr>
          <a:xfrm>
            <a:off x="1005840" y="3794760"/>
            <a:ext cx="3200400" cy="77724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Is the risk factor suitable, trustworthy, representative, and defensible</a:t>
            </a:r>
            <a:r>
              <a:rPr lang="en-US" sz="1100" b="1" dirty="0">
                <a:solidFill>
                  <a:srgbClr val="FFFF00"/>
                </a:solidFill>
                <a:latin typeface="Calibri" pitchFamily="34" charset="0"/>
                <a:ea typeface="Calibri" pitchFamily="34" charset="-122"/>
                <a:cs typeface="Calibri" pitchFamily="34" charset="-120"/>
              </a:rPr>
              <a:t>? Not just "is the data good?" </a:t>
            </a:r>
            <a:r>
              <a:rPr lang="en-US" sz="1050" dirty="0">
                <a:solidFill>
                  <a:srgbClr val="CADCFC"/>
                </a:solidFill>
                <a:latin typeface="Calibri" pitchFamily="34" charset="0"/>
                <a:ea typeface="Calibri" pitchFamily="34" charset="-122"/>
                <a:cs typeface="Calibri" pitchFamily="34" charset="-120"/>
              </a:rPr>
              <a:t>— is it suitable for the model and </a:t>
            </a:r>
            <a:r>
              <a:rPr lang="en-US" sz="1050" b="1" dirty="0">
                <a:solidFill>
                  <a:srgbClr val="FFFF00"/>
                </a:solidFill>
                <a:latin typeface="Calibri" pitchFamily="34" charset="0"/>
                <a:ea typeface="Calibri" pitchFamily="34" charset="-122"/>
                <a:cs typeface="Calibri" pitchFamily="34" charset="-120"/>
              </a:rPr>
              <a:t>the actual risk </a:t>
            </a:r>
            <a:r>
              <a:rPr lang="en-US" sz="1050" dirty="0">
                <a:solidFill>
                  <a:srgbClr val="CADCFC"/>
                </a:solidFill>
                <a:latin typeface="Calibri" pitchFamily="34" charset="0"/>
                <a:ea typeface="Calibri" pitchFamily="34" charset="-122"/>
                <a:cs typeface="Calibri" pitchFamily="34" charset="-120"/>
              </a:rPr>
              <a:t>being modeled?</a:t>
            </a:r>
            <a:endParaRPr lang="en-US" sz="1050" dirty="0"/>
          </a:p>
        </p:txBody>
      </p:sp>
      <p:sp>
        <p:nvSpPr>
          <p:cNvPr id="10" name="Shape 7"/>
          <p:cNvSpPr/>
          <p:nvPr/>
        </p:nvSpPr>
        <p:spPr>
          <a:xfrm>
            <a:off x="4754880" y="3200400"/>
            <a:ext cx="3657600" cy="1463040"/>
          </a:xfrm>
          <a:prstGeom prst="rect">
            <a:avLst/>
          </a:prstGeom>
          <a:solidFill>
            <a:srgbClr val="253275"/>
          </a:solidFill>
          <a:ln/>
          <a:effectLst>
            <a:outerShdw blurRad="76200" dist="25400" dir="8100000" algn="bl" rotWithShape="0">
              <a:srgbClr val="000000">
                <a:alpha val="12000"/>
              </a:srgbClr>
            </a:outerShdw>
          </a:effectLst>
        </p:spPr>
      </p:sp>
      <p:pic>
        <p:nvPicPr>
          <p:cNvPr id="11" name="Image 1" descr="preencoded.png"/>
          <p:cNvPicPr>
            <a:picLocks noChangeAspect="1"/>
          </p:cNvPicPr>
          <p:nvPr/>
        </p:nvPicPr>
        <p:blipFill>
          <a:blip r:embed="rId4"/>
          <a:stretch>
            <a:fillRect/>
          </a:stretch>
        </p:blipFill>
        <p:spPr>
          <a:xfrm>
            <a:off x="5029200" y="3383280"/>
            <a:ext cx="320040" cy="320040"/>
          </a:xfrm>
          <a:prstGeom prst="rect">
            <a:avLst/>
          </a:prstGeom>
        </p:spPr>
      </p:pic>
      <p:sp>
        <p:nvSpPr>
          <p:cNvPr id="12" name="Text 8"/>
          <p:cNvSpPr/>
          <p:nvPr/>
        </p:nvSpPr>
        <p:spPr>
          <a:xfrm>
            <a:off x="5486400" y="3337560"/>
            <a:ext cx="2743200" cy="365760"/>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Quantitative Test</a:t>
            </a:r>
            <a:endParaRPr lang="en-US" sz="1500" dirty="0"/>
          </a:p>
        </p:txBody>
      </p:sp>
      <p:sp>
        <p:nvSpPr>
          <p:cNvPr id="13" name="Text 9"/>
          <p:cNvSpPr/>
          <p:nvPr/>
        </p:nvSpPr>
        <p:spPr>
          <a:xfrm>
            <a:off x="5029200" y="3794760"/>
            <a:ext cx="3200400" cy="77724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Are there enough valid Real Price Observations to prove market</a:t>
            </a:r>
            <a:r>
              <a:rPr lang="en-US" sz="1050" b="1" dirty="0">
                <a:solidFill>
                  <a:srgbClr val="FFFF00"/>
                </a:solidFill>
                <a:latin typeface="Calibri" pitchFamily="34" charset="0"/>
                <a:ea typeface="Calibri" pitchFamily="34" charset="-122"/>
                <a:cs typeface="Calibri" pitchFamily="34" charset="-120"/>
              </a:rPr>
              <a:t> liquidity</a:t>
            </a:r>
            <a:r>
              <a:rPr lang="en-US" sz="1050" dirty="0">
                <a:solidFill>
                  <a:srgbClr val="CADCFC"/>
                </a:solidFill>
                <a:latin typeface="Calibri" pitchFamily="34" charset="0"/>
                <a:ea typeface="Calibri" pitchFamily="34" charset="-122"/>
                <a:cs typeface="Calibri" pitchFamily="34" charset="-120"/>
              </a:rPr>
              <a:t>? </a:t>
            </a:r>
            <a:r>
              <a:rPr lang="en-US" sz="1050" b="1" dirty="0">
                <a:solidFill>
                  <a:srgbClr val="FFFF00"/>
                </a:solidFill>
                <a:latin typeface="Calibri" pitchFamily="34" charset="0"/>
                <a:ea typeface="Calibri" pitchFamily="34" charset="-122"/>
                <a:cs typeface="Calibri" pitchFamily="34" charset="-120"/>
              </a:rPr>
              <a:t>RPOs must come from executed trades, </a:t>
            </a:r>
            <a:r>
              <a:rPr lang="en-US" sz="1050" dirty="0">
                <a:solidFill>
                  <a:srgbClr val="CADCFC"/>
                </a:solidFill>
                <a:latin typeface="Calibri" pitchFamily="34" charset="0"/>
                <a:ea typeface="Calibri" pitchFamily="34" charset="-122"/>
                <a:cs typeface="Calibri" pitchFamily="34" charset="-120"/>
              </a:rPr>
              <a:t>firm quotes, or verifiable vendor observations.</a:t>
            </a:r>
            <a:endParaRPr lang="en-US" sz="1050" dirty="0"/>
          </a:p>
        </p:txBody>
      </p:sp>
      <p:sp>
        <p:nvSpPr>
          <p:cNvPr id="14" name="Text 10"/>
          <p:cNvSpPr/>
          <p:nvPr/>
        </p:nvSpPr>
        <p:spPr>
          <a:xfrm>
            <a:off x="731520" y="4709160"/>
            <a:ext cx="7680960" cy="320040"/>
          </a:xfrm>
          <a:prstGeom prst="rect">
            <a:avLst/>
          </a:prstGeom>
          <a:noFill/>
          <a:ln/>
        </p:spPr>
        <p:txBody>
          <a:bodyPr wrap="square" lIns="0" tIns="0" rIns="0" bIns="0" rtlCol="0" anchor="ctr"/>
          <a:lstStyle/>
          <a:p>
            <a:pPr marL="0" indent="0">
              <a:buNone/>
            </a:pPr>
            <a:r>
              <a:rPr lang="en-US" sz="900" i="1" dirty="0">
                <a:solidFill>
                  <a:srgbClr val="8A92A8"/>
                </a:solidFill>
                <a:latin typeface="Calibri" pitchFamily="34" charset="0"/>
                <a:ea typeface="Calibri" pitchFamily="34" charset="-122"/>
                <a:cs typeface="Calibri" pitchFamily="34" charset="-120"/>
              </a:rPr>
              <a:t>The key implementation challenge is not just collecting prices; </a:t>
            </a:r>
            <a:r>
              <a:rPr lang="en-US" sz="900" b="1" i="1" dirty="0">
                <a:solidFill>
                  <a:srgbClr val="FFFF00"/>
                </a:solidFill>
                <a:latin typeface="Calibri" pitchFamily="34" charset="0"/>
                <a:ea typeface="Calibri" pitchFamily="34" charset="-122"/>
                <a:cs typeface="Calibri" pitchFamily="34" charset="-120"/>
              </a:rPr>
              <a:t>it is linking RPOs to the correct risk factor bucket</a:t>
            </a:r>
            <a:r>
              <a:rPr lang="en-US" sz="900" i="1" dirty="0">
                <a:solidFill>
                  <a:srgbClr val="8A92A8"/>
                </a:solidFill>
                <a:latin typeface="Calibri" pitchFamily="34" charset="0"/>
                <a:ea typeface="Calibri" pitchFamily="34" charset="-122"/>
                <a:cs typeface="Calibri" pitchFamily="34" charset="-120"/>
              </a:rPr>
              <a:t>, </a:t>
            </a:r>
            <a:r>
              <a:rPr lang="en-US" sz="900" b="1" i="1" dirty="0">
                <a:solidFill>
                  <a:srgbClr val="FFFF00"/>
                </a:solidFill>
                <a:latin typeface="Calibri" pitchFamily="34" charset="0"/>
                <a:ea typeface="Calibri" pitchFamily="34" charset="-122"/>
                <a:cs typeface="Calibri" pitchFamily="34" charset="-120"/>
              </a:rPr>
              <a:t>instrument</a:t>
            </a:r>
            <a:r>
              <a:rPr lang="en-US" sz="900" i="1" dirty="0">
                <a:solidFill>
                  <a:srgbClr val="8A92A8"/>
                </a:solidFill>
                <a:latin typeface="Calibri" pitchFamily="34" charset="0"/>
                <a:ea typeface="Calibri" pitchFamily="34" charset="-122"/>
                <a:cs typeface="Calibri" pitchFamily="34" charset="-120"/>
              </a:rPr>
              <a:t>, tenor, curve point, surface point, proxy, and model usage.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AAF590F-E4E7-CE3E-7A5D-D6F382B38E41}"/>
              </a:ext>
            </a:extLst>
          </p:cNvPr>
          <p:cNvSpPr txBox="1"/>
          <p:nvPr/>
        </p:nvSpPr>
        <p:spPr>
          <a:xfrm>
            <a:off x="387350" y="977900"/>
            <a:ext cx="8242300" cy="1938992"/>
          </a:xfrm>
          <a:prstGeom prst="rect">
            <a:avLst/>
          </a:prstGeom>
          <a:noFill/>
        </p:spPr>
        <p:txBody>
          <a:bodyPr wrap="square" rtlCol="0">
            <a:spAutoFit/>
          </a:bodyPr>
          <a:lstStyle/>
          <a:p>
            <a:r>
              <a:rPr lang="en-US" sz="1200" b="1" dirty="0">
                <a:solidFill>
                  <a:srgbClr val="0000FF"/>
                </a:solidFill>
              </a:rPr>
              <a:t>One real transaction can be counted for every risk factor </a:t>
            </a:r>
            <a:r>
              <a:rPr lang="en-US" sz="1200" dirty="0"/>
              <a:t>for which it is representative, but you must prove that the risk-factor value can be extracted from that  transaction price</a:t>
            </a:r>
          </a:p>
          <a:p>
            <a:pPr marL="628650" lvl="1" indent="-171450">
              <a:buFont typeface="Arial" panose="020B0604020202020204" pitchFamily="34" charset="0"/>
              <a:buChar char="•"/>
            </a:pPr>
            <a:r>
              <a:rPr lang="en-US" sz="1200" b="1" dirty="0"/>
              <a:t>One RPO: One bond executed </a:t>
            </a:r>
            <a:r>
              <a:rPr lang="en-US" sz="1200" dirty="0"/>
              <a:t>trade can represent both  </a:t>
            </a:r>
          </a:p>
          <a:p>
            <a:pPr marL="1085850" lvl="2" indent="-171450">
              <a:buFont typeface="Arial" panose="020B0604020202020204" pitchFamily="34" charset="0"/>
              <a:buChar char="•"/>
            </a:pPr>
            <a:r>
              <a:rPr lang="en-US" sz="1200" dirty="0">
                <a:solidFill>
                  <a:srgbClr val="FF0000"/>
                </a:solidFill>
              </a:rPr>
              <a:t>Idiosyncratic</a:t>
            </a:r>
            <a:r>
              <a:rPr lang="en-US" sz="1200" dirty="0"/>
              <a:t> risk </a:t>
            </a:r>
            <a:r>
              <a:rPr lang="en-US" sz="1200" dirty="0">
                <a:sym typeface="Wingdings" panose="05000000000000000000" pitchFamily="2" charset="2"/>
              </a:rPr>
              <a:t> issuer credit risk factor </a:t>
            </a:r>
            <a:endParaRPr lang="en-US" sz="1200" dirty="0"/>
          </a:p>
          <a:p>
            <a:pPr marL="1085850" lvl="2" indent="-171450">
              <a:buFont typeface="Arial" panose="020B0604020202020204" pitchFamily="34" charset="0"/>
              <a:buChar char="•"/>
            </a:pPr>
            <a:r>
              <a:rPr lang="en-US" sz="1200" dirty="0"/>
              <a:t> </a:t>
            </a:r>
            <a:r>
              <a:rPr lang="en-US" sz="1200" dirty="0">
                <a:solidFill>
                  <a:srgbClr val="FF0000"/>
                </a:solidFill>
              </a:rPr>
              <a:t>Systematic</a:t>
            </a:r>
            <a:r>
              <a:rPr lang="en-US" sz="1200" dirty="0"/>
              <a:t> risk  </a:t>
            </a:r>
            <a:r>
              <a:rPr lang="en-US" sz="1200" dirty="0">
                <a:sym typeface="Wingdings" panose="05000000000000000000" pitchFamily="2" charset="2"/>
              </a:rPr>
              <a:t> sector. Rating risk factor </a:t>
            </a:r>
            <a:endParaRPr lang="en-US" sz="1200" dirty="0"/>
          </a:p>
          <a:p>
            <a:endParaRPr lang="en-US" sz="1200" dirty="0">
              <a:solidFill>
                <a:srgbClr val="ED0000"/>
              </a:solidFill>
            </a:endParaRPr>
          </a:p>
          <a:p>
            <a:r>
              <a:rPr lang="en-US" sz="1200" dirty="0"/>
              <a:t>The data used may include combinations of modifiable risk factors. </a:t>
            </a:r>
          </a:p>
          <a:p>
            <a:r>
              <a:rPr lang="en-US" sz="1200" dirty="0"/>
              <a:t> Institutions often price instruments as a combination of risk factors. </a:t>
            </a:r>
          </a:p>
          <a:p>
            <a:r>
              <a:rPr lang="en-US" sz="1200" dirty="0"/>
              <a:t> Generally, </a:t>
            </a:r>
            <a:r>
              <a:rPr lang="en-US" sz="1200" b="1" dirty="0">
                <a:solidFill>
                  <a:srgbClr val="0000FF"/>
                </a:solidFill>
              </a:rPr>
              <a:t>risk factors derived solely from a combination of modellable risk factors are modellable.</a:t>
            </a:r>
          </a:p>
          <a:p>
            <a:r>
              <a:rPr lang="en-US" sz="1200" b="1" dirty="0">
                <a:solidFill>
                  <a:srgbClr val="0000FF"/>
                </a:solidFill>
              </a:rPr>
              <a:t>	</a:t>
            </a:r>
            <a:r>
              <a:rPr lang="en-US" sz="1200" dirty="0"/>
              <a:t>The concept is accepted but is not applicable in all use cases ? </a:t>
            </a:r>
          </a:p>
        </p:txBody>
      </p:sp>
      <p:sp>
        <p:nvSpPr>
          <p:cNvPr id="4" name="TextBox 3">
            <a:extLst>
              <a:ext uri="{FF2B5EF4-FFF2-40B4-BE49-F238E27FC236}">
                <a16:creationId xmlns:a16="http://schemas.microsoft.com/office/drawing/2014/main" id="{651B570B-4A6C-43D2-B3FC-D201CA6A2982}"/>
              </a:ext>
            </a:extLst>
          </p:cNvPr>
          <p:cNvSpPr txBox="1"/>
          <p:nvPr/>
        </p:nvSpPr>
        <p:spPr>
          <a:xfrm>
            <a:off x="2286000" y="153085"/>
            <a:ext cx="4572000" cy="369332"/>
          </a:xfrm>
          <a:prstGeom prst="rect">
            <a:avLst/>
          </a:prstGeom>
          <a:noFill/>
        </p:spPr>
        <p:txBody>
          <a:bodyPr wrap="square">
            <a:spAutoFit/>
          </a:bodyPr>
          <a:lstStyle/>
          <a:p>
            <a:pPr marL="0" indent="0">
              <a:buNone/>
            </a:pPr>
            <a:r>
              <a:rPr lang="en-US" sz="1800" b="1" dirty="0">
                <a:solidFill>
                  <a:srgbClr val="1E2761"/>
                </a:solidFill>
                <a:latin typeface="Georgia" pitchFamily="34" charset="0"/>
                <a:ea typeface="Georgia" pitchFamily="34" charset="-122"/>
                <a:cs typeface="Georgia" pitchFamily="34" charset="-120"/>
              </a:rPr>
              <a:t>How to apply these rules in RFET  </a:t>
            </a:r>
            <a:endParaRPr lang="en-US" sz="1800" dirty="0"/>
          </a:p>
        </p:txBody>
      </p:sp>
    </p:spTree>
    <p:extLst>
      <p:ext uri="{BB962C8B-B14F-4D97-AF65-F5344CB8AC3E}">
        <p14:creationId xmlns:p14="http://schemas.microsoft.com/office/powerpoint/2010/main" val="40571498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320040"/>
            <a:ext cx="7680960" cy="548640"/>
          </a:xfrm>
          <a:prstGeom prst="rect">
            <a:avLst/>
          </a:prstGeom>
          <a:noFill/>
          <a:ln/>
        </p:spPr>
        <p:txBody>
          <a:bodyPr wrap="square" lIns="0" tIns="0" rIns="0" bIns="0" rtlCol="0" anchor="ctr"/>
          <a:lstStyle/>
          <a:p>
            <a:pPr marL="0" indent="0">
              <a:buNone/>
            </a:pPr>
            <a:r>
              <a:rPr lang="en-US" sz="2400" b="1" dirty="0">
                <a:solidFill>
                  <a:srgbClr val="1E2761"/>
                </a:solidFill>
                <a:latin typeface="Georgia" pitchFamily="34" charset="0"/>
                <a:ea typeface="Georgia" pitchFamily="34" charset="-122"/>
                <a:cs typeface="Georgia" pitchFamily="34" charset="-120"/>
              </a:rPr>
              <a:t>RFET Risk Factor Categories &amp; Mapping Complexity</a:t>
            </a:r>
            <a:endParaRPr lang="en-US" sz="2400" dirty="0"/>
          </a:p>
        </p:txBody>
      </p:sp>
      <p:sp>
        <p:nvSpPr>
          <p:cNvPr id="3" name="Text 1"/>
          <p:cNvSpPr/>
          <p:nvPr/>
        </p:nvSpPr>
        <p:spPr>
          <a:xfrm>
            <a:off x="731520" y="868680"/>
            <a:ext cx="7680960" cy="365760"/>
          </a:xfrm>
          <a:prstGeom prst="rect">
            <a:avLst/>
          </a:prstGeom>
          <a:noFill/>
          <a:ln/>
        </p:spPr>
        <p:txBody>
          <a:bodyPr wrap="square" lIns="0" tIns="0" rIns="0" bIns="0" rtlCol="0" anchor="ctr"/>
          <a:lstStyle/>
          <a:p>
            <a:pPr marL="0" indent="0">
              <a:buNone/>
            </a:pPr>
            <a:r>
              <a:rPr lang="en-US" sz="1100" dirty="0">
                <a:solidFill>
                  <a:srgbClr val="2D3248"/>
                </a:solidFill>
                <a:latin typeface="Calibri" pitchFamily="34" charset="0"/>
                <a:ea typeface="Calibri" pitchFamily="34" charset="-122"/>
                <a:cs typeface="Calibri" pitchFamily="34" charset="-120"/>
              </a:rPr>
              <a:t>Each risk factor must pass RFET quarterly. Classification depends on both qualitative suitability and quantitative RPO evidence.</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270469325"/>
              </p:ext>
            </p:extLst>
          </p:nvPr>
        </p:nvGraphicFramePr>
        <p:xfrm>
          <a:off x="758952" y="1229360"/>
          <a:ext cx="7680960" cy="3064510"/>
        </p:xfrm>
        <a:graphic>
          <a:graphicData uri="http://schemas.openxmlformats.org/drawingml/2006/table">
            <a:tbl>
              <a:tblPr/>
              <a:tblGrid>
                <a:gridCol w="1395730">
                  <a:extLst>
                    <a:ext uri="{9D8B030D-6E8A-4147-A177-3AD203B41FA5}">
                      <a16:colId xmlns:a16="http://schemas.microsoft.com/office/drawing/2014/main" val="20000"/>
                    </a:ext>
                  </a:extLst>
                </a:gridCol>
                <a:gridCol w="3390900">
                  <a:extLst>
                    <a:ext uri="{9D8B030D-6E8A-4147-A177-3AD203B41FA5}">
                      <a16:colId xmlns:a16="http://schemas.microsoft.com/office/drawing/2014/main" val="20001"/>
                    </a:ext>
                  </a:extLst>
                </a:gridCol>
                <a:gridCol w="2894330">
                  <a:extLst>
                    <a:ext uri="{9D8B030D-6E8A-4147-A177-3AD203B41FA5}">
                      <a16:colId xmlns:a16="http://schemas.microsoft.com/office/drawing/2014/main" val="20002"/>
                    </a:ext>
                  </a:extLst>
                </a:gridCol>
              </a:tblGrid>
              <a:tr h="320040">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Risk Factor Type</a:t>
                      </a:r>
                      <a:endParaRPr lang="en-US" sz="1000" dirty="0">
                        <a:latin typeface="Calibri" charset="0"/>
                        <a:ea typeface="Calibri" charset="0"/>
                        <a:cs typeface="Calibri" charset="0"/>
                      </a:endParaRPr>
                    </a:p>
                  </a:txBody>
                  <a:tcPr>
                    <a:lnL w="6350" cap="flat" cmpd="sng" algn="ctr">
                      <a:solidFill>
                        <a:srgbClr val="D0D5E0"/>
                      </a:solidFill>
                      <a:prstDash val="solid"/>
                      <a:round/>
                      <a:headEnd type="none" w="med" len="med"/>
                      <a:tailEnd type="none" w="med" len="med"/>
                    </a:lnL>
                    <a:lnR w="6350" cap="flat" cmpd="sng" algn="ctr">
                      <a:solidFill>
                        <a:srgbClr val="D0D5E0"/>
                      </a:solidFill>
                      <a:prstDash val="solid"/>
                      <a:round/>
                      <a:headEnd type="none" w="med" len="med"/>
                      <a:tailEnd type="none" w="med" len="med"/>
                    </a:lnR>
                    <a:lnT w="6350" cap="flat" cmpd="sng" algn="ctr">
                      <a:solidFill>
                        <a:srgbClr val="D0D5E0"/>
                      </a:solidFill>
                      <a:prstDash val="solid"/>
                      <a:round/>
                      <a:headEnd type="none" w="med" len="med"/>
                      <a:tailEnd type="none" w="med" len="med"/>
                    </a:lnT>
                    <a:lnB w="6350" cap="flat" cmpd="sng" algn="ctr">
                      <a:solidFill>
                        <a:srgbClr val="D0D5E0"/>
                      </a:solidFill>
                      <a:prstDash val="solid"/>
                      <a:round/>
                      <a:headEnd type="none" w="med" len="med"/>
                      <a:tailEnd type="none" w="med" len="med"/>
                    </a:lnB>
                    <a:solidFill>
                      <a:srgbClr val="1E2761"/>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Example</a:t>
                      </a:r>
                      <a:endParaRPr lang="en-US" sz="1000" dirty="0">
                        <a:latin typeface="Calibri" charset="0"/>
                        <a:ea typeface="Calibri" charset="0"/>
                        <a:cs typeface="Calibri" charset="0"/>
                      </a:endParaRPr>
                    </a:p>
                  </a:txBody>
                  <a:tcPr>
                    <a:lnL w="6350" cap="flat" cmpd="sng" algn="ctr">
                      <a:solidFill>
                        <a:srgbClr val="D0D5E0"/>
                      </a:solidFill>
                      <a:prstDash val="solid"/>
                      <a:round/>
                      <a:headEnd type="none" w="med" len="med"/>
                      <a:tailEnd type="none" w="med" len="med"/>
                    </a:lnL>
                    <a:lnR w="6350" cap="flat" cmpd="sng" algn="ctr">
                      <a:solidFill>
                        <a:srgbClr val="D0D5E0"/>
                      </a:solidFill>
                      <a:prstDash val="solid"/>
                      <a:round/>
                      <a:headEnd type="none" w="med" len="med"/>
                      <a:tailEnd type="none" w="med" len="med"/>
                    </a:lnR>
                    <a:lnT w="6350" cap="flat" cmpd="sng" algn="ctr">
                      <a:solidFill>
                        <a:srgbClr val="D0D5E0"/>
                      </a:solidFill>
                      <a:prstDash val="solid"/>
                      <a:round/>
                      <a:headEnd type="none" w="med" len="med"/>
                      <a:tailEnd type="none" w="med" len="med"/>
                    </a:lnT>
                    <a:lnB w="6350" cap="flat" cmpd="sng" algn="ctr">
                      <a:solidFill>
                        <a:srgbClr val="D0D5E0"/>
                      </a:solidFill>
                      <a:prstDash val="solid"/>
                      <a:round/>
                      <a:headEnd type="none" w="med" len="med"/>
                      <a:tailEnd type="none" w="med" len="med"/>
                    </a:lnB>
                    <a:solidFill>
                      <a:srgbClr val="1E2761"/>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RFET Challenge</a:t>
                      </a:r>
                      <a:endParaRPr lang="en-US" sz="1000" dirty="0">
                        <a:latin typeface="Calibri" charset="0"/>
                        <a:ea typeface="Calibri" charset="0"/>
                        <a:cs typeface="Calibri" charset="0"/>
                      </a:endParaRPr>
                    </a:p>
                  </a:txBody>
                  <a:tcPr>
                    <a:lnL w="6350" cap="flat" cmpd="sng" algn="ctr">
                      <a:solidFill>
                        <a:srgbClr val="D0D5E0"/>
                      </a:solidFill>
                      <a:prstDash val="solid"/>
                      <a:round/>
                      <a:headEnd type="none" w="med" len="med"/>
                      <a:tailEnd type="none" w="med" len="med"/>
                    </a:lnL>
                    <a:lnR w="6350" cap="flat" cmpd="sng" algn="ctr">
                      <a:solidFill>
                        <a:srgbClr val="D0D5E0"/>
                      </a:solidFill>
                      <a:prstDash val="solid"/>
                      <a:round/>
                      <a:headEnd type="none" w="med" len="med"/>
                      <a:tailEnd type="none" w="med" len="med"/>
                    </a:lnR>
                    <a:lnT w="6350" cap="flat" cmpd="sng" algn="ctr">
                      <a:solidFill>
                        <a:srgbClr val="D0D5E0"/>
                      </a:solidFill>
                      <a:prstDash val="solid"/>
                      <a:round/>
                      <a:headEnd type="none" w="med" len="med"/>
                      <a:tailEnd type="none" w="med" len="med"/>
                    </a:lnT>
                    <a:lnB w="6350" cap="flat" cmpd="sng" algn="ctr">
                      <a:solidFill>
                        <a:srgbClr val="D0D5E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57200">
                <a:tc>
                  <a:txBody>
                    <a:bodyPr/>
                    <a:lstStyle/>
                    <a:p>
                      <a:pPr marL="0" indent="0">
                        <a:buNone/>
                      </a:pPr>
                      <a:r>
                        <a:rPr lang="en-US" sz="950" b="1" dirty="0">
                          <a:solidFill>
                            <a:srgbClr val="388600"/>
                          </a:solidFill>
                          <a:latin typeface="Calibri" pitchFamily="34" charset="0"/>
                          <a:ea typeface="Calibri" pitchFamily="34" charset="-122"/>
                          <a:cs typeface="Calibri" pitchFamily="34" charset="-120"/>
                        </a:rPr>
                        <a:t>Single-Dimension RFs</a:t>
                      </a:r>
                      <a:endParaRPr lang="en-US" sz="950" dirty="0">
                        <a:solidFill>
                          <a:srgbClr val="388600"/>
                        </a:solidFill>
                        <a:latin typeface="Calibri" charset="0"/>
                        <a:ea typeface="Calibri" charset="0"/>
                        <a:cs typeface="Calibri" charset="0"/>
                      </a:endParaRPr>
                    </a:p>
                  </a:txBody>
                  <a:tcPr>
                    <a:lnL w="6350" cap="flat" cmpd="sng" algn="ctr">
                      <a:solidFill>
                        <a:srgbClr val="D0D5E0"/>
                      </a:solidFill>
                      <a:prstDash val="solid"/>
                      <a:round/>
                      <a:headEnd type="none" w="med" len="med"/>
                      <a:tailEnd type="none" w="med" len="med"/>
                    </a:lnL>
                    <a:lnR w="6350" cap="flat" cmpd="sng" algn="ctr">
                      <a:solidFill>
                        <a:srgbClr val="D0D5E0"/>
                      </a:solidFill>
                      <a:prstDash val="solid"/>
                      <a:round/>
                      <a:headEnd type="none" w="med" len="med"/>
                      <a:tailEnd type="none" w="med" len="med"/>
                    </a:lnR>
                    <a:lnT w="6350" cap="flat" cmpd="sng" algn="ctr">
                      <a:solidFill>
                        <a:srgbClr val="D0D5E0"/>
                      </a:solidFill>
                      <a:prstDash val="solid"/>
                      <a:round/>
                      <a:headEnd type="none" w="med" len="med"/>
                      <a:tailEnd type="none" w="med" len="med"/>
                    </a:lnT>
                    <a:lnB w="6350" cap="flat" cmpd="sng" algn="ctr">
                      <a:solidFill>
                        <a:srgbClr val="D0D5E0"/>
                      </a:solidFill>
                      <a:prstDash val="solid"/>
                      <a:round/>
                      <a:headEnd type="none" w="med" len="med"/>
                      <a:tailEnd type="none" w="med" len="med"/>
                    </a:lnB>
                    <a:solidFill>
                      <a:srgbClr val="FFFFFF"/>
                    </a:solidFill>
                  </a:tcPr>
                </a:tc>
                <a:tc>
                  <a:txBody>
                    <a:bodyPr/>
                    <a:lstStyle/>
                    <a:p>
                      <a:pPr marL="0" indent="0">
                        <a:buNone/>
                      </a:pPr>
                      <a:r>
                        <a:rPr lang="en-US" sz="950" dirty="0">
                          <a:solidFill>
                            <a:srgbClr val="1A1A2E"/>
                          </a:solidFill>
                          <a:latin typeface="Calibri" pitchFamily="34" charset="0"/>
                          <a:ea typeface="Calibri" pitchFamily="34" charset="-122"/>
                          <a:cs typeface="Calibri" pitchFamily="34" charset="-120"/>
                        </a:rPr>
                        <a:t>EUR/USD spot, equity spot</a:t>
                      </a:r>
                      <a:endParaRPr lang="en-US" sz="950" dirty="0">
                        <a:latin typeface="Calibri" charset="0"/>
                        <a:ea typeface="Calibri" charset="0"/>
                        <a:cs typeface="Calibri" charset="0"/>
                      </a:endParaRPr>
                    </a:p>
                  </a:txBody>
                  <a:tcPr>
                    <a:lnL w="6350" cap="flat" cmpd="sng" algn="ctr">
                      <a:solidFill>
                        <a:srgbClr val="D0D5E0"/>
                      </a:solidFill>
                      <a:prstDash val="solid"/>
                      <a:round/>
                      <a:headEnd type="none" w="med" len="med"/>
                      <a:tailEnd type="none" w="med" len="med"/>
                    </a:lnL>
                    <a:lnR w="6350" cap="flat" cmpd="sng" algn="ctr">
                      <a:solidFill>
                        <a:srgbClr val="D0D5E0"/>
                      </a:solidFill>
                      <a:prstDash val="solid"/>
                      <a:round/>
                      <a:headEnd type="none" w="med" len="med"/>
                      <a:tailEnd type="none" w="med" len="med"/>
                    </a:lnR>
                    <a:lnT w="6350" cap="flat" cmpd="sng" algn="ctr">
                      <a:solidFill>
                        <a:srgbClr val="D0D5E0"/>
                      </a:solidFill>
                      <a:prstDash val="solid"/>
                      <a:round/>
                      <a:headEnd type="none" w="med" len="med"/>
                      <a:tailEnd type="none" w="med" len="med"/>
                    </a:lnT>
                    <a:lnB w="6350" cap="flat" cmpd="sng" algn="ctr">
                      <a:solidFill>
                        <a:srgbClr val="D0D5E0"/>
                      </a:solidFill>
                      <a:prstDash val="solid"/>
                      <a:round/>
                      <a:headEnd type="none" w="med" len="med"/>
                      <a:tailEnd type="none" w="med" len="med"/>
                    </a:lnB>
                    <a:solidFill>
                      <a:srgbClr val="FFFFFF"/>
                    </a:solidFill>
                  </a:tcPr>
                </a:tc>
                <a:tc>
                  <a:txBody>
                    <a:bodyPr/>
                    <a:lstStyle/>
                    <a:p>
                      <a:pPr marL="0" indent="0">
                        <a:buNone/>
                      </a:pPr>
                      <a:r>
                        <a:rPr lang="en-US" sz="950" b="1" dirty="0">
                          <a:solidFill>
                            <a:srgbClr val="388600"/>
                          </a:solidFill>
                          <a:latin typeface="Calibri" pitchFamily="34" charset="0"/>
                          <a:ea typeface="Calibri" pitchFamily="34" charset="-122"/>
                          <a:cs typeface="Calibri" pitchFamily="34" charset="-120"/>
                        </a:rPr>
                        <a:t>Simple 1-to-1 mapping from RPO metadata to risk factor</a:t>
                      </a:r>
                      <a:endParaRPr lang="en-US" sz="950" b="1" dirty="0">
                        <a:solidFill>
                          <a:srgbClr val="388600"/>
                        </a:solidFill>
                        <a:latin typeface="Calibri" charset="0"/>
                        <a:ea typeface="Calibri" charset="0"/>
                        <a:cs typeface="Calibri" charset="0"/>
                      </a:endParaRPr>
                    </a:p>
                  </a:txBody>
                  <a:tcPr>
                    <a:lnL w="6350" cap="flat" cmpd="sng" algn="ctr">
                      <a:solidFill>
                        <a:srgbClr val="D0D5E0"/>
                      </a:solidFill>
                      <a:prstDash val="solid"/>
                      <a:round/>
                      <a:headEnd type="none" w="med" len="med"/>
                      <a:tailEnd type="none" w="med" len="med"/>
                    </a:lnL>
                    <a:lnR w="6350" cap="flat" cmpd="sng" algn="ctr">
                      <a:solidFill>
                        <a:srgbClr val="D0D5E0"/>
                      </a:solidFill>
                      <a:prstDash val="solid"/>
                      <a:round/>
                      <a:headEnd type="none" w="med" len="med"/>
                      <a:tailEnd type="none" w="med" len="med"/>
                    </a:lnR>
                    <a:lnT w="6350" cap="flat" cmpd="sng" algn="ctr">
                      <a:solidFill>
                        <a:srgbClr val="D0D5E0"/>
                      </a:solidFill>
                      <a:prstDash val="solid"/>
                      <a:round/>
                      <a:headEnd type="none" w="med" len="med"/>
                      <a:tailEnd type="none" w="med" len="med"/>
                    </a:lnT>
                    <a:lnB w="6350" cap="flat" cmpd="sng" algn="ctr">
                      <a:solidFill>
                        <a:srgbClr val="D0D5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88950">
                <a:tc>
                  <a:txBody>
                    <a:bodyPr/>
                    <a:lstStyle/>
                    <a:p>
                      <a:pPr marL="0" indent="0">
                        <a:buNone/>
                      </a:pPr>
                      <a:r>
                        <a:rPr lang="en-US" sz="950" b="1" dirty="0">
                          <a:solidFill>
                            <a:srgbClr val="388600"/>
                          </a:solidFill>
                          <a:latin typeface="Calibri" pitchFamily="34" charset="0"/>
                          <a:ea typeface="Calibri" pitchFamily="34" charset="-122"/>
                          <a:cs typeface="Calibri" pitchFamily="34" charset="-120"/>
                        </a:rPr>
                        <a:t>Multi-Dimensional RFs</a:t>
                      </a:r>
                      <a:endParaRPr lang="en-US" sz="950" dirty="0">
                        <a:solidFill>
                          <a:srgbClr val="388600"/>
                        </a:solidFill>
                        <a:latin typeface="Calibri" charset="0"/>
                        <a:ea typeface="Calibri" charset="0"/>
                        <a:cs typeface="Calibri" charset="0"/>
                      </a:endParaRPr>
                    </a:p>
                  </a:txBody>
                  <a:tcPr>
                    <a:lnL w="6350" cap="flat" cmpd="sng" algn="ctr">
                      <a:solidFill>
                        <a:srgbClr val="D0D5E0"/>
                      </a:solidFill>
                      <a:prstDash val="solid"/>
                      <a:round/>
                      <a:headEnd type="none" w="med" len="med"/>
                      <a:tailEnd type="none" w="med" len="med"/>
                    </a:lnL>
                    <a:lnR w="6350" cap="flat" cmpd="sng" algn="ctr">
                      <a:solidFill>
                        <a:srgbClr val="D0D5E0"/>
                      </a:solidFill>
                      <a:prstDash val="solid"/>
                      <a:round/>
                      <a:headEnd type="none" w="med" len="med"/>
                      <a:tailEnd type="none" w="med" len="med"/>
                    </a:lnR>
                    <a:lnT w="6350" cap="flat" cmpd="sng" algn="ctr">
                      <a:solidFill>
                        <a:srgbClr val="D0D5E0"/>
                      </a:solidFill>
                      <a:prstDash val="solid"/>
                      <a:round/>
                      <a:headEnd type="none" w="med" len="med"/>
                      <a:tailEnd type="none" w="med" len="med"/>
                    </a:lnT>
                    <a:lnB w="6350" cap="flat" cmpd="sng" algn="ctr">
                      <a:solidFill>
                        <a:srgbClr val="D0D5E0"/>
                      </a:solidFill>
                      <a:prstDash val="solid"/>
                      <a:round/>
                      <a:headEnd type="none" w="med" len="med"/>
                      <a:tailEnd type="none" w="med" len="med"/>
                    </a:lnB>
                    <a:solidFill>
                      <a:srgbClr val="F0F2F8"/>
                    </a:solidFill>
                  </a:tcPr>
                </a:tc>
                <a:tc>
                  <a:txBody>
                    <a:bodyPr/>
                    <a:lstStyle/>
                    <a:p>
                      <a:pPr marL="0" indent="0">
                        <a:buNone/>
                      </a:pPr>
                      <a:r>
                        <a:rPr lang="en-US" sz="950" dirty="0">
                          <a:solidFill>
                            <a:srgbClr val="1A1A2E"/>
                          </a:solidFill>
                          <a:latin typeface="Calibri" pitchFamily="34" charset="0"/>
                          <a:ea typeface="Calibri" pitchFamily="34" charset="-122"/>
                          <a:cs typeface="Calibri" pitchFamily="34" charset="-120"/>
                        </a:rPr>
                        <a:t>IR curves (  Benchmarks Curves) </a:t>
                      </a:r>
                      <a:endParaRPr lang="en-US" sz="950" dirty="0">
                        <a:latin typeface="Calibri" charset="0"/>
                        <a:ea typeface="Calibri" charset="0"/>
                        <a:cs typeface="Calibri" charset="0"/>
                      </a:endParaRPr>
                    </a:p>
                  </a:txBody>
                  <a:tcPr>
                    <a:lnL w="6350" cap="flat" cmpd="sng" algn="ctr">
                      <a:solidFill>
                        <a:srgbClr val="D0D5E0"/>
                      </a:solidFill>
                      <a:prstDash val="solid"/>
                      <a:round/>
                      <a:headEnd type="none" w="med" len="med"/>
                      <a:tailEnd type="none" w="med" len="med"/>
                    </a:lnL>
                    <a:lnR w="6350" cap="flat" cmpd="sng" algn="ctr">
                      <a:solidFill>
                        <a:srgbClr val="D0D5E0"/>
                      </a:solidFill>
                      <a:prstDash val="solid"/>
                      <a:round/>
                      <a:headEnd type="none" w="med" len="med"/>
                      <a:tailEnd type="none" w="med" len="med"/>
                    </a:lnR>
                    <a:lnT w="6350" cap="flat" cmpd="sng" algn="ctr">
                      <a:solidFill>
                        <a:srgbClr val="D0D5E0"/>
                      </a:solidFill>
                      <a:prstDash val="solid"/>
                      <a:round/>
                      <a:headEnd type="none" w="med" len="med"/>
                      <a:tailEnd type="none" w="med" len="med"/>
                    </a:lnT>
                    <a:lnB w="6350" cap="flat" cmpd="sng" algn="ctr">
                      <a:solidFill>
                        <a:srgbClr val="D0D5E0"/>
                      </a:solidFill>
                      <a:prstDash val="solid"/>
                      <a:round/>
                      <a:headEnd type="none" w="med" len="med"/>
                      <a:tailEnd type="none" w="med" len="med"/>
                    </a:lnB>
                    <a:solidFill>
                      <a:srgbClr val="F0F2F8"/>
                    </a:solidFill>
                  </a:tcPr>
                </a:tc>
                <a:tc>
                  <a:txBody>
                    <a:bodyPr/>
                    <a:lstStyle/>
                    <a:p>
                      <a:pPr marL="0" indent="0">
                        <a:buNone/>
                      </a:pPr>
                      <a:r>
                        <a:rPr lang="en-US" sz="950" b="1" dirty="0">
                          <a:solidFill>
                            <a:srgbClr val="0070C0"/>
                          </a:solidFill>
                          <a:latin typeface="Calibri" pitchFamily="34" charset="0"/>
                          <a:ea typeface="Calibri" pitchFamily="34" charset="-122"/>
                          <a:cs typeface="Calibri" pitchFamily="34" charset="-120"/>
                        </a:rPr>
                        <a:t>Requires bucketing logic </a:t>
                      </a:r>
                      <a:r>
                        <a:rPr lang="en-US" sz="950" dirty="0">
                          <a:solidFill>
                            <a:srgbClr val="1A1A2E"/>
                          </a:solidFill>
                          <a:latin typeface="Calibri" pitchFamily="34" charset="0"/>
                          <a:ea typeface="Calibri" pitchFamily="34" charset="-122"/>
                          <a:cs typeface="Calibri" pitchFamily="34" charset="-120"/>
                        </a:rPr>
                        <a:t>by tenor, expiry , maturity</a:t>
                      </a:r>
                      <a:endParaRPr lang="en-US" sz="950" dirty="0">
                        <a:latin typeface="Calibri" charset="0"/>
                        <a:ea typeface="Calibri" charset="0"/>
                        <a:cs typeface="Calibri" charset="0"/>
                      </a:endParaRPr>
                    </a:p>
                  </a:txBody>
                  <a:tcPr>
                    <a:lnL w="6350" cap="flat" cmpd="sng" algn="ctr">
                      <a:solidFill>
                        <a:srgbClr val="D0D5E0"/>
                      </a:solidFill>
                      <a:prstDash val="solid"/>
                      <a:round/>
                      <a:headEnd type="none" w="med" len="med"/>
                      <a:tailEnd type="none" w="med" len="med"/>
                    </a:lnL>
                    <a:lnR w="6350" cap="flat" cmpd="sng" algn="ctr">
                      <a:solidFill>
                        <a:srgbClr val="D0D5E0"/>
                      </a:solidFill>
                      <a:prstDash val="solid"/>
                      <a:round/>
                      <a:headEnd type="none" w="med" len="med"/>
                      <a:tailEnd type="none" w="med" len="med"/>
                    </a:lnR>
                    <a:lnT w="6350" cap="flat" cmpd="sng" algn="ctr">
                      <a:solidFill>
                        <a:srgbClr val="D0D5E0"/>
                      </a:solidFill>
                      <a:prstDash val="solid"/>
                      <a:round/>
                      <a:headEnd type="none" w="med" len="med"/>
                      <a:tailEnd type="none" w="med" len="med"/>
                    </a:lnT>
                    <a:lnB w="6350" cap="flat" cmpd="sng" algn="ctr">
                      <a:solidFill>
                        <a:srgbClr val="D0D5E0"/>
                      </a:solidFill>
                      <a:prstDash val="solid"/>
                      <a:round/>
                      <a:headEnd type="none" w="med" len="med"/>
                      <a:tailEnd type="none" w="med" len="med"/>
                    </a:lnB>
                    <a:solidFill>
                      <a:srgbClr val="F0F2F8"/>
                    </a:solidFill>
                  </a:tcPr>
                </a:tc>
                <a:extLst>
                  <a:ext uri="{0D108BD9-81ED-4DB2-BD59-A6C34878D82A}">
                    <a16:rowId xmlns:a16="http://schemas.microsoft.com/office/drawing/2014/main" val="10002"/>
                  </a:ext>
                </a:extLst>
              </a:tr>
              <a:tr h="457200">
                <a:tc>
                  <a:txBody>
                    <a:bodyPr/>
                    <a:lstStyle/>
                    <a:p>
                      <a:pPr marL="0" indent="0">
                        <a:buNone/>
                      </a:pPr>
                      <a:r>
                        <a:rPr lang="en-US" sz="950" b="1" dirty="0">
                          <a:solidFill>
                            <a:srgbClr val="ED0000"/>
                          </a:solidFill>
                          <a:latin typeface="Calibri" pitchFamily="34" charset="0"/>
                          <a:ea typeface="Calibri" pitchFamily="34" charset="-122"/>
                          <a:cs typeface="Calibri" pitchFamily="34" charset="-120"/>
                        </a:rPr>
                        <a:t>Composed RFs</a:t>
                      </a:r>
                      <a:endParaRPr lang="en-US" sz="950" dirty="0">
                        <a:solidFill>
                          <a:srgbClr val="ED0000"/>
                        </a:solidFill>
                        <a:latin typeface="Calibri" charset="0"/>
                        <a:ea typeface="Calibri" charset="0"/>
                        <a:cs typeface="Calibri" charset="0"/>
                      </a:endParaRPr>
                    </a:p>
                  </a:txBody>
                  <a:tcPr>
                    <a:lnL w="6350" cap="flat" cmpd="sng" algn="ctr">
                      <a:solidFill>
                        <a:srgbClr val="D0D5E0"/>
                      </a:solidFill>
                      <a:prstDash val="solid"/>
                      <a:round/>
                      <a:headEnd type="none" w="med" len="med"/>
                      <a:tailEnd type="none" w="med" len="med"/>
                    </a:lnL>
                    <a:lnR w="6350" cap="flat" cmpd="sng" algn="ctr">
                      <a:solidFill>
                        <a:srgbClr val="D0D5E0"/>
                      </a:solidFill>
                      <a:prstDash val="solid"/>
                      <a:round/>
                      <a:headEnd type="none" w="med" len="med"/>
                      <a:tailEnd type="none" w="med" len="med"/>
                    </a:lnR>
                    <a:lnT w="6350" cap="flat" cmpd="sng" algn="ctr">
                      <a:solidFill>
                        <a:srgbClr val="D0D5E0"/>
                      </a:solidFill>
                      <a:prstDash val="solid"/>
                      <a:round/>
                      <a:headEnd type="none" w="med" len="med"/>
                      <a:tailEnd type="none" w="med" len="med"/>
                    </a:lnT>
                    <a:lnB w="6350" cap="flat" cmpd="sng" algn="ctr">
                      <a:solidFill>
                        <a:srgbClr val="D0D5E0"/>
                      </a:solidFill>
                      <a:prstDash val="solid"/>
                      <a:round/>
                      <a:headEnd type="none" w="med" len="med"/>
                      <a:tailEnd type="none" w="med" len="med"/>
                    </a:lnB>
                    <a:solidFill>
                      <a:srgbClr val="FFFFFF"/>
                    </a:solidFill>
                  </a:tcPr>
                </a:tc>
                <a:tc>
                  <a:txBody>
                    <a:bodyPr/>
                    <a:lstStyle/>
                    <a:p>
                      <a:pPr marL="0" indent="0">
                        <a:buNone/>
                      </a:pPr>
                      <a:r>
                        <a:rPr lang="en-US" sz="950" dirty="0">
                          <a:solidFill>
                            <a:srgbClr val="1A1A2E"/>
                          </a:solidFill>
                          <a:latin typeface="Calibri" pitchFamily="34" charset="0"/>
                          <a:ea typeface="Calibri" pitchFamily="34" charset="-122"/>
                          <a:cs typeface="Calibri" pitchFamily="34" charset="-120"/>
                        </a:rPr>
                        <a:t>All in  Forward Credit Curves (IR + Credi)  </a:t>
                      </a:r>
                      <a:br>
                        <a:rPr lang="en-US" sz="950" dirty="0">
                          <a:solidFill>
                            <a:srgbClr val="1A1A2E"/>
                          </a:solidFill>
                          <a:latin typeface="Calibri" pitchFamily="34" charset="0"/>
                          <a:ea typeface="Calibri" pitchFamily="34" charset="-122"/>
                          <a:cs typeface="Calibri" pitchFamily="34" charset="-120"/>
                        </a:rPr>
                      </a:br>
                      <a:r>
                        <a:rPr lang="en-US" sz="950" dirty="0">
                          <a:solidFill>
                            <a:srgbClr val="1A1A2E"/>
                          </a:solidFill>
                          <a:latin typeface="Calibri" pitchFamily="34" charset="0"/>
                          <a:ea typeface="Calibri" pitchFamily="34" charset="-122"/>
                          <a:cs typeface="Calibri" pitchFamily="34" charset="-120"/>
                        </a:rPr>
                        <a:t>All in Forward Cross Currency Basis FX Curves  (IR +FX +Basis) </a:t>
                      </a:r>
                      <a:br>
                        <a:rPr lang="en-US" sz="950" dirty="0">
                          <a:solidFill>
                            <a:srgbClr val="1A1A2E"/>
                          </a:solidFill>
                          <a:latin typeface="Calibri" pitchFamily="34" charset="0"/>
                          <a:ea typeface="Calibri" pitchFamily="34" charset="-122"/>
                          <a:cs typeface="Calibri" pitchFamily="34" charset="-120"/>
                        </a:rPr>
                      </a:br>
                      <a:r>
                        <a:rPr lang="en-US" sz="950" dirty="0">
                          <a:solidFill>
                            <a:srgbClr val="1A1A2E"/>
                          </a:solidFill>
                          <a:latin typeface="Calibri" pitchFamily="34" charset="0"/>
                          <a:ea typeface="Calibri" pitchFamily="34" charset="-122"/>
                          <a:cs typeface="Calibri" pitchFamily="34" charset="-120"/>
                        </a:rPr>
                        <a:t>All in Dividend yield  Curves ( Dividend + Funding spread) </a:t>
                      </a:r>
                      <a:endParaRPr lang="en-US" sz="950" dirty="0">
                        <a:latin typeface="Calibri" charset="0"/>
                        <a:ea typeface="Calibri" charset="0"/>
                        <a:cs typeface="Calibri" charset="0"/>
                      </a:endParaRPr>
                    </a:p>
                  </a:txBody>
                  <a:tcPr>
                    <a:lnL w="6350" cap="flat" cmpd="sng" algn="ctr">
                      <a:solidFill>
                        <a:srgbClr val="D0D5E0"/>
                      </a:solidFill>
                      <a:prstDash val="solid"/>
                      <a:round/>
                      <a:headEnd type="none" w="med" len="med"/>
                      <a:tailEnd type="none" w="med" len="med"/>
                    </a:lnL>
                    <a:lnR w="6350" cap="flat" cmpd="sng" algn="ctr">
                      <a:solidFill>
                        <a:srgbClr val="D0D5E0"/>
                      </a:solidFill>
                      <a:prstDash val="solid"/>
                      <a:round/>
                      <a:headEnd type="none" w="med" len="med"/>
                      <a:tailEnd type="none" w="med" len="med"/>
                    </a:lnR>
                    <a:lnT w="6350" cap="flat" cmpd="sng" algn="ctr">
                      <a:solidFill>
                        <a:srgbClr val="D0D5E0"/>
                      </a:solidFill>
                      <a:prstDash val="solid"/>
                      <a:round/>
                      <a:headEnd type="none" w="med" len="med"/>
                      <a:tailEnd type="none" w="med" len="med"/>
                    </a:lnT>
                    <a:lnB w="6350" cap="flat" cmpd="sng" algn="ctr">
                      <a:solidFill>
                        <a:srgbClr val="D0D5E0"/>
                      </a:solidFill>
                      <a:prstDash val="solid"/>
                      <a:round/>
                      <a:headEnd type="none" w="med" len="med"/>
                      <a:tailEnd type="none" w="med" len="med"/>
                    </a:lnB>
                    <a:solidFill>
                      <a:srgbClr val="FFFFFF"/>
                    </a:solidFill>
                  </a:tcPr>
                </a:tc>
                <a:tc>
                  <a:txBody>
                    <a:bodyPr/>
                    <a:lstStyle/>
                    <a:p>
                      <a:pPr marL="0" indent="0">
                        <a:buNone/>
                      </a:pPr>
                      <a:r>
                        <a:rPr lang="en-US" sz="950" dirty="0">
                          <a:solidFill>
                            <a:srgbClr val="1A1A2E"/>
                          </a:solidFill>
                          <a:latin typeface="Calibri" pitchFamily="34" charset="0"/>
                          <a:ea typeface="Calibri" pitchFamily="34" charset="-122"/>
                          <a:cs typeface="Calibri" pitchFamily="34" charset="-120"/>
                        </a:rPr>
                        <a:t>Can one RPO map to both underling ? </a:t>
                      </a:r>
                      <a:endParaRPr lang="en-US" sz="950" dirty="0">
                        <a:latin typeface="Calibri" charset="0"/>
                        <a:ea typeface="Calibri" charset="0"/>
                        <a:cs typeface="Calibri" charset="0"/>
                      </a:endParaRPr>
                    </a:p>
                  </a:txBody>
                  <a:tcPr>
                    <a:lnL w="6350" cap="flat" cmpd="sng" algn="ctr">
                      <a:solidFill>
                        <a:srgbClr val="D0D5E0"/>
                      </a:solidFill>
                      <a:prstDash val="solid"/>
                      <a:round/>
                      <a:headEnd type="none" w="med" len="med"/>
                      <a:tailEnd type="none" w="med" len="med"/>
                    </a:lnL>
                    <a:lnR w="6350" cap="flat" cmpd="sng" algn="ctr">
                      <a:solidFill>
                        <a:srgbClr val="D0D5E0"/>
                      </a:solidFill>
                      <a:prstDash val="solid"/>
                      <a:round/>
                      <a:headEnd type="none" w="med" len="med"/>
                      <a:tailEnd type="none" w="med" len="med"/>
                    </a:lnR>
                    <a:lnT w="6350" cap="flat" cmpd="sng" algn="ctr">
                      <a:solidFill>
                        <a:srgbClr val="D0D5E0"/>
                      </a:solidFill>
                      <a:prstDash val="solid"/>
                      <a:round/>
                      <a:headEnd type="none" w="med" len="med"/>
                      <a:tailEnd type="none" w="med" len="med"/>
                    </a:lnT>
                    <a:lnB w="6350" cap="flat" cmpd="sng" algn="ctr">
                      <a:solidFill>
                        <a:srgbClr val="D0D5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950" b="1" dirty="0">
                          <a:solidFill>
                            <a:srgbClr val="ED0000"/>
                          </a:solidFill>
                          <a:latin typeface="Calibri" pitchFamily="34" charset="0"/>
                          <a:ea typeface="Calibri" pitchFamily="34" charset="-122"/>
                          <a:cs typeface="Calibri" pitchFamily="34" charset="-120"/>
                        </a:rPr>
                        <a:t>Parametric RFs</a:t>
                      </a:r>
                      <a:endParaRPr lang="en-US" sz="950" dirty="0">
                        <a:solidFill>
                          <a:srgbClr val="ED0000"/>
                        </a:solidFill>
                        <a:latin typeface="Calibri" charset="0"/>
                        <a:ea typeface="Calibri" charset="0"/>
                        <a:cs typeface="Calibri" charset="0"/>
                      </a:endParaRPr>
                    </a:p>
                  </a:txBody>
                  <a:tcPr>
                    <a:lnL w="6350" cap="flat" cmpd="sng" algn="ctr">
                      <a:solidFill>
                        <a:srgbClr val="D0D5E0"/>
                      </a:solidFill>
                      <a:prstDash val="solid"/>
                      <a:round/>
                      <a:headEnd type="none" w="med" len="med"/>
                      <a:tailEnd type="none" w="med" len="med"/>
                    </a:lnL>
                    <a:lnR w="6350" cap="flat" cmpd="sng" algn="ctr">
                      <a:solidFill>
                        <a:srgbClr val="D0D5E0"/>
                      </a:solidFill>
                      <a:prstDash val="solid"/>
                      <a:round/>
                      <a:headEnd type="none" w="med" len="med"/>
                      <a:tailEnd type="none" w="med" len="med"/>
                    </a:lnR>
                    <a:lnT w="6350" cap="flat" cmpd="sng" algn="ctr">
                      <a:solidFill>
                        <a:srgbClr val="D0D5E0"/>
                      </a:solidFill>
                      <a:prstDash val="solid"/>
                      <a:round/>
                      <a:headEnd type="none" w="med" len="med"/>
                      <a:tailEnd type="none" w="med" len="med"/>
                    </a:lnT>
                    <a:lnB w="6350" cap="flat" cmpd="sng" algn="ctr">
                      <a:solidFill>
                        <a:srgbClr val="D0D5E0"/>
                      </a:solidFill>
                      <a:prstDash val="solid"/>
                      <a:round/>
                      <a:headEnd type="none" w="med" len="med"/>
                      <a:tailEnd type="none" w="med" len="med"/>
                    </a:lnB>
                    <a:solidFill>
                      <a:srgbClr val="F0F2F8"/>
                    </a:solidFill>
                  </a:tcPr>
                </a:tc>
                <a:tc>
                  <a:txBody>
                    <a:bodyPr/>
                    <a:lstStyle/>
                    <a:p>
                      <a:pPr marL="0" indent="0">
                        <a:buNone/>
                      </a:pPr>
                      <a:r>
                        <a:rPr lang="en-US" sz="950" dirty="0">
                          <a:solidFill>
                            <a:srgbClr val="1A1A2E"/>
                          </a:solidFill>
                          <a:latin typeface="Calibri" pitchFamily="34" charset="0"/>
                          <a:ea typeface="Calibri" pitchFamily="34" charset="-122"/>
                          <a:cs typeface="Calibri" pitchFamily="34" charset="-120"/>
                        </a:rPr>
                        <a:t>SABR alpha, beta, rho, nu; skew/smile</a:t>
                      </a:r>
                      <a:endParaRPr lang="en-US" sz="950" dirty="0">
                        <a:latin typeface="Calibri" charset="0"/>
                        <a:ea typeface="Calibri" charset="0"/>
                        <a:cs typeface="Calibri" charset="0"/>
                      </a:endParaRPr>
                    </a:p>
                  </a:txBody>
                  <a:tcPr>
                    <a:lnL w="6350" cap="flat" cmpd="sng" algn="ctr">
                      <a:solidFill>
                        <a:srgbClr val="D0D5E0"/>
                      </a:solidFill>
                      <a:prstDash val="solid"/>
                      <a:round/>
                      <a:headEnd type="none" w="med" len="med"/>
                      <a:tailEnd type="none" w="med" len="med"/>
                    </a:lnL>
                    <a:lnR w="6350" cap="flat" cmpd="sng" algn="ctr">
                      <a:solidFill>
                        <a:srgbClr val="D0D5E0"/>
                      </a:solidFill>
                      <a:prstDash val="solid"/>
                      <a:round/>
                      <a:headEnd type="none" w="med" len="med"/>
                      <a:tailEnd type="none" w="med" len="med"/>
                    </a:lnR>
                    <a:lnT w="6350" cap="flat" cmpd="sng" algn="ctr">
                      <a:solidFill>
                        <a:srgbClr val="D0D5E0"/>
                      </a:solidFill>
                      <a:prstDash val="solid"/>
                      <a:round/>
                      <a:headEnd type="none" w="med" len="med"/>
                      <a:tailEnd type="none" w="med" len="med"/>
                    </a:lnT>
                    <a:lnB w="6350" cap="flat" cmpd="sng" algn="ctr">
                      <a:solidFill>
                        <a:srgbClr val="D0D5E0"/>
                      </a:solidFill>
                      <a:prstDash val="solid"/>
                      <a:round/>
                      <a:headEnd type="none" w="med" len="med"/>
                      <a:tailEnd type="none" w="med" len="med"/>
                    </a:lnB>
                    <a:solidFill>
                      <a:srgbClr val="F0F2F8"/>
                    </a:solidFill>
                  </a:tcPr>
                </a:tc>
                <a:tc>
                  <a:txBody>
                    <a:bodyPr/>
                    <a:lstStyle/>
                    <a:p>
                      <a:pPr marL="0" indent="0">
                        <a:buNone/>
                      </a:pPr>
                      <a:r>
                        <a:rPr lang="en-US" sz="950" dirty="0">
                          <a:solidFill>
                            <a:srgbClr val="1A1A2E"/>
                          </a:solidFill>
                          <a:latin typeface="Calibri" pitchFamily="34" charset="0"/>
                          <a:ea typeface="Calibri" pitchFamily="34" charset="-122"/>
                          <a:cs typeface="Calibri" pitchFamily="34" charset="-120"/>
                        </a:rPr>
                        <a:t>Parameters are calibrated, not directly observed; </a:t>
                      </a:r>
                      <a:br>
                        <a:rPr lang="en-US" sz="950" dirty="0">
                          <a:solidFill>
                            <a:srgbClr val="1A1A2E"/>
                          </a:solidFill>
                          <a:latin typeface="Calibri" pitchFamily="34" charset="0"/>
                          <a:ea typeface="Calibri" pitchFamily="34" charset="-122"/>
                          <a:cs typeface="Calibri" pitchFamily="34" charset="-120"/>
                        </a:rPr>
                      </a:br>
                      <a:r>
                        <a:rPr lang="en-US" sz="950" dirty="0">
                          <a:solidFill>
                            <a:srgbClr val="1A1A2E"/>
                          </a:solidFill>
                          <a:latin typeface="Calibri" pitchFamily="34" charset="0"/>
                          <a:ea typeface="Calibri" pitchFamily="34" charset="-122"/>
                          <a:cs typeface="Calibri" pitchFamily="34" charset="-120"/>
                        </a:rPr>
                        <a:t>The mapping must be done at underlying  data used to calibrated </a:t>
                      </a:r>
                    </a:p>
                    <a:p>
                      <a:pPr marL="0" indent="0">
                        <a:buNone/>
                      </a:pPr>
                      <a:endParaRPr lang="en-US" sz="950" dirty="0">
                        <a:solidFill>
                          <a:srgbClr val="1A1A2E"/>
                        </a:solidFill>
                        <a:latin typeface="Calibri" pitchFamily="34" charset="0"/>
                        <a:ea typeface="Calibri" charset="0"/>
                        <a:cs typeface="Calibri" pitchFamily="34" charset="-120"/>
                      </a:endParaRPr>
                    </a:p>
                    <a:p>
                      <a:pPr marL="0" indent="0">
                        <a:buNone/>
                      </a:pPr>
                      <a:r>
                        <a:rPr lang="en-US" sz="950" dirty="0">
                          <a:solidFill>
                            <a:srgbClr val="DF0000"/>
                          </a:solidFill>
                          <a:latin typeface="Calibri" pitchFamily="34" charset="0"/>
                          <a:ea typeface="Calibri" charset="0"/>
                          <a:cs typeface="Calibri" pitchFamily="34" charset="-120"/>
                        </a:rPr>
                        <a:t>Two representations of FX_VOL might not pass IMA </a:t>
                      </a:r>
                      <a:endParaRPr lang="en-US" sz="950" dirty="0">
                        <a:solidFill>
                          <a:srgbClr val="DF0000"/>
                        </a:solidFill>
                        <a:latin typeface="Calibri" charset="0"/>
                        <a:ea typeface="Calibri" charset="0"/>
                        <a:cs typeface="Calibri" charset="0"/>
                      </a:endParaRPr>
                    </a:p>
                  </a:txBody>
                  <a:tcPr>
                    <a:lnL w="6350" cap="flat" cmpd="sng" algn="ctr">
                      <a:solidFill>
                        <a:srgbClr val="D0D5E0"/>
                      </a:solidFill>
                      <a:prstDash val="solid"/>
                      <a:round/>
                      <a:headEnd type="none" w="med" len="med"/>
                      <a:tailEnd type="none" w="med" len="med"/>
                    </a:lnL>
                    <a:lnR w="6350" cap="flat" cmpd="sng" algn="ctr">
                      <a:solidFill>
                        <a:srgbClr val="D0D5E0"/>
                      </a:solidFill>
                      <a:prstDash val="solid"/>
                      <a:round/>
                      <a:headEnd type="none" w="med" len="med"/>
                      <a:tailEnd type="none" w="med" len="med"/>
                    </a:lnR>
                    <a:lnT w="6350" cap="flat" cmpd="sng" algn="ctr">
                      <a:solidFill>
                        <a:srgbClr val="D0D5E0"/>
                      </a:solidFill>
                      <a:prstDash val="solid"/>
                      <a:round/>
                      <a:headEnd type="none" w="med" len="med"/>
                      <a:tailEnd type="none" w="med" len="med"/>
                    </a:lnT>
                    <a:lnB w="6350" cap="flat" cmpd="sng" algn="ctr">
                      <a:solidFill>
                        <a:srgbClr val="D0D5E0"/>
                      </a:solidFill>
                      <a:prstDash val="solid"/>
                      <a:round/>
                      <a:headEnd type="none" w="med" len="med"/>
                      <a:tailEnd type="none" w="med" len="med"/>
                    </a:lnB>
                    <a:solidFill>
                      <a:srgbClr val="F0F2F8"/>
                    </a:solidFill>
                  </a:tcPr>
                </a:tc>
                <a:extLst>
                  <a:ext uri="{0D108BD9-81ED-4DB2-BD59-A6C34878D82A}">
                    <a16:rowId xmlns:a16="http://schemas.microsoft.com/office/drawing/2014/main" val="10004"/>
                  </a:ext>
                </a:extLst>
              </a:tr>
              <a:tr h="457200">
                <a:tc>
                  <a:txBody>
                    <a:bodyPr/>
                    <a:lstStyle/>
                    <a:p>
                      <a:pPr marL="0" indent="0">
                        <a:buNone/>
                      </a:pPr>
                      <a:r>
                        <a:rPr lang="en-US" sz="950" b="1" dirty="0">
                          <a:solidFill>
                            <a:srgbClr val="ED0000"/>
                          </a:solidFill>
                          <a:latin typeface="Calibri" pitchFamily="34" charset="0"/>
                          <a:ea typeface="Calibri" pitchFamily="34" charset="-122"/>
                          <a:cs typeface="Calibri" pitchFamily="34" charset="-120"/>
                        </a:rPr>
                        <a:t>Proxy RF</a:t>
                      </a:r>
                      <a:endParaRPr lang="en-US" sz="950" dirty="0">
                        <a:solidFill>
                          <a:srgbClr val="ED0000"/>
                        </a:solidFill>
                        <a:latin typeface="Calibri" charset="0"/>
                        <a:ea typeface="Calibri" charset="0"/>
                        <a:cs typeface="Calibri" charset="0"/>
                      </a:endParaRPr>
                    </a:p>
                  </a:txBody>
                  <a:tcPr>
                    <a:lnL w="6350" cap="flat" cmpd="sng" algn="ctr">
                      <a:solidFill>
                        <a:srgbClr val="D0D5E0"/>
                      </a:solidFill>
                      <a:prstDash val="solid"/>
                      <a:round/>
                      <a:headEnd type="none" w="med" len="med"/>
                      <a:tailEnd type="none" w="med" len="med"/>
                    </a:lnL>
                    <a:lnR w="6350" cap="flat" cmpd="sng" algn="ctr">
                      <a:solidFill>
                        <a:srgbClr val="D0D5E0"/>
                      </a:solidFill>
                      <a:prstDash val="solid"/>
                      <a:round/>
                      <a:headEnd type="none" w="med" len="med"/>
                      <a:tailEnd type="none" w="med" len="med"/>
                    </a:lnR>
                    <a:lnT w="6350" cap="flat" cmpd="sng" algn="ctr">
                      <a:solidFill>
                        <a:srgbClr val="D0D5E0"/>
                      </a:solidFill>
                      <a:prstDash val="solid"/>
                      <a:round/>
                      <a:headEnd type="none" w="med" len="med"/>
                      <a:tailEnd type="none" w="med" len="med"/>
                    </a:lnT>
                    <a:lnB w="6350" cap="flat" cmpd="sng" algn="ctr">
                      <a:solidFill>
                        <a:srgbClr val="D0D5E0"/>
                      </a:solidFill>
                      <a:prstDash val="solid"/>
                      <a:round/>
                      <a:headEnd type="none" w="med" len="med"/>
                      <a:tailEnd type="none" w="med" len="med"/>
                    </a:lnB>
                    <a:solidFill>
                      <a:srgbClr val="FFFFFF"/>
                    </a:solidFill>
                  </a:tcPr>
                </a:tc>
                <a:tc>
                  <a:txBody>
                    <a:bodyPr/>
                    <a:lstStyle/>
                    <a:p>
                      <a:pPr marL="0" indent="0">
                        <a:buNone/>
                      </a:pPr>
                      <a:r>
                        <a:rPr lang="en-US" sz="950" dirty="0">
                          <a:solidFill>
                            <a:srgbClr val="1A1A2E"/>
                          </a:solidFill>
                          <a:latin typeface="Calibri" pitchFamily="34" charset="0"/>
                          <a:ea typeface="Calibri" pitchFamily="34" charset="-122"/>
                          <a:cs typeface="Calibri" pitchFamily="34" charset="-120"/>
                        </a:rPr>
                        <a:t>illiquid vol proxy, Sofr Proxies </a:t>
                      </a:r>
                      <a:endParaRPr lang="en-US" sz="950" dirty="0">
                        <a:latin typeface="Calibri" charset="0"/>
                        <a:ea typeface="Calibri" charset="0"/>
                        <a:cs typeface="Calibri" charset="0"/>
                      </a:endParaRPr>
                    </a:p>
                  </a:txBody>
                  <a:tcPr>
                    <a:lnL w="6350" cap="flat" cmpd="sng" algn="ctr">
                      <a:solidFill>
                        <a:srgbClr val="D0D5E0"/>
                      </a:solidFill>
                      <a:prstDash val="solid"/>
                      <a:round/>
                      <a:headEnd type="none" w="med" len="med"/>
                      <a:tailEnd type="none" w="med" len="med"/>
                    </a:lnL>
                    <a:lnR w="6350" cap="flat" cmpd="sng" algn="ctr">
                      <a:solidFill>
                        <a:srgbClr val="D0D5E0"/>
                      </a:solidFill>
                      <a:prstDash val="solid"/>
                      <a:round/>
                      <a:headEnd type="none" w="med" len="med"/>
                      <a:tailEnd type="none" w="med" len="med"/>
                    </a:lnR>
                    <a:lnT w="6350" cap="flat" cmpd="sng" algn="ctr">
                      <a:solidFill>
                        <a:srgbClr val="D0D5E0"/>
                      </a:solidFill>
                      <a:prstDash val="solid"/>
                      <a:round/>
                      <a:headEnd type="none" w="med" len="med"/>
                      <a:tailEnd type="none" w="med" len="med"/>
                    </a:lnT>
                    <a:lnB w="6350" cap="flat" cmpd="sng" algn="ctr">
                      <a:solidFill>
                        <a:srgbClr val="D0D5E0"/>
                      </a:solidFill>
                      <a:prstDash val="solid"/>
                      <a:round/>
                      <a:headEnd type="none" w="med" len="med"/>
                      <a:tailEnd type="none" w="med" len="med"/>
                    </a:lnB>
                    <a:solidFill>
                      <a:srgbClr val="FFFFFF"/>
                    </a:solidFill>
                  </a:tcPr>
                </a:tc>
                <a:tc>
                  <a:txBody>
                    <a:bodyPr/>
                    <a:lstStyle/>
                    <a:p>
                      <a:pPr marL="0" indent="0">
                        <a:buNone/>
                      </a:pPr>
                      <a:r>
                        <a:rPr lang="en-US" sz="950" dirty="0">
                          <a:solidFill>
                            <a:srgbClr val="1A1A2E"/>
                          </a:solidFill>
                          <a:latin typeface="Calibri" pitchFamily="34" charset="0"/>
                          <a:ea typeface="Calibri" pitchFamily="34" charset="-122"/>
                          <a:cs typeface="Calibri" pitchFamily="34" charset="-120"/>
                        </a:rPr>
                        <a:t>Must prove proxy is economically representative and defensible</a:t>
                      </a:r>
                      <a:endParaRPr lang="en-US" sz="950" dirty="0">
                        <a:latin typeface="Calibri" charset="0"/>
                        <a:ea typeface="Calibri" charset="0"/>
                        <a:cs typeface="Calibri" charset="0"/>
                      </a:endParaRPr>
                    </a:p>
                  </a:txBody>
                  <a:tcPr>
                    <a:lnL w="6350" cap="flat" cmpd="sng" algn="ctr">
                      <a:solidFill>
                        <a:srgbClr val="D0D5E0"/>
                      </a:solidFill>
                      <a:prstDash val="solid"/>
                      <a:round/>
                      <a:headEnd type="none" w="med" len="med"/>
                      <a:tailEnd type="none" w="med" len="med"/>
                    </a:lnL>
                    <a:lnR w="6350" cap="flat" cmpd="sng" algn="ctr">
                      <a:solidFill>
                        <a:srgbClr val="D0D5E0"/>
                      </a:solidFill>
                      <a:prstDash val="solid"/>
                      <a:round/>
                      <a:headEnd type="none" w="med" len="med"/>
                      <a:tailEnd type="none" w="med" len="med"/>
                    </a:lnR>
                    <a:lnT w="6350" cap="flat" cmpd="sng" algn="ctr">
                      <a:solidFill>
                        <a:srgbClr val="D0D5E0"/>
                      </a:solidFill>
                      <a:prstDash val="solid"/>
                      <a:round/>
                      <a:headEnd type="none" w="med" len="med"/>
                      <a:tailEnd type="none" w="med" len="med"/>
                    </a:lnT>
                    <a:lnB w="6350" cap="flat" cmpd="sng" algn="ctr">
                      <a:solidFill>
                        <a:srgbClr val="D0D5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Shape 2"/>
          <p:cNvSpPr/>
          <p:nvPr/>
        </p:nvSpPr>
        <p:spPr>
          <a:xfrm>
            <a:off x="758952" y="4183380"/>
            <a:ext cx="7680960" cy="640080"/>
          </a:xfrm>
          <a:prstGeom prst="rect">
            <a:avLst/>
          </a:prstGeom>
          <a:solidFill>
            <a:srgbClr val="EEF0F8"/>
          </a:solidFill>
          <a:ln/>
        </p:spPr>
      </p:sp>
      <p:sp>
        <p:nvSpPr>
          <p:cNvPr id="6" name="Shape 3"/>
          <p:cNvSpPr/>
          <p:nvPr/>
        </p:nvSpPr>
        <p:spPr>
          <a:xfrm>
            <a:off x="731520" y="4160520"/>
            <a:ext cx="54864" cy="640080"/>
          </a:xfrm>
          <a:prstGeom prst="rect">
            <a:avLst/>
          </a:prstGeom>
          <a:solidFill>
            <a:srgbClr val="3B82F6"/>
          </a:solidFill>
          <a:ln/>
        </p:spPr>
      </p:sp>
      <p:sp>
        <p:nvSpPr>
          <p:cNvPr id="7" name="Text 4"/>
          <p:cNvSpPr/>
          <p:nvPr/>
        </p:nvSpPr>
        <p:spPr>
          <a:xfrm>
            <a:off x="1005840" y="4160520"/>
            <a:ext cx="7223760" cy="64008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Key message: </a:t>
            </a:r>
            <a:r>
              <a:rPr lang="en-US" sz="1100" dirty="0">
                <a:solidFill>
                  <a:srgbClr val="2D3248"/>
                </a:solidFill>
                <a:latin typeface="Calibri" pitchFamily="34" charset="0"/>
                <a:ea typeface="Calibri" pitchFamily="34" charset="-122"/>
                <a:cs typeface="Calibri" pitchFamily="34" charset="-120"/>
              </a:rPr>
              <a:t>The real work is proving that each RPO is real, representative, correctly mapped, bucketed, and suitable for the risk factor it supports.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320040"/>
            <a:ext cx="7680960" cy="548640"/>
          </a:xfrm>
          <a:prstGeom prst="rect">
            <a:avLst/>
          </a:prstGeom>
          <a:noFill/>
          <a:ln/>
        </p:spPr>
        <p:txBody>
          <a:bodyPr wrap="square" lIns="0" tIns="0" rIns="0" bIns="0" rtlCol="0" anchor="ctr"/>
          <a:lstStyle/>
          <a:p>
            <a:pPr marL="0" indent="0">
              <a:buNone/>
            </a:pPr>
            <a:r>
              <a:rPr lang="en-US" sz="2400" b="1" dirty="0">
                <a:solidFill>
                  <a:srgbClr val="1E2761"/>
                </a:solidFill>
                <a:latin typeface="Georgia" pitchFamily="34" charset="0"/>
                <a:ea typeface="Georgia" pitchFamily="34" charset="-122"/>
                <a:cs typeface="Georgia" pitchFamily="34" charset="-120"/>
              </a:rPr>
              <a:t>Composed Risk Factors </a:t>
            </a:r>
            <a:r>
              <a:rPr lang="en-US" sz="2400" b="1" dirty="0">
                <a:solidFill>
                  <a:srgbClr val="1E2761"/>
                </a:solidFill>
                <a:latin typeface="Georgia" pitchFamily="34" charset="0"/>
                <a:ea typeface="Georgia" pitchFamily="34" charset="-122"/>
                <a:cs typeface="Georgia" pitchFamily="34" charset="-120"/>
                <a:sym typeface="Wingdings" panose="05000000000000000000" pitchFamily="2" charset="2"/>
              </a:rPr>
              <a:t></a:t>
            </a:r>
            <a:r>
              <a:rPr lang="en-US" sz="2400" b="1" dirty="0">
                <a:solidFill>
                  <a:srgbClr val="1E2761"/>
                </a:solidFill>
                <a:latin typeface="Georgia" pitchFamily="34" charset="0"/>
                <a:ea typeface="Georgia" pitchFamily="34" charset="-122"/>
                <a:cs typeface="Georgia" pitchFamily="34" charset="-120"/>
              </a:rPr>
              <a:t> Where RFET Becomes Hard</a:t>
            </a:r>
            <a:endParaRPr lang="en-US" sz="2400" dirty="0"/>
          </a:p>
        </p:txBody>
      </p:sp>
      <p:sp>
        <p:nvSpPr>
          <p:cNvPr id="3" name="Text 1"/>
          <p:cNvSpPr/>
          <p:nvPr/>
        </p:nvSpPr>
        <p:spPr>
          <a:xfrm>
            <a:off x="731520" y="868680"/>
            <a:ext cx="7680960" cy="320040"/>
          </a:xfrm>
          <a:prstGeom prst="rect">
            <a:avLst/>
          </a:prstGeom>
          <a:noFill/>
          <a:ln/>
        </p:spPr>
        <p:txBody>
          <a:bodyPr wrap="square" lIns="0" tIns="0" rIns="0" bIns="0" rtlCol="0" anchor="ctr"/>
          <a:lstStyle/>
          <a:p>
            <a:pPr marL="0" indent="0">
              <a:buNone/>
            </a:pPr>
            <a:r>
              <a:rPr lang="en-US" sz="1100" dirty="0">
                <a:solidFill>
                  <a:srgbClr val="2D3248"/>
                </a:solidFill>
                <a:latin typeface="Calibri" pitchFamily="34" charset="0"/>
                <a:ea typeface="Calibri" pitchFamily="34" charset="-122"/>
                <a:cs typeface="Calibri" pitchFamily="34" charset="-120"/>
              </a:rPr>
              <a:t>Composed risk factors combine multiple economic risks into one "all-in" market input.</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723072879"/>
              </p:ext>
            </p:extLst>
          </p:nvPr>
        </p:nvGraphicFramePr>
        <p:xfrm>
          <a:off x="825500" y="1371600"/>
          <a:ext cx="7586980" cy="1691640"/>
        </p:xfrm>
        <a:graphic>
          <a:graphicData uri="http://schemas.openxmlformats.org/drawingml/2006/table">
            <a:tbl>
              <a:tblPr/>
              <a:tblGrid>
                <a:gridCol w="210058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tblGrid>
              <a:tr h="320040">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Composed RF Example</a:t>
                      </a:r>
                      <a:endParaRPr lang="en-US" sz="1000" dirty="0">
                        <a:latin typeface="Calibri" charset="0"/>
                        <a:ea typeface="Calibri" charset="0"/>
                        <a:cs typeface="Calibri" charset="0"/>
                      </a:endParaRPr>
                    </a:p>
                  </a:txBody>
                  <a:tcPr>
                    <a:lnL w="6350" cap="flat" cmpd="sng" algn="ctr">
                      <a:solidFill>
                        <a:srgbClr val="D0D5E0"/>
                      </a:solidFill>
                      <a:prstDash val="solid"/>
                      <a:round/>
                      <a:headEnd type="none" w="med" len="med"/>
                      <a:tailEnd type="none" w="med" len="med"/>
                    </a:lnL>
                    <a:lnR w="6350" cap="flat" cmpd="sng" algn="ctr">
                      <a:solidFill>
                        <a:srgbClr val="D0D5E0"/>
                      </a:solidFill>
                      <a:prstDash val="solid"/>
                      <a:round/>
                      <a:headEnd type="none" w="med" len="med"/>
                      <a:tailEnd type="none" w="med" len="med"/>
                    </a:lnR>
                    <a:lnT w="6350" cap="flat" cmpd="sng" algn="ctr">
                      <a:solidFill>
                        <a:srgbClr val="D0D5E0"/>
                      </a:solidFill>
                      <a:prstDash val="solid"/>
                      <a:round/>
                      <a:headEnd type="none" w="med" len="med"/>
                      <a:tailEnd type="none" w="med" len="med"/>
                    </a:lnT>
                    <a:lnB w="6350" cap="flat" cmpd="sng" algn="ctr">
                      <a:solidFill>
                        <a:srgbClr val="D0D5E0"/>
                      </a:solidFill>
                      <a:prstDash val="solid"/>
                      <a:round/>
                      <a:headEnd type="none" w="med" len="med"/>
                      <a:tailEnd type="none" w="med" len="med"/>
                    </a:lnB>
                    <a:solidFill>
                      <a:srgbClr val="1E2761"/>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Embedded Risks</a:t>
                      </a:r>
                      <a:endParaRPr lang="en-US" sz="1000" dirty="0">
                        <a:latin typeface="Calibri" charset="0"/>
                        <a:ea typeface="Calibri" charset="0"/>
                        <a:cs typeface="Calibri" charset="0"/>
                      </a:endParaRPr>
                    </a:p>
                  </a:txBody>
                  <a:tcPr>
                    <a:lnL w="6350" cap="flat" cmpd="sng" algn="ctr">
                      <a:solidFill>
                        <a:srgbClr val="D0D5E0"/>
                      </a:solidFill>
                      <a:prstDash val="solid"/>
                      <a:round/>
                      <a:headEnd type="none" w="med" len="med"/>
                      <a:tailEnd type="none" w="med" len="med"/>
                    </a:lnL>
                    <a:lnR w="6350" cap="flat" cmpd="sng" algn="ctr">
                      <a:solidFill>
                        <a:srgbClr val="D0D5E0"/>
                      </a:solidFill>
                      <a:prstDash val="solid"/>
                      <a:round/>
                      <a:headEnd type="none" w="med" len="med"/>
                      <a:tailEnd type="none" w="med" len="med"/>
                    </a:lnR>
                    <a:lnT w="6350" cap="flat" cmpd="sng" algn="ctr">
                      <a:solidFill>
                        <a:srgbClr val="D0D5E0"/>
                      </a:solidFill>
                      <a:prstDash val="solid"/>
                      <a:round/>
                      <a:headEnd type="none" w="med" len="med"/>
                      <a:tailEnd type="none" w="med" len="med"/>
                    </a:lnT>
                    <a:lnB w="6350" cap="flat" cmpd="sng" algn="ctr">
                      <a:solidFill>
                        <a:srgbClr val="D0D5E0"/>
                      </a:solidFill>
                      <a:prstDash val="solid"/>
                      <a:round/>
                      <a:headEnd type="none" w="med" len="med"/>
                      <a:tailEnd type="none" w="med" len="med"/>
                    </a:lnB>
                    <a:solidFill>
                      <a:srgbClr val="1E2761"/>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RFET Qualitative Challenge</a:t>
                      </a:r>
                      <a:endParaRPr lang="en-US" sz="1000" dirty="0">
                        <a:latin typeface="Calibri" charset="0"/>
                        <a:ea typeface="Calibri" charset="0"/>
                        <a:cs typeface="Calibri" charset="0"/>
                      </a:endParaRPr>
                    </a:p>
                  </a:txBody>
                  <a:tcPr>
                    <a:lnL w="6350" cap="flat" cmpd="sng" algn="ctr">
                      <a:solidFill>
                        <a:srgbClr val="D0D5E0"/>
                      </a:solidFill>
                      <a:prstDash val="solid"/>
                      <a:round/>
                      <a:headEnd type="none" w="med" len="med"/>
                      <a:tailEnd type="none" w="med" len="med"/>
                    </a:lnL>
                    <a:lnR w="6350" cap="flat" cmpd="sng" algn="ctr">
                      <a:solidFill>
                        <a:srgbClr val="D0D5E0"/>
                      </a:solidFill>
                      <a:prstDash val="solid"/>
                      <a:round/>
                      <a:headEnd type="none" w="med" len="med"/>
                      <a:tailEnd type="none" w="med" len="med"/>
                    </a:lnR>
                    <a:lnT w="6350" cap="flat" cmpd="sng" algn="ctr">
                      <a:solidFill>
                        <a:srgbClr val="D0D5E0"/>
                      </a:solidFill>
                      <a:prstDash val="solid"/>
                      <a:round/>
                      <a:headEnd type="none" w="med" len="med"/>
                      <a:tailEnd type="none" w="med" len="med"/>
                    </a:lnT>
                    <a:lnB w="6350" cap="flat" cmpd="sng" algn="ctr">
                      <a:solidFill>
                        <a:srgbClr val="D0D5E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57200">
                <a:tc>
                  <a:txBody>
                    <a:bodyPr/>
                    <a:lstStyle/>
                    <a:p>
                      <a:pPr marL="0" indent="0">
                        <a:buNone/>
                      </a:pPr>
                      <a:r>
                        <a:rPr lang="en-US" sz="950" b="1" dirty="0">
                          <a:solidFill>
                            <a:srgbClr val="1A1A2E"/>
                          </a:solidFill>
                          <a:latin typeface="Calibri" pitchFamily="34" charset="0"/>
                          <a:ea typeface="Calibri" pitchFamily="34" charset="-122"/>
                          <a:cs typeface="Calibri" pitchFamily="34" charset="-120"/>
                        </a:rPr>
                        <a:t>Bond all-in yield / Credit spread</a:t>
                      </a:r>
                      <a:endParaRPr lang="en-US" sz="950" dirty="0">
                        <a:latin typeface="Calibri" charset="0"/>
                        <a:ea typeface="Calibri" charset="0"/>
                        <a:cs typeface="Calibri" charset="0"/>
                      </a:endParaRPr>
                    </a:p>
                  </a:txBody>
                  <a:tcPr>
                    <a:lnL w="6350" cap="flat" cmpd="sng" algn="ctr">
                      <a:solidFill>
                        <a:srgbClr val="D0D5E0"/>
                      </a:solidFill>
                      <a:prstDash val="solid"/>
                      <a:round/>
                      <a:headEnd type="none" w="med" len="med"/>
                      <a:tailEnd type="none" w="med" len="med"/>
                    </a:lnL>
                    <a:lnR w="6350" cap="flat" cmpd="sng" algn="ctr">
                      <a:solidFill>
                        <a:srgbClr val="D0D5E0"/>
                      </a:solidFill>
                      <a:prstDash val="solid"/>
                      <a:round/>
                      <a:headEnd type="none" w="med" len="med"/>
                      <a:tailEnd type="none" w="med" len="med"/>
                    </a:lnR>
                    <a:lnT w="6350" cap="flat" cmpd="sng" algn="ctr">
                      <a:solidFill>
                        <a:srgbClr val="D0D5E0"/>
                      </a:solidFill>
                      <a:prstDash val="solid"/>
                      <a:round/>
                      <a:headEnd type="none" w="med" len="med"/>
                      <a:tailEnd type="none" w="med" len="med"/>
                    </a:lnT>
                    <a:lnB w="6350" cap="flat" cmpd="sng" algn="ctr">
                      <a:solidFill>
                        <a:srgbClr val="D0D5E0"/>
                      </a:solidFill>
                      <a:prstDash val="solid"/>
                      <a:round/>
                      <a:headEnd type="none" w="med" len="med"/>
                      <a:tailEnd type="none" w="med" len="med"/>
                    </a:lnB>
                    <a:solidFill>
                      <a:srgbClr val="FFFFFF"/>
                    </a:solidFill>
                  </a:tcPr>
                </a:tc>
                <a:tc>
                  <a:txBody>
                    <a:bodyPr/>
                    <a:lstStyle/>
                    <a:p>
                      <a:pPr marL="0" indent="0">
                        <a:buNone/>
                      </a:pPr>
                      <a:r>
                        <a:rPr lang="en-US" sz="950" dirty="0">
                          <a:solidFill>
                            <a:srgbClr val="1A1A2E"/>
                          </a:solidFill>
                          <a:latin typeface="Calibri" pitchFamily="34" charset="0"/>
                          <a:ea typeface="Calibri" pitchFamily="34" charset="-122"/>
                          <a:cs typeface="Calibri" pitchFamily="34" charset="-120"/>
                        </a:rPr>
                        <a:t>IR + credit spread</a:t>
                      </a:r>
                      <a:endParaRPr lang="en-US" sz="950" dirty="0">
                        <a:latin typeface="Calibri" charset="0"/>
                        <a:ea typeface="Calibri" charset="0"/>
                        <a:cs typeface="Calibri" charset="0"/>
                      </a:endParaRPr>
                    </a:p>
                  </a:txBody>
                  <a:tcPr>
                    <a:lnL w="6350" cap="flat" cmpd="sng" algn="ctr">
                      <a:solidFill>
                        <a:srgbClr val="D0D5E0"/>
                      </a:solidFill>
                      <a:prstDash val="solid"/>
                      <a:round/>
                      <a:headEnd type="none" w="med" len="med"/>
                      <a:tailEnd type="none" w="med" len="med"/>
                    </a:lnL>
                    <a:lnR w="6350" cap="flat" cmpd="sng" algn="ctr">
                      <a:solidFill>
                        <a:srgbClr val="D0D5E0"/>
                      </a:solidFill>
                      <a:prstDash val="solid"/>
                      <a:round/>
                      <a:headEnd type="none" w="med" len="med"/>
                      <a:tailEnd type="none" w="med" len="med"/>
                    </a:lnR>
                    <a:lnT w="6350" cap="flat" cmpd="sng" algn="ctr">
                      <a:solidFill>
                        <a:srgbClr val="D0D5E0"/>
                      </a:solidFill>
                      <a:prstDash val="solid"/>
                      <a:round/>
                      <a:headEnd type="none" w="med" len="med"/>
                      <a:tailEnd type="none" w="med" len="med"/>
                    </a:lnT>
                    <a:lnB w="6350" cap="flat" cmpd="sng" algn="ctr">
                      <a:solidFill>
                        <a:srgbClr val="D0D5E0"/>
                      </a:solidFill>
                      <a:prstDash val="solid"/>
                      <a:round/>
                      <a:headEnd type="none" w="med" len="med"/>
                      <a:tailEnd type="none" w="med" len="med"/>
                    </a:lnB>
                    <a:solidFill>
                      <a:srgbClr val="FFFFFF"/>
                    </a:solidFill>
                  </a:tcPr>
                </a:tc>
                <a:tc>
                  <a:txBody>
                    <a:bodyPr/>
                    <a:lstStyle/>
                    <a:p>
                      <a:pPr marL="0" indent="0">
                        <a:buNone/>
                      </a:pPr>
                      <a:r>
                        <a:rPr lang="en-US" sz="950" dirty="0">
                          <a:solidFill>
                            <a:srgbClr val="1A1A2E"/>
                          </a:solidFill>
                          <a:latin typeface="Calibri" pitchFamily="34" charset="0"/>
                          <a:ea typeface="Calibri" pitchFamily="34" charset="-122"/>
                          <a:cs typeface="Calibri" pitchFamily="34" charset="-120"/>
                        </a:rPr>
                        <a:t>This might not pass Qualitative tests </a:t>
                      </a:r>
                      <a:endParaRPr lang="en-US" sz="950" dirty="0">
                        <a:latin typeface="Calibri" charset="0"/>
                        <a:ea typeface="Calibri" charset="0"/>
                        <a:cs typeface="Calibri" charset="0"/>
                      </a:endParaRPr>
                    </a:p>
                  </a:txBody>
                  <a:tcPr>
                    <a:lnL w="6350" cap="flat" cmpd="sng" algn="ctr">
                      <a:solidFill>
                        <a:srgbClr val="D0D5E0"/>
                      </a:solidFill>
                      <a:prstDash val="solid"/>
                      <a:round/>
                      <a:headEnd type="none" w="med" len="med"/>
                      <a:tailEnd type="none" w="med" len="med"/>
                    </a:lnL>
                    <a:lnR w="6350" cap="flat" cmpd="sng" algn="ctr">
                      <a:solidFill>
                        <a:srgbClr val="D0D5E0"/>
                      </a:solidFill>
                      <a:prstDash val="solid"/>
                      <a:round/>
                      <a:headEnd type="none" w="med" len="med"/>
                      <a:tailEnd type="none" w="med" len="med"/>
                    </a:lnR>
                    <a:lnT w="6350" cap="flat" cmpd="sng" algn="ctr">
                      <a:solidFill>
                        <a:srgbClr val="D0D5E0"/>
                      </a:solidFill>
                      <a:prstDash val="solid"/>
                      <a:round/>
                      <a:headEnd type="none" w="med" len="med"/>
                      <a:tailEnd type="none" w="med" len="med"/>
                    </a:lnT>
                    <a:lnB w="6350" cap="flat" cmpd="sng" algn="ctr">
                      <a:solidFill>
                        <a:srgbClr val="D0D5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950" b="1" dirty="0">
                          <a:solidFill>
                            <a:srgbClr val="1A1A2E"/>
                          </a:solidFill>
                          <a:latin typeface="Calibri" pitchFamily="34" charset="0"/>
                          <a:ea typeface="Calibri" pitchFamily="34" charset="-122"/>
                          <a:cs typeface="Calibri" pitchFamily="34" charset="-120"/>
                        </a:rPr>
                        <a:t>XCCY all-in curve / forward</a:t>
                      </a:r>
                      <a:endParaRPr lang="en-US" sz="950" dirty="0">
                        <a:latin typeface="Calibri" charset="0"/>
                        <a:ea typeface="Calibri" charset="0"/>
                        <a:cs typeface="Calibri" charset="0"/>
                      </a:endParaRPr>
                    </a:p>
                  </a:txBody>
                  <a:tcPr>
                    <a:lnL w="6350" cap="flat" cmpd="sng" algn="ctr">
                      <a:solidFill>
                        <a:srgbClr val="D0D5E0"/>
                      </a:solidFill>
                      <a:prstDash val="solid"/>
                      <a:round/>
                      <a:headEnd type="none" w="med" len="med"/>
                      <a:tailEnd type="none" w="med" len="med"/>
                    </a:lnL>
                    <a:lnR w="6350" cap="flat" cmpd="sng" algn="ctr">
                      <a:solidFill>
                        <a:srgbClr val="D0D5E0"/>
                      </a:solidFill>
                      <a:prstDash val="solid"/>
                      <a:round/>
                      <a:headEnd type="none" w="med" len="med"/>
                      <a:tailEnd type="none" w="med" len="med"/>
                    </a:lnR>
                    <a:lnT w="6350" cap="flat" cmpd="sng" algn="ctr">
                      <a:solidFill>
                        <a:srgbClr val="D0D5E0"/>
                      </a:solidFill>
                      <a:prstDash val="solid"/>
                      <a:round/>
                      <a:headEnd type="none" w="med" len="med"/>
                      <a:tailEnd type="none" w="med" len="med"/>
                    </a:lnT>
                    <a:lnB w="6350" cap="flat" cmpd="sng" algn="ctr">
                      <a:solidFill>
                        <a:srgbClr val="D0D5E0"/>
                      </a:solidFill>
                      <a:prstDash val="solid"/>
                      <a:round/>
                      <a:headEnd type="none" w="med" len="med"/>
                      <a:tailEnd type="none" w="med" len="med"/>
                    </a:lnB>
                    <a:solidFill>
                      <a:srgbClr val="F0F2F8"/>
                    </a:solidFill>
                  </a:tcPr>
                </a:tc>
                <a:tc>
                  <a:txBody>
                    <a:bodyPr/>
                    <a:lstStyle/>
                    <a:p>
                      <a:pPr marL="0" indent="0">
                        <a:buNone/>
                      </a:pPr>
                      <a:r>
                        <a:rPr lang="en-US" sz="950" dirty="0">
                          <a:solidFill>
                            <a:srgbClr val="1A1A2E"/>
                          </a:solidFill>
                          <a:latin typeface="Calibri" pitchFamily="34" charset="0"/>
                          <a:ea typeface="Calibri" pitchFamily="34" charset="-122"/>
                          <a:cs typeface="Calibri" pitchFamily="34" charset="-120"/>
                        </a:rPr>
                        <a:t>IR + FX + basis</a:t>
                      </a:r>
                      <a:endParaRPr lang="en-US" sz="950" dirty="0">
                        <a:latin typeface="Calibri" charset="0"/>
                        <a:ea typeface="Calibri" charset="0"/>
                        <a:cs typeface="Calibri" charset="0"/>
                      </a:endParaRPr>
                    </a:p>
                  </a:txBody>
                  <a:tcPr>
                    <a:lnL w="6350" cap="flat" cmpd="sng" algn="ctr">
                      <a:solidFill>
                        <a:srgbClr val="D0D5E0"/>
                      </a:solidFill>
                      <a:prstDash val="solid"/>
                      <a:round/>
                      <a:headEnd type="none" w="med" len="med"/>
                      <a:tailEnd type="none" w="med" len="med"/>
                    </a:lnL>
                    <a:lnR w="6350" cap="flat" cmpd="sng" algn="ctr">
                      <a:solidFill>
                        <a:srgbClr val="D0D5E0"/>
                      </a:solidFill>
                      <a:prstDash val="solid"/>
                      <a:round/>
                      <a:headEnd type="none" w="med" len="med"/>
                      <a:tailEnd type="none" w="med" len="med"/>
                    </a:lnR>
                    <a:lnT w="6350" cap="flat" cmpd="sng" algn="ctr">
                      <a:solidFill>
                        <a:srgbClr val="D0D5E0"/>
                      </a:solidFill>
                      <a:prstDash val="solid"/>
                      <a:round/>
                      <a:headEnd type="none" w="med" len="med"/>
                      <a:tailEnd type="none" w="med" len="med"/>
                    </a:lnT>
                    <a:lnB w="6350" cap="flat" cmpd="sng" algn="ctr">
                      <a:solidFill>
                        <a:srgbClr val="D0D5E0"/>
                      </a:solidFill>
                      <a:prstDash val="solid"/>
                      <a:round/>
                      <a:headEnd type="none" w="med" len="med"/>
                      <a:tailEnd type="none" w="med" len="med"/>
                    </a:lnB>
                    <a:solidFill>
                      <a:srgbClr val="F0F2F8"/>
                    </a:solidFill>
                  </a:tcPr>
                </a:tc>
                <a:tc>
                  <a:txBody>
                    <a:bodyPr/>
                    <a:lstStyle/>
                    <a:p>
                      <a:pPr marL="0" indent="0">
                        <a:buNone/>
                      </a:pPr>
                      <a:r>
                        <a:rPr lang="en-US" sz="950" dirty="0">
                          <a:solidFill>
                            <a:srgbClr val="1A1A2E"/>
                          </a:solidFill>
                          <a:latin typeface="Calibri" pitchFamily="34" charset="0"/>
                          <a:ea typeface="Calibri" pitchFamily="34" charset="-122"/>
                          <a:cs typeface="Calibri" pitchFamily="34" charset="-120"/>
                        </a:rPr>
                        <a:t>Basis risk may be hidden inside the all-in level. </a:t>
                      </a:r>
                      <a:endParaRPr lang="en-US" sz="950" dirty="0">
                        <a:latin typeface="Calibri" charset="0"/>
                        <a:ea typeface="Calibri" charset="0"/>
                        <a:cs typeface="Calibri" charset="0"/>
                      </a:endParaRPr>
                    </a:p>
                  </a:txBody>
                  <a:tcPr>
                    <a:lnL w="6350" cap="flat" cmpd="sng" algn="ctr">
                      <a:solidFill>
                        <a:srgbClr val="D0D5E0"/>
                      </a:solidFill>
                      <a:prstDash val="solid"/>
                      <a:round/>
                      <a:headEnd type="none" w="med" len="med"/>
                      <a:tailEnd type="none" w="med" len="med"/>
                    </a:lnL>
                    <a:lnR w="6350" cap="flat" cmpd="sng" algn="ctr">
                      <a:solidFill>
                        <a:srgbClr val="D0D5E0"/>
                      </a:solidFill>
                      <a:prstDash val="solid"/>
                      <a:round/>
                      <a:headEnd type="none" w="med" len="med"/>
                      <a:tailEnd type="none" w="med" len="med"/>
                    </a:lnR>
                    <a:lnT w="6350" cap="flat" cmpd="sng" algn="ctr">
                      <a:solidFill>
                        <a:srgbClr val="D0D5E0"/>
                      </a:solidFill>
                      <a:prstDash val="solid"/>
                      <a:round/>
                      <a:headEnd type="none" w="med" len="med"/>
                      <a:tailEnd type="none" w="med" len="med"/>
                    </a:lnT>
                    <a:lnB w="6350" cap="flat" cmpd="sng" algn="ctr">
                      <a:solidFill>
                        <a:srgbClr val="D0D5E0"/>
                      </a:solidFill>
                      <a:prstDash val="solid"/>
                      <a:round/>
                      <a:headEnd type="none" w="med" len="med"/>
                      <a:tailEnd type="none" w="med" len="med"/>
                    </a:lnB>
                    <a:solidFill>
                      <a:srgbClr val="F0F2F8"/>
                    </a:solidFill>
                  </a:tcPr>
                </a:tc>
                <a:extLst>
                  <a:ext uri="{0D108BD9-81ED-4DB2-BD59-A6C34878D82A}">
                    <a16:rowId xmlns:a16="http://schemas.microsoft.com/office/drawing/2014/main" val="10002"/>
                  </a:ext>
                </a:extLst>
              </a:tr>
              <a:tr h="457200">
                <a:tc>
                  <a:txBody>
                    <a:bodyPr/>
                    <a:lstStyle/>
                    <a:p>
                      <a:pPr marL="0" indent="0">
                        <a:buNone/>
                      </a:pPr>
                      <a:r>
                        <a:rPr lang="en-US" sz="950" b="1" dirty="0">
                          <a:solidFill>
                            <a:srgbClr val="1A1A2E"/>
                          </a:solidFill>
                          <a:latin typeface="Calibri" pitchFamily="34" charset="0"/>
                          <a:ea typeface="Calibri" pitchFamily="34" charset="-122"/>
                          <a:cs typeface="Calibri" pitchFamily="34" charset="-120"/>
                        </a:rPr>
                        <a:t>Equity forward all-in </a:t>
                      </a:r>
                      <a:endParaRPr lang="en-US" sz="950" dirty="0">
                        <a:latin typeface="Calibri" charset="0"/>
                        <a:ea typeface="Calibri" charset="0"/>
                        <a:cs typeface="Calibri" charset="0"/>
                      </a:endParaRPr>
                    </a:p>
                  </a:txBody>
                  <a:tcPr>
                    <a:lnL w="6350" cap="flat" cmpd="sng" algn="ctr">
                      <a:solidFill>
                        <a:srgbClr val="D0D5E0"/>
                      </a:solidFill>
                      <a:prstDash val="solid"/>
                      <a:round/>
                      <a:headEnd type="none" w="med" len="med"/>
                      <a:tailEnd type="none" w="med" len="med"/>
                    </a:lnL>
                    <a:lnR w="6350" cap="flat" cmpd="sng" algn="ctr">
                      <a:solidFill>
                        <a:srgbClr val="D0D5E0"/>
                      </a:solidFill>
                      <a:prstDash val="solid"/>
                      <a:round/>
                      <a:headEnd type="none" w="med" len="med"/>
                      <a:tailEnd type="none" w="med" len="med"/>
                    </a:lnR>
                    <a:lnT w="6350" cap="flat" cmpd="sng" algn="ctr">
                      <a:solidFill>
                        <a:srgbClr val="D0D5E0"/>
                      </a:solidFill>
                      <a:prstDash val="solid"/>
                      <a:round/>
                      <a:headEnd type="none" w="med" len="med"/>
                      <a:tailEnd type="none" w="med" len="med"/>
                    </a:lnT>
                    <a:lnB w="6350" cap="flat" cmpd="sng" algn="ctr">
                      <a:solidFill>
                        <a:srgbClr val="D0D5E0"/>
                      </a:solidFill>
                      <a:prstDash val="solid"/>
                      <a:round/>
                      <a:headEnd type="none" w="med" len="med"/>
                      <a:tailEnd type="none" w="med" len="med"/>
                    </a:lnB>
                    <a:solidFill>
                      <a:srgbClr val="FFFFFF"/>
                    </a:solidFill>
                  </a:tcPr>
                </a:tc>
                <a:tc>
                  <a:txBody>
                    <a:bodyPr/>
                    <a:lstStyle/>
                    <a:p>
                      <a:pPr marL="0" indent="0">
                        <a:buNone/>
                      </a:pPr>
                      <a:r>
                        <a:rPr lang="en-US" sz="950" dirty="0">
                          <a:solidFill>
                            <a:srgbClr val="1A1A2E"/>
                          </a:solidFill>
                          <a:latin typeface="Calibri" pitchFamily="34" charset="0"/>
                          <a:ea typeface="Calibri" pitchFamily="34" charset="-122"/>
                          <a:cs typeface="Calibri" pitchFamily="34" charset="-120"/>
                        </a:rPr>
                        <a:t>Equity spot + dividend yield + funding spread</a:t>
                      </a:r>
                      <a:endParaRPr lang="en-US" sz="950" dirty="0">
                        <a:latin typeface="Calibri" charset="0"/>
                        <a:ea typeface="Calibri" charset="0"/>
                        <a:cs typeface="Calibri" charset="0"/>
                      </a:endParaRPr>
                    </a:p>
                  </a:txBody>
                  <a:tcPr>
                    <a:lnL w="6350" cap="flat" cmpd="sng" algn="ctr">
                      <a:solidFill>
                        <a:srgbClr val="D0D5E0"/>
                      </a:solidFill>
                      <a:prstDash val="solid"/>
                      <a:round/>
                      <a:headEnd type="none" w="med" len="med"/>
                      <a:tailEnd type="none" w="med" len="med"/>
                    </a:lnL>
                    <a:lnR w="6350" cap="flat" cmpd="sng" algn="ctr">
                      <a:solidFill>
                        <a:srgbClr val="D0D5E0"/>
                      </a:solidFill>
                      <a:prstDash val="solid"/>
                      <a:round/>
                      <a:headEnd type="none" w="med" len="med"/>
                      <a:tailEnd type="none" w="med" len="med"/>
                    </a:lnR>
                    <a:lnT w="6350" cap="flat" cmpd="sng" algn="ctr">
                      <a:solidFill>
                        <a:srgbClr val="D0D5E0"/>
                      </a:solidFill>
                      <a:prstDash val="solid"/>
                      <a:round/>
                      <a:headEnd type="none" w="med" len="med"/>
                      <a:tailEnd type="none" w="med" len="med"/>
                    </a:lnT>
                    <a:lnB w="6350" cap="flat" cmpd="sng" algn="ctr">
                      <a:solidFill>
                        <a:srgbClr val="D0D5E0"/>
                      </a:solidFill>
                      <a:prstDash val="solid"/>
                      <a:round/>
                      <a:headEnd type="none" w="med" len="med"/>
                      <a:tailEnd type="none" w="med" len="med"/>
                    </a:lnB>
                    <a:solidFill>
                      <a:srgbClr val="FFFFFF"/>
                    </a:solidFill>
                  </a:tcPr>
                </a:tc>
                <a:tc>
                  <a:txBody>
                    <a:bodyPr/>
                    <a:lstStyle/>
                    <a:p>
                      <a:pPr marL="0" indent="0">
                        <a:buNone/>
                      </a:pPr>
                      <a:r>
                        <a:rPr lang="en-US" sz="950" dirty="0">
                          <a:solidFill>
                            <a:srgbClr val="1A1A2E"/>
                          </a:solidFill>
                          <a:latin typeface="Calibri" pitchFamily="34" charset="0"/>
                          <a:ea typeface="Calibri" pitchFamily="34" charset="-122"/>
                          <a:cs typeface="Calibri" pitchFamily="34" charset="-120"/>
                        </a:rPr>
                        <a:t>Dividend and funding risks may not be separately captured</a:t>
                      </a:r>
                      <a:endParaRPr lang="en-US" sz="950" dirty="0">
                        <a:latin typeface="Calibri" charset="0"/>
                        <a:ea typeface="Calibri" charset="0"/>
                        <a:cs typeface="Calibri" charset="0"/>
                      </a:endParaRPr>
                    </a:p>
                  </a:txBody>
                  <a:tcPr>
                    <a:lnL w="6350" cap="flat" cmpd="sng" algn="ctr">
                      <a:solidFill>
                        <a:srgbClr val="D0D5E0"/>
                      </a:solidFill>
                      <a:prstDash val="solid"/>
                      <a:round/>
                      <a:headEnd type="none" w="med" len="med"/>
                      <a:tailEnd type="none" w="med" len="med"/>
                    </a:lnL>
                    <a:lnR w="6350" cap="flat" cmpd="sng" algn="ctr">
                      <a:solidFill>
                        <a:srgbClr val="D0D5E0"/>
                      </a:solidFill>
                      <a:prstDash val="solid"/>
                      <a:round/>
                      <a:headEnd type="none" w="med" len="med"/>
                      <a:tailEnd type="none" w="med" len="med"/>
                    </a:lnR>
                    <a:lnT w="6350" cap="flat" cmpd="sng" algn="ctr">
                      <a:solidFill>
                        <a:srgbClr val="D0D5E0"/>
                      </a:solidFill>
                      <a:prstDash val="solid"/>
                      <a:round/>
                      <a:headEnd type="none" w="med" len="med"/>
                      <a:tailEnd type="none" w="med" len="med"/>
                    </a:lnT>
                    <a:lnB w="6350" cap="flat" cmpd="sng" algn="ctr">
                      <a:solidFill>
                        <a:srgbClr val="D0D5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Shape 2"/>
          <p:cNvSpPr/>
          <p:nvPr/>
        </p:nvSpPr>
        <p:spPr>
          <a:xfrm>
            <a:off x="731520" y="3108960"/>
            <a:ext cx="7680960" cy="640080"/>
          </a:xfrm>
          <a:prstGeom prst="rect">
            <a:avLst/>
          </a:prstGeom>
          <a:solidFill>
            <a:srgbClr val="FEF3C7"/>
          </a:solidFill>
          <a:ln/>
        </p:spPr>
      </p:sp>
      <p:sp>
        <p:nvSpPr>
          <p:cNvPr id="6" name="Shape 3"/>
          <p:cNvSpPr/>
          <p:nvPr/>
        </p:nvSpPr>
        <p:spPr>
          <a:xfrm>
            <a:off x="731520" y="3108960"/>
            <a:ext cx="54864" cy="640080"/>
          </a:xfrm>
          <a:prstGeom prst="rect">
            <a:avLst/>
          </a:prstGeom>
          <a:solidFill>
            <a:srgbClr val="F59E0B"/>
          </a:solidFill>
          <a:ln/>
        </p:spPr>
      </p:sp>
      <p:sp>
        <p:nvSpPr>
          <p:cNvPr id="7" name="Text 4"/>
          <p:cNvSpPr/>
          <p:nvPr/>
        </p:nvSpPr>
        <p:spPr>
          <a:xfrm>
            <a:off x="1005840" y="3108960"/>
            <a:ext cx="7223760" cy="640080"/>
          </a:xfrm>
          <a:prstGeom prst="rect">
            <a:avLst/>
          </a:prstGeom>
          <a:noFill/>
          <a:ln/>
        </p:spPr>
        <p:txBody>
          <a:bodyPr wrap="square" lIns="0" tIns="0" rIns="0" bIns="0" rtlCol="0" anchor="ctr"/>
          <a:lstStyle/>
          <a:p>
            <a:pPr marL="0" indent="0">
              <a:buNone/>
            </a:pPr>
            <a:r>
              <a:rPr lang="en-US" sz="1100" b="1" dirty="0">
                <a:solidFill>
                  <a:srgbClr val="1A1A2E"/>
                </a:solidFill>
                <a:latin typeface="Calibri" pitchFamily="34" charset="0"/>
                <a:ea typeface="Calibri" pitchFamily="34" charset="-122"/>
                <a:cs typeface="Calibri" pitchFamily="34" charset="-120"/>
              </a:rPr>
              <a:t>Key RFET issue: </a:t>
            </a:r>
            <a:r>
              <a:rPr lang="en-US" sz="1100" dirty="0">
                <a:solidFill>
                  <a:srgbClr val="2D3248"/>
                </a:solidFill>
                <a:latin typeface="Calibri" pitchFamily="34" charset="0"/>
                <a:ea typeface="Calibri" pitchFamily="34" charset="-122"/>
                <a:cs typeface="Calibri" pitchFamily="34" charset="-120"/>
              </a:rPr>
              <a:t>An all-in quote may be a valid market observation, but it may fail the qualitative test if we cannot prove which underlying risk factor it represents.</a:t>
            </a:r>
            <a:endParaRPr lang="en-US" sz="1100" dirty="0"/>
          </a:p>
        </p:txBody>
      </p:sp>
      <p:sp>
        <p:nvSpPr>
          <p:cNvPr id="8" name="Shape 5"/>
          <p:cNvSpPr/>
          <p:nvPr/>
        </p:nvSpPr>
        <p:spPr>
          <a:xfrm>
            <a:off x="731520" y="3931920"/>
            <a:ext cx="7680960" cy="822960"/>
          </a:xfrm>
          <a:prstGeom prst="rect">
            <a:avLst/>
          </a:prstGeom>
          <a:solidFill>
            <a:srgbClr val="EEF0F8"/>
          </a:solidFill>
          <a:ln/>
        </p:spPr>
      </p:sp>
      <p:sp>
        <p:nvSpPr>
          <p:cNvPr id="9" name="Shape 6"/>
          <p:cNvSpPr/>
          <p:nvPr/>
        </p:nvSpPr>
        <p:spPr>
          <a:xfrm>
            <a:off x="731520" y="3931920"/>
            <a:ext cx="54864" cy="822960"/>
          </a:xfrm>
          <a:prstGeom prst="rect">
            <a:avLst/>
          </a:prstGeom>
          <a:solidFill>
            <a:srgbClr val="1E2761"/>
          </a:solidFill>
          <a:ln/>
        </p:spPr>
      </p:sp>
      <p:sp>
        <p:nvSpPr>
          <p:cNvPr id="10" name="Text 7"/>
          <p:cNvSpPr/>
          <p:nvPr/>
        </p:nvSpPr>
        <p:spPr>
          <a:xfrm>
            <a:off x="1005840" y="3931920"/>
            <a:ext cx="7223760" cy="822960"/>
          </a:xfrm>
          <a:prstGeom prst="rect">
            <a:avLst/>
          </a:prstGeom>
          <a:noFill/>
          <a:ln/>
        </p:spPr>
        <p:txBody>
          <a:bodyPr wrap="square" lIns="0" tIns="0" rIns="0" bIns="0" rtlCol="0" anchor="ctr"/>
          <a:lstStyle/>
          <a:p>
            <a:pPr marL="0" indent="0">
              <a:buNone/>
            </a:pP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320040"/>
            <a:ext cx="7680960" cy="548640"/>
          </a:xfrm>
          <a:prstGeom prst="rect">
            <a:avLst/>
          </a:prstGeom>
          <a:noFill/>
          <a:ln/>
        </p:spPr>
        <p:txBody>
          <a:bodyPr wrap="square" lIns="0" tIns="0" rIns="0" bIns="0" rtlCol="0" anchor="ctr"/>
          <a:lstStyle/>
          <a:p>
            <a:pPr marL="0" indent="0">
              <a:buNone/>
            </a:pPr>
            <a:r>
              <a:rPr lang="en-US" sz="2400" b="1" dirty="0">
                <a:solidFill>
                  <a:srgbClr val="1E2761"/>
                </a:solidFill>
                <a:latin typeface="Georgia" pitchFamily="34" charset="0"/>
                <a:ea typeface="Georgia" pitchFamily="34" charset="-122"/>
                <a:cs typeface="Georgia" pitchFamily="34" charset="-120"/>
              </a:rPr>
              <a:t>Composed Risk Factors — Why They Create RFET Risk</a:t>
            </a:r>
            <a:endParaRPr lang="en-US" sz="2400" dirty="0"/>
          </a:p>
        </p:txBody>
      </p:sp>
      <p:sp>
        <p:nvSpPr>
          <p:cNvPr id="3" name="Text 1"/>
          <p:cNvSpPr/>
          <p:nvPr/>
        </p:nvSpPr>
        <p:spPr>
          <a:xfrm>
            <a:off x="731520" y="868680"/>
            <a:ext cx="7680960" cy="411480"/>
          </a:xfrm>
          <a:prstGeom prst="rect">
            <a:avLst/>
          </a:prstGeom>
          <a:noFill/>
          <a:ln/>
        </p:spPr>
        <p:txBody>
          <a:bodyPr wrap="square" lIns="0" tIns="0" rIns="0" bIns="0" rtlCol="0" anchor="ctr"/>
          <a:lstStyle/>
          <a:p>
            <a:pPr marL="0" indent="0">
              <a:buNone/>
            </a:pPr>
            <a:r>
              <a:rPr lang="en-US" sz="1100" b="1" dirty="0">
                <a:solidFill>
                  <a:srgbClr val="0000FF"/>
                </a:solidFill>
                <a:latin typeface="Calibri" pitchFamily="34" charset="0"/>
                <a:ea typeface="Calibri" pitchFamily="34" charset="-122"/>
                <a:cs typeface="Calibri" pitchFamily="34" charset="-120"/>
              </a:rPr>
              <a:t>Composed data objects may be acceptable for pricing</a:t>
            </a:r>
            <a:r>
              <a:rPr lang="en-US" sz="1100" dirty="0">
                <a:solidFill>
                  <a:srgbClr val="2D3248"/>
                </a:solidFill>
                <a:latin typeface="Calibri" pitchFamily="34" charset="0"/>
                <a:ea typeface="Calibri" pitchFamily="34" charset="-122"/>
                <a:cs typeface="Calibri" pitchFamily="34" charset="-120"/>
              </a:rPr>
              <a:t>, but </a:t>
            </a:r>
            <a:r>
              <a:rPr lang="en-US" sz="1100" b="1" dirty="0">
                <a:solidFill>
                  <a:srgbClr val="FF0000"/>
                </a:solidFill>
                <a:latin typeface="Calibri" pitchFamily="34" charset="0"/>
                <a:ea typeface="Calibri" pitchFamily="34" charset="-122"/>
                <a:cs typeface="Calibri" pitchFamily="34" charset="-120"/>
              </a:rPr>
              <a:t>they are not great  as shockable risk factors </a:t>
            </a:r>
            <a:r>
              <a:rPr lang="en-US" sz="1100" dirty="0">
                <a:solidFill>
                  <a:srgbClr val="2D3248"/>
                </a:solidFill>
                <a:latin typeface="Calibri" pitchFamily="34" charset="0"/>
                <a:ea typeface="Calibri" pitchFamily="34" charset="-122"/>
                <a:cs typeface="Calibri" pitchFamily="34" charset="-120"/>
              </a:rPr>
              <a:t>if the embedded risks cannot be separated, mapped, and capitalized correctly.</a:t>
            </a:r>
            <a:endParaRPr lang="en-US" sz="1100" dirty="0"/>
          </a:p>
        </p:txBody>
      </p:sp>
      <p:sp>
        <p:nvSpPr>
          <p:cNvPr id="4" name="Shape 2"/>
          <p:cNvSpPr/>
          <p:nvPr/>
        </p:nvSpPr>
        <p:spPr>
          <a:xfrm>
            <a:off x="731520" y="1463040"/>
            <a:ext cx="2468880" cy="2011680"/>
          </a:xfrm>
          <a:prstGeom prst="rect">
            <a:avLst/>
          </a:prstGeom>
          <a:solidFill>
            <a:srgbClr val="F0F2F8"/>
          </a:solidFill>
          <a:ln/>
          <a:effectLst>
            <a:outerShdw blurRad="76200" dist="25400" dir="8100000" algn="bl" rotWithShape="0">
              <a:srgbClr val="000000">
                <a:alpha val="12000"/>
              </a:srgbClr>
            </a:outerShdw>
          </a:effectLst>
        </p:spPr>
      </p:sp>
      <p:sp>
        <p:nvSpPr>
          <p:cNvPr id="5" name="Shape 3"/>
          <p:cNvSpPr/>
          <p:nvPr/>
        </p:nvSpPr>
        <p:spPr>
          <a:xfrm>
            <a:off x="731520" y="1463040"/>
            <a:ext cx="2468880" cy="45720"/>
          </a:xfrm>
          <a:prstGeom prst="rect">
            <a:avLst/>
          </a:prstGeom>
          <a:solidFill>
            <a:srgbClr val="3B82F6"/>
          </a:solidFill>
          <a:ln/>
        </p:spPr>
      </p:sp>
      <p:sp>
        <p:nvSpPr>
          <p:cNvPr id="6" name="Text 4"/>
          <p:cNvSpPr/>
          <p:nvPr/>
        </p:nvSpPr>
        <p:spPr>
          <a:xfrm>
            <a:off x="868680" y="1600200"/>
            <a:ext cx="2194560" cy="320040"/>
          </a:xfrm>
          <a:prstGeom prst="rect">
            <a:avLst/>
          </a:prstGeom>
          <a:noFill/>
          <a:ln/>
        </p:spPr>
        <p:txBody>
          <a:bodyPr wrap="square" lIns="0" tIns="0" rIns="0" bIns="0" rtlCol="0" anchor="ctr"/>
          <a:lstStyle/>
          <a:p>
            <a:pPr marL="0" indent="0">
              <a:buNone/>
            </a:pPr>
            <a:r>
              <a:rPr lang="en-US" sz="1200" b="1" dirty="0">
                <a:solidFill>
                  <a:srgbClr val="1E2761"/>
                </a:solidFill>
                <a:latin typeface="Georgia" pitchFamily="34" charset="0"/>
                <a:ea typeface="Georgia" pitchFamily="34" charset="-122"/>
                <a:cs typeface="Georgia" pitchFamily="34" charset="-120"/>
              </a:rPr>
              <a:t>1. Qualitative Test</a:t>
            </a:r>
            <a:endParaRPr lang="en-US" sz="1200" dirty="0"/>
          </a:p>
        </p:txBody>
      </p:sp>
      <p:sp>
        <p:nvSpPr>
          <p:cNvPr id="7" name="Text 5"/>
          <p:cNvSpPr/>
          <p:nvPr/>
        </p:nvSpPr>
        <p:spPr>
          <a:xfrm>
            <a:off x="868680" y="1965960"/>
            <a:ext cx="2194560" cy="731520"/>
          </a:xfrm>
          <a:prstGeom prst="rect">
            <a:avLst/>
          </a:prstGeom>
          <a:noFill/>
          <a:ln/>
        </p:spPr>
        <p:txBody>
          <a:bodyPr wrap="square" lIns="0" tIns="0" rIns="0" bIns="0" rtlCol="0" anchor="ctr"/>
          <a:lstStyle/>
          <a:p>
            <a:pPr marL="0" indent="0">
              <a:buNone/>
            </a:pPr>
            <a:r>
              <a:rPr lang="en-US" sz="950" b="1" dirty="0">
                <a:solidFill>
                  <a:srgbClr val="FF0000"/>
                </a:solidFill>
                <a:latin typeface="Calibri" pitchFamily="34" charset="0"/>
                <a:ea typeface="Calibri" pitchFamily="34" charset="-122"/>
                <a:cs typeface="Calibri" pitchFamily="34" charset="-120"/>
              </a:rPr>
              <a:t>Data must capture both general market risk and idiosyncratic risk. If one component is hidden, it may become NMRF.</a:t>
            </a:r>
            <a:endParaRPr lang="en-US" sz="950" b="1" dirty="0">
              <a:solidFill>
                <a:srgbClr val="FF0000"/>
              </a:solidFill>
            </a:endParaRPr>
          </a:p>
        </p:txBody>
      </p:sp>
      <p:sp>
        <p:nvSpPr>
          <p:cNvPr id="8" name="Text 6"/>
          <p:cNvSpPr/>
          <p:nvPr/>
        </p:nvSpPr>
        <p:spPr>
          <a:xfrm>
            <a:off x="868680" y="2788920"/>
            <a:ext cx="2194560" cy="502920"/>
          </a:xfrm>
          <a:prstGeom prst="rect">
            <a:avLst/>
          </a:prstGeom>
          <a:noFill/>
          <a:ln/>
        </p:spPr>
        <p:txBody>
          <a:bodyPr wrap="square" lIns="0" tIns="0" rIns="0" bIns="0" rtlCol="0" anchor="ctr"/>
          <a:lstStyle/>
          <a:p>
            <a:pPr marL="0" indent="0">
              <a:buNone/>
            </a:pPr>
            <a:r>
              <a:rPr lang="en-US" sz="900" b="1" i="1" dirty="0">
                <a:solidFill>
                  <a:srgbClr val="8A92A8"/>
                </a:solidFill>
                <a:latin typeface="Calibri" pitchFamily="34" charset="0"/>
                <a:ea typeface="Calibri" pitchFamily="34" charset="-122"/>
                <a:cs typeface="Calibri" pitchFamily="34" charset="-120"/>
              </a:rPr>
              <a:t>Bond all-in yield = IR + credit spread</a:t>
            </a:r>
            <a:endParaRPr lang="en-US" sz="900" b="1" dirty="0"/>
          </a:p>
        </p:txBody>
      </p:sp>
      <p:sp>
        <p:nvSpPr>
          <p:cNvPr id="9" name="Shape 7"/>
          <p:cNvSpPr/>
          <p:nvPr/>
        </p:nvSpPr>
        <p:spPr>
          <a:xfrm>
            <a:off x="3410712" y="1463040"/>
            <a:ext cx="2468880" cy="2011680"/>
          </a:xfrm>
          <a:prstGeom prst="rect">
            <a:avLst/>
          </a:prstGeom>
          <a:solidFill>
            <a:srgbClr val="F0F2F8"/>
          </a:solidFill>
          <a:ln/>
          <a:effectLst>
            <a:outerShdw blurRad="76200" dist="25400" dir="8100000" algn="bl" rotWithShape="0">
              <a:srgbClr val="000000">
                <a:alpha val="12000"/>
              </a:srgbClr>
            </a:outerShdw>
          </a:effectLst>
        </p:spPr>
      </p:sp>
      <p:sp>
        <p:nvSpPr>
          <p:cNvPr id="10" name="Shape 8"/>
          <p:cNvSpPr/>
          <p:nvPr/>
        </p:nvSpPr>
        <p:spPr>
          <a:xfrm>
            <a:off x="3410712" y="1463040"/>
            <a:ext cx="2468880" cy="45720"/>
          </a:xfrm>
          <a:prstGeom prst="rect">
            <a:avLst/>
          </a:prstGeom>
          <a:solidFill>
            <a:srgbClr val="F59E0B"/>
          </a:solidFill>
          <a:ln/>
        </p:spPr>
      </p:sp>
      <p:sp>
        <p:nvSpPr>
          <p:cNvPr id="11" name="Text 9"/>
          <p:cNvSpPr/>
          <p:nvPr/>
        </p:nvSpPr>
        <p:spPr>
          <a:xfrm>
            <a:off x="3547872" y="1600200"/>
            <a:ext cx="2194560" cy="320040"/>
          </a:xfrm>
          <a:prstGeom prst="rect">
            <a:avLst/>
          </a:prstGeom>
          <a:noFill/>
          <a:ln/>
        </p:spPr>
        <p:txBody>
          <a:bodyPr wrap="square" lIns="0" tIns="0" rIns="0" bIns="0" rtlCol="0" anchor="ctr"/>
          <a:lstStyle/>
          <a:p>
            <a:pPr marL="0" indent="0">
              <a:buNone/>
            </a:pPr>
            <a:r>
              <a:rPr lang="en-US" sz="1200" b="1" dirty="0">
                <a:solidFill>
                  <a:srgbClr val="1E2761"/>
                </a:solidFill>
                <a:latin typeface="Georgia" pitchFamily="34" charset="0"/>
                <a:ea typeface="Georgia" pitchFamily="34" charset="-122"/>
                <a:cs typeface="Georgia" pitchFamily="34" charset="-120"/>
              </a:rPr>
              <a:t>2. Liquidity Horizon</a:t>
            </a:r>
            <a:endParaRPr lang="en-US" sz="1200" dirty="0"/>
          </a:p>
        </p:txBody>
      </p:sp>
      <p:sp>
        <p:nvSpPr>
          <p:cNvPr id="12" name="Text 10"/>
          <p:cNvSpPr/>
          <p:nvPr/>
        </p:nvSpPr>
        <p:spPr>
          <a:xfrm>
            <a:off x="3547872" y="1965960"/>
            <a:ext cx="2194560" cy="731520"/>
          </a:xfrm>
          <a:prstGeom prst="rect">
            <a:avLst/>
          </a:prstGeom>
          <a:noFill/>
          <a:ln/>
        </p:spPr>
        <p:txBody>
          <a:bodyPr wrap="square" lIns="0" tIns="0" rIns="0" bIns="0" rtlCol="0" anchor="ctr"/>
          <a:lstStyle/>
          <a:p>
            <a:pPr marL="0" indent="0">
              <a:buNone/>
            </a:pPr>
            <a:r>
              <a:rPr lang="en-US" sz="950" dirty="0">
                <a:solidFill>
                  <a:srgbClr val="2D3248"/>
                </a:solidFill>
                <a:latin typeface="Calibri" pitchFamily="34" charset="0"/>
                <a:ea typeface="Calibri" pitchFamily="34" charset="-122"/>
                <a:cs typeface="Calibri" pitchFamily="34" charset="-120"/>
              </a:rPr>
              <a:t>Different embedded risks may require different liquidity horizons. Blending them can understate capital.</a:t>
            </a:r>
            <a:endParaRPr lang="en-US" sz="950" dirty="0"/>
          </a:p>
        </p:txBody>
      </p:sp>
      <p:sp>
        <p:nvSpPr>
          <p:cNvPr id="13" name="Text 11"/>
          <p:cNvSpPr/>
          <p:nvPr/>
        </p:nvSpPr>
        <p:spPr>
          <a:xfrm>
            <a:off x="3547872" y="2788920"/>
            <a:ext cx="2194560" cy="502920"/>
          </a:xfrm>
          <a:prstGeom prst="rect">
            <a:avLst/>
          </a:prstGeom>
          <a:noFill/>
          <a:ln/>
        </p:spPr>
        <p:txBody>
          <a:bodyPr wrap="square" lIns="0" tIns="0" rIns="0" bIns="0" rtlCol="0" anchor="ctr"/>
          <a:lstStyle/>
          <a:p>
            <a:pPr marL="0" indent="0">
              <a:buNone/>
            </a:pPr>
            <a:r>
              <a:rPr lang="en-US" sz="900" b="1" i="1" dirty="0">
                <a:solidFill>
                  <a:srgbClr val="8A92A8"/>
                </a:solidFill>
                <a:latin typeface="Calibri" pitchFamily="34" charset="0"/>
                <a:ea typeface="Calibri" pitchFamily="34" charset="-122"/>
                <a:cs typeface="Calibri" pitchFamily="34" charset="-120"/>
              </a:rPr>
              <a:t>IR may be 10-day; credit spread may be 60-day</a:t>
            </a:r>
            <a:endParaRPr lang="en-US" sz="900" b="1" dirty="0"/>
          </a:p>
        </p:txBody>
      </p:sp>
      <p:sp>
        <p:nvSpPr>
          <p:cNvPr id="14" name="Shape 12"/>
          <p:cNvSpPr/>
          <p:nvPr/>
        </p:nvSpPr>
        <p:spPr>
          <a:xfrm>
            <a:off x="6089904" y="1463040"/>
            <a:ext cx="2468880" cy="2011680"/>
          </a:xfrm>
          <a:prstGeom prst="rect">
            <a:avLst/>
          </a:prstGeom>
          <a:solidFill>
            <a:srgbClr val="F0F2F8"/>
          </a:solidFill>
          <a:ln/>
          <a:effectLst>
            <a:outerShdw blurRad="76200" dist="25400" dir="8100000" algn="bl" rotWithShape="0">
              <a:srgbClr val="000000">
                <a:alpha val="12000"/>
              </a:srgbClr>
            </a:outerShdw>
          </a:effectLst>
        </p:spPr>
      </p:sp>
      <p:sp>
        <p:nvSpPr>
          <p:cNvPr id="15" name="Shape 13"/>
          <p:cNvSpPr/>
          <p:nvPr/>
        </p:nvSpPr>
        <p:spPr>
          <a:xfrm>
            <a:off x="6089904" y="1463040"/>
            <a:ext cx="2468880" cy="45720"/>
          </a:xfrm>
          <a:prstGeom prst="rect">
            <a:avLst/>
          </a:prstGeom>
          <a:solidFill>
            <a:srgbClr val="0EA5E9"/>
          </a:solidFill>
          <a:ln/>
        </p:spPr>
      </p:sp>
      <p:sp>
        <p:nvSpPr>
          <p:cNvPr id="16" name="Text 14"/>
          <p:cNvSpPr/>
          <p:nvPr/>
        </p:nvSpPr>
        <p:spPr>
          <a:xfrm>
            <a:off x="6227064" y="1600200"/>
            <a:ext cx="2194560" cy="320040"/>
          </a:xfrm>
          <a:prstGeom prst="rect">
            <a:avLst/>
          </a:prstGeom>
          <a:noFill/>
          <a:ln/>
        </p:spPr>
        <p:txBody>
          <a:bodyPr wrap="square" lIns="0" tIns="0" rIns="0" bIns="0" rtlCol="0" anchor="ctr"/>
          <a:lstStyle/>
          <a:p>
            <a:pPr marL="0" indent="0">
              <a:buNone/>
            </a:pPr>
            <a:r>
              <a:rPr lang="en-US" sz="1200" b="1" dirty="0">
                <a:solidFill>
                  <a:srgbClr val="1E2761"/>
                </a:solidFill>
                <a:latin typeface="Georgia" pitchFamily="34" charset="0"/>
                <a:ea typeface="Georgia" pitchFamily="34" charset="-122"/>
                <a:cs typeface="Georgia" pitchFamily="34" charset="-120"/>
              </a:rPr>
              <a:t>3. IMCC Aggregation</a:t>
            </a:r>
            <a:endParaRPr lang="en-US" sz="1200" dirty="0"/>
          </a:p>
        </p:txBody>
      </p:sp>
      <p:sp>
        <p:nvSpPr>
          <p:cNvPr id="17" name="Text 15"/>
          <p:cNvSpPr/>
          <p:nvPr/>
        </p:nvSpPr>
        <p:spPr>
          <a:xfrm>
            <a:off x="6227064" y="1965960"/>
            <a:ext cx="2194560" cy="731520"/>
          </a:xfrm>
          <a:prstGeom prst="rect">
            <a:avLst/>
          </a:prstGeom>
          <a:noFill/>
          <a:ln/>
        </p:spPr>
        <p:txBody>
          <a:bodyPr wrap="square" lIns="0" tIns="0" rIns="0" bIns="0" rtlCol="0" anchor="ctr"/>
          <a:lstStyle/>
          <a:p>
            <a:pPr marL="0" indent="0">
              <a:buNone/>
            </a:pPr>
            <a:r>
              <a:rPr lang="en-US" sz="950" dirty="0">
                <a:solidFill>
                  <a:srgbClr val="2D3248"/>
                </a:solidFill>
                <a:latin typeface="Calibri" pitchFamily="34" charset="0"/>
                <a:ea typeface="Calibri" pitchFamily="34" charset="-122"/>
                <a:cs typeface="Calibri" pitchFamily="34" charset="-120"/>
              </a:rPr>
              <a:t>ES / IMCC requires risk-class views. A blended RF makes risk-class attribution harder.</a:t>
            </a:r>
            <a:endParaRPr lang="en-US" sz="950" dirty="0"/>
          </a:p>
        </p:txBody>
      </p:sp>
      <p:sp>
        <p:nvSpPr>
          <p:cNvPr id="18" name="Text 16"/>
          <p:cNvSpPr/>
          <p:nvPr/>
        </p:nvSpPr>
        <p:spPr>
          <a:xfrm>
            <a:off x="6227064" y="2788920"/>
            <a:ext cx="2194560" cy="502920"/>
          </a:xfrm>
          <a:prstGeom prst="rect">
            <a:avLst/>
          </a:prstGeom>
          <a:noFill/>
          <a:ln/>
        </p:spPr>
        <p:txBody>
          <a:bodyPr wrap="square" lIns="0" tIns="0" rIns="0" bIns="0" rtlCol="0" anchor="ctr"/>
          <a:lstStyle/>
          <a:p>
            <a:pPr marL="0" indent="0">
              <a:buNone/>
            </a:pPr>
            <a:r>
              <a:rPr lang="en-US" sz="900" b="1" i="1" dirty="0">
                <a:solidFill>
                  <a:srgbClr val="8A92A8"/>
                </a:solidFill>
                <a:latin typeface="Calibri" pitchFamily="34" charset="0"/>
                <a:ea typeface="Calibri" pitchFamily="34" charset="-122"/>
                <a:cs typeface="Calibri" pitchFamily="34" charset="-120"/>
              </a:rPr>
              <a:t>XCCY all-in curve = IR + FX + basis</a:t>
            </a:r>
            <a:endParaRPr lang="en-US" sz="900" b="1" dirty="0"/>
          </a:p>
        </p:txBody>
      </p:sp>
      <p:sp>
        <p:nvSpPr>
          <p:cNvPr id="19" name="Shape 17"/>
          <p:cNvSpPr/>
          <p:nvPr/>
        </p:nvSpPr>
        <p:spPr>
          <a:xfrm>
            <a:off x="731520" y="3680460"/>
            <a:ext cx="3657600" cy="1051560"/>
          </a:xfrm>
          <a:prstGeom prst="rect">
            <a:avLst/>
          </a:prstGeom>
          <a:solidFill>
            <a:srgbClr val="ECFDF5"/>
          </a:solidFill>
          <a:ln/>
        </p:spPr>
      </p:sp>
      <p:sp>
        <p:nvSpPr>
          <p:cNvPr id="20" name="Shape 18"/>
          <p:cNvSpPr/>
          <p:nvPr/>
        </p:nvSpPr>
        <p:spPr>
          <a:xfrm>
            <a:off x="731520" y="3703320"/>
            <a:ext cx="54864" cy="1051560"/>
          </a:xfrm>
          <a:prstGeom prst="rect">
            <a:avLst/>
          </a:prstGeom>
          <a:solidFill>
            <a:srgbClr val="10B981"/>
          </a:solidFill>
          <a:ln/>
        </p:spPr>
      </p:sp>
      <p:sp>
        <p:nvSpPr>
          <p:cNvPr id="21" name="Text 19"/>
          <p:cNvSpPr/>
          <p:nvPr/>
        </p:nvSpPr>
        <p:spPr>
          <a:xfrm>
            <a:off x="1005840" y="3749040"/>
            <a:ext cx="3200400" cy="914400"/>
          </a:xfrm>
          <a:prstGeom prst="rect">
            <a:avLst/>
          </a:prstGeom>
          <a:noFill/>
          <a:ln/>
        </p:spPr>
        <p:txBody>
          <a:bodyPr wrap="square" lIns="0" tIns="0" rIns="0" bIns="0" rtlCol="0" anchor="ctr"/>
          <a:lstStyle/>
          <a:p>
            <a:pPr marL="0" indent="0">
              <a:buNone/>
            </a:pPr>
            <a:r>
              <a:rPr lang="en-US" sz="1100" b="1" dirty="0">
                <a:solidFill>
                  <a:srgbClr val="10B981"/>
                </a:solidFill>
                <a:latin typeface="Calibri" pitchFamily="34" charset="0"/>
                <a:ea typeface="Calibri" pitchFamily="34" charset="-122"/>
                <a:cs typeface="Calibri" pitchFamily="34" charset="-120"/>
              </a:rPr>
              <a:t>Good composed example
</a:t>
            </a:r>
            <a:endParaRPr lang="en-US" sz="1100" dirty="0"/>
          </a:p>
          <a:p>
            <a:pPr marL="0" indent="0">
              <a:buNone/>
            </a:pPr>
            <a:r>
              <a:rPr lang="en-US" sz="1000" dirty="0">
                <a:solidFill>
                  <a:srgbClr val="2D3248"/>
                </a:solidFill>
                <a:latin typeface="Calibri" pitchFamily="34" charset="0"/>
                <a:ea typeface="Calibri" pitchFamily="34" charset="-122"/>
                <a:cs typeface="Calibri" pitchFamily="34" charset="-120"/>
              </a:rPr>
              <a:t>Equity beta decomposed into sector factor + equity index factor + residual/idiosyncratic factor</a:t>
            </a:r>
            <a:endParaRPr lang="en-US" sz="1100" dirty="0"/>
          </a:p>
        </p:txBody>
      </p:sp>
      <p:sp>
        <p:nvSpPr>
          <p:cNvPr id="22" name="Shape 20"/>
          <p:cNvSpPr/>
          <p:nvPr/>
        </p:nvSpPr>
        <p:spPr>
          <a:xfrm>
            <a:off x="4754880" y="3703320"/>
            <a:ext cx="3657600" cy="1051560"/>
          </a:xfrm>
          <a:prstGeom prst="rect">
            <a:avLst/>
          </a:prstGeom>
          <a:solidFill>
            <a:srgbClr val="FEF2F2"/>
          </a:solidFill>
          <a:ln/>
        </p:spPr>
      </p:sp>
      <p:sp>
        <p:nvSpPr>
          <p:cNvPr id="23" name="Shape 21"/>
          <p:cNvSpPr/>
          <p:nvPr/>
        </p:nvSpPr>
        <p:spPr>
          <a:xfrm>
            <a:off x="4754880" y="3703320"/>
            <a:ext cx="54864" cy="1051560"/>
          </a:xfrm>
          <a:prstGeom prst="rect">
            <a:avLst/>
          </a:prstGeom>
          <a:solidFill>
            <a:srgbClr val="EF4444"/>
          </a:solidFill>
          <a:ln/>
        </p:spPr>
      </p:sp>
      <p:sp>
        <p:nvSpPr>
          <p:cNvPr id="24" name="Text 22"/>
          <p:cNvSpPr/>
          <p:nvPr/>
        </p:nvSpPr>
        <p:spPr>
          <a:xfrm>
            <a:off x="5029200" y="3749040"/>
            <a:ext cx="3200400" cy="914400"/>
          </a:xfrm>
          <a:prstGeom prst="rect">
            <a:avLst/>
          </a:prstGeom>
          <a:noFill/>
          <a:ln/>
        </p:spPr>
        <p:txBody>
          <a:bodyPr wrap="square" lIns="0" tIns="0" rIns="0" bIns="0" rtlCol="0" anchor="ctr"/>
          <a:lstStyle/>
          <a:p>
            <a:pPr marL="0" indent="0">
              <a:buNone/>
            </a:pPr>
            <a:r>
              <a:rPr lang="en-US" sz="1100" b="1" dirty="0">
                <a:solidFill>
                  <a:srgbClr val="EF4444"/>
                </a:solidFill>
                <a:latin typeface="Calibri" pitchFamily="34" charset="0"/>
                <a:ea typeface="Calibri" pitchFamily="34" charset="-122"/>
                <a:cs typeface="Calibri" pitchFamily="34" charset="-120"/>
              </a:rPr>
              <a:t>Bad composed examples
</a:t>
            </a:r>
            <a:endParaRPr lang="en-US" sz="1100" dirty="0"/>
          </a:p>
          <a:p>
            <a:pPr marL="0" indent="0">
              <a:buNone/>
            </a:pPr>
            <a:r>
              <a:rPr lang="en-US" sz="1000" dirty="0">
                <a:solidFill>
                  <a:srgbClr val="2D3248"/>
                </a:solidFill>
                <a:latin typeface="Calibri" pitchFamily="34" charset="0"/>
                <a:ea typeface="Calibri" pitchFamily="34" charset="-122"/>
                <a:cs typeface="Calibri" pitchFamily="34" charset="-120"/>
              </a:rPr>
              <a:t>Bond all-in RF: IR + credit spread</a:t>
            </a:r>
            <a:endParaRPr lang="en-US" sz="1100" dirty="0"/>
          </a:p>
          <a:p>
            <a:pPr marL="0" indent="0">
              <a:buNone/>
            </a:pPr>
            <a:r>
              <a:rPr lang="en-US" sz="1000" dirty="0">
                <a:solidFill>
                  <a:srgbClr val="2D3248"/>
                </a:solidFill>
                <a:latin typeface="Calibri" pitchFamily="34" charset="0"/>
                <a:ea typeface="Calibri" pitchFamily="34" charset="-122"/>
                <a:cs typeface="Calibri" pitchFamily="34" charset="-120"/>
              </a:rPr>
              <a:t>XCCY all-in RF: IR + FX + basis</a:t>
            </a:r>
            <a:endParaRPr lang="en-US" sz="1100" dirty="0"/>
          </a:p>
          <a:p>
            <a:pPr marL="0" indent="0">
              <a:buNone/>
            </a:pPr>
            <a:r>
              <a:rPr lang="en-US" sz="1000" dirty="0">
                <a:solidFill>
                  <a:srgbClr val="2D3248"/>
                </a:solidFill>
                <a:latin typeface="Calibri" pitchFamily="34" charset="0"/>
                <a:ea typeface="Calibri" pitchFamily="34" charset="-122"/>
                <a:cs typeface="Calibri" pitchFamily="34" charset="-120"/>
              </a:rPr>
              <a:t>Equity forward all-in: dividend + funding spread</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a:extLst>
              <a:ext uri="{FF2B5EF4-FFF2-40B4-BE49-F238E27FC236}">
                <a16:creationId xmlns:a16="http://schemas.microsoft.com/office/drawing/2014/main" id="{C79EC254-C8E5-6885-2DDF-CAF352381AD5}"/>
              </a:ext>
            </a:extLst>
          </p:cNvPr>
          <p:cNvSpPr/>
          <p:nvPr/>
        </p:nvSpPr>
        <p:spPr>
          <a:xfrm>
            <a:off x="459740" y="730885"/>
            <a:ext cx="7223760" cy="1014730"/>
          </a:xfrm>
          <a:prstGeom prst="rect">
            <a:avLst/>
          </a:prstGeom>
          <a:noFill/>
          <a:ln/>
        </p:spPr>
        <p:txBody>
          <a:bodyPr wrap="square" lIns="0" tIns="0" rIns="0" bIns="0" rtlCol="0" anchor="ctr"/>
          <a:lstStyle/>
          <a:p>
            <a:endParaRPr lang="en-US" sz="1200" dirty="0">
              <a:solidFill>
                <a:srgbClr val="2D3248"/>
              </a:solidFill>
              <a:latin typeface="Calibri" pitchFamily="34" charset="0"/>
              <a:cs typeface="Calibri" pitchFamily="34" charset="-120"/>
            </a:endParaRPr>
          </a:p>
          <a:p>
            <a:endParaRPr lang="en-US" sz="1200" dirty="0">
              <a:solidFill>
                <a:srgbClr val="2D3248"/>
              </a:solidFill>
              <a:latin typeface="Calibri" pitchFamily="34" charset="0"/>
              <a:cs typeface="Calibri" pitchFamily="34" charset="-120"/>
            </a:endParaRPr>
          </a:p>
          <a:p>
            <a:pPr marL="0" indent="0">
              <a:buNone/>
            </a:pPr>
            <a:endParaRPr lang="en-US" sz="1100" dirty="0"/>
          </a:p>
        </p:txBody>
      </p:sp>
      <p:sp>
        <p:nvSpPr>
          <p:cNvPr id="3" name="TextBox 2">
            <a:extLst>
              <a:ext uri="{FF2B5EF4-FFF2-40B4-BE49-F238E27FC236}">
                <a16:creationId xmlns:a16="http://schemas.microsoft.com/office/drawing/2014/main" id="{02937572-5B94-3ACC-FE20-1E0573D90879}"/>
              </a:ext>
            </a:extLst>
          </p:cNvPr>
          <p:cNvSpPr txBox="1"/>
          <p:nvPr/>
        </p:nvSpPr>
        <p:spPr>
          <a:xfrm>
            <a:off x="368300" y="1136650"/>
            <a:ext cx="8242300" cy="3693319"/>
          </a:xfrm>
          <a:prstGeom prst="rect">
            <a:avLst/>
          </a:prstGeom>
          <a:noFill/>
        </p:spPr>
        <p:txBody>
          <a:bodyPr wrap="square" rtlCol="0">
            <a:spAutoFit/>
          </a:bodyPr>
          <a:lstStyle/>
          <a:p>
            <a:r>
              <a:rPr lang="en-US" sz="1200" dirty="0">
                <a:solidFill>
                  <a:srgbClr val="ED0000"/>
                </a:solidFill>
              </a:rPr>
              <a:t>The data used must allow the model to pick up both idiosyncratic and general market risk. </a:t>
            </a:r>
            <a:r>
              <a:rPr lang="en-US" sz="1200" dirty="0"/>
              <a:t>The data must allow both components of market risk to be captured in any market risk model used to determine capital requirements. </a:t>
            </a:r>
            <a:r>
              <a:rPr lang="en-US" sz="1200" dirty="0">
                <a:solidFill>
                  <a:srgbClr val="ED0000"/>
                </a:solidFill>
              </a:rPr>
              <a:t>If the data used in the model do not reflect either idiosyncratic or general market risk, the institution must apply an NMRF charge for those aspects that are not adequately captured in its model.</a:t>
            </a:r>
          </a:p>
          <a:p>
            <a:endParaRPr lang="en-US" sz="1200" dirty="0">
              <a:solidFill>
                <a:srgbClr val="2D3248"/>
              </a:solidFill>
              <a:cs typeface="Calibri" pitchFamily="34" charset="-120"/>
            </a:endParaRPr>
          </a:p>
          <a:p>
            <a:endParaRPr lang="en-US" sz="1200" dirty="0">
              <a:solidFill>
                <a:srgbClr val="2D3248"/>
              </a:solidFill>
              <a:cs typeface="Calibri" pitchFamily="34" charset="-120"/>
            </a:endParaRPr>
          </a:p>
          <a:p>
            <a:r>
              <a:rPr lang="en-US" sz="1200" b="1" dirty="0"/>
              <a:t>Principle three</a:t>
            </a:r>
            <a:r>
              <a:rPr lang="en-US" sz="1200" dirty="0"/>
              <a:t>. The data used must allow the model to reflect volatility and correlation of the risk </a:t>
            </a:r>
            <a:r>
              <a:rPr lang="en-US" sz="1200" dirty="0">
                <a:solidFill>
                  <a:srgbClr val="ED0000"/>
                </a:solidFill>
              </a:rPr>
              <a:t>positions. Institutions must ensure that they do not understate the volatility of an asse</a:t>
            </a:r>
            <a:r>
              <a:rPr lang="en-US" sz="1200" dirty="0"/>
              <a:t>t (e.g. by using inappropriate averaging of data or proxies). Further, institutions must ensure </a:t>
            </a:r>
            <a:r>
              <a:rPr lang="en-US" sz="1200" dirty="0">
                <a:solidFill>
                  <a:srgbClr val="ED0000"/>
                </a:solidFill>
              </a:rPr>
              <a:t>that they accurately reflect the correlation of asset prices</a:t>
            </a:r>
            <a:r>
              <a:rPr lang="en-US" sz="1200" dirty="0"/>
              <a:t>, rates across yield curves and/or volatilities within volatility surfaces. </a:t>
            </a:r>
            <a:r>
              <a:rPr lang="en-US" sz="1200" dirty="0">
                <a:solidFill>
                  <a:srgbClr val="ED0000"/>
                </a:solidFill>
              </a:rPr>
              <a:t>Different data sources can provide dramatically different volatility and correlation estimates </a:t>
            </a:r>
            <a:r>
              <a:rPr lang="en-US" sz="1200" dirty="0"/>
              <a:t>for asset prices. The institution should choose data sources so as to ensure that (</a:t>
            </a:r>
            <a:r>
              <a:rPr lang="en-US" sz="1200" dirty="0" err="1"/>
              <a:t>i</a:t>
            </a:r>
            <a:r>
              <a:rPr lang="en-US" sz="1200" dirty="0"/>
              <a:t>) the data are representative of real price observations; (ii) price volatility is not understated by the choice of data; and (iii) correlations are reasonable approximations of correlations among real price observations. Furthermore, any transformations must not understate the volatility arising from risk factors and must accurately reflect the correlations arising from risk factors used in the institution's ES model.</a:t>
            </a:r>
            <a:endParaRPr lang="en-US" sz="1200" b="1" dirty="0"/>
          </a:p>
          <a:p>
            <a:endParaRPr lang="en-US" dirty="0"/>
          </a:p>
          <a:p>
            <a:r>
              <a:rPr lang="en-US" sz="1200" dirty="0">
                <a:solidFill>
                  <a:srgbClr val="ED0000"/>
                </a:solidFill>
              </a:rPr>
              <a:t>parametric function to represent a curve/surface and defines </a:t>
            </a:r>
            <a:r>
              <a:rPr lang="en-US" sz="1200" dirty="0"/>
              <a:t>the function's parameters as the risk factors in its risk measurement system, the RFET must be passed at the level of the market data used to calibrate the function's parameters and not be passed directly at the level of these risk factor parameters (due to the fact that real price observations may not exist that are directly representative of these risk factors</a:t>
            </a:r>
          </a:p>
        </p:txBody>
      </p:sp>
      <p:sp>
        <p:nvSpPr>
          <p:cNvPr id="5" name="TextBox 4">
            <a:extLst>
              <a:ext uri="{FF2B5EF4-FFF2-40B4-BE49-F238E27FC236}">
                <a16:creationId xmlns:a16="http://schemas.microsoft.com/office/drawing/2014/main" id="{EFF22406-58D3-1B15-9D0A-85631DE1B3EB}"/>
              </a:ext>
            </a:extLst>
          </p:cNvPr>
          <p:cNvSpPr txBox="1"/>
          <p:nvPr/>
        </p:nvSpPr>
        <p:spPr>
          <a:xfrm>
            <a:off x="933450" y="229285"/>
            <a:ext cx="6527800" cy="369332"/>
          </a:xfrm>
          <a:prstGeom prst="rect">
            <a:avLst/>
          </a:prstGeom>
          <a:noFill/>
        </p:spPr>
        <p:txBody>
          <a:bodyPr wrap="square">
            <a:spAutoFit/>
          </a:bodyPr>
          <a:lstStyle/>
          <a:p>
            <a:pPr marL="0" indent="0">
              <a:buNone/>
            </a:pPr>
            <a:r>
              <a:rPr lang="en-US" sz="1800" b="1" dirty="0">
                <a:solidFill>
                  <a:srgbClr val="1E2761"/>
                </a:solidFill>
                <a:latin typeface="Georgia" pitchFamily="34" charset="0"/>
                <a:ea typeface="Georgia" pitchFamily="34" charset="-122"/>
                <a:cs typeface="Georgia" pitchFamily="34" charset="-120"/>
              </a:rPr>
              <a:t>Why current Credit, </a:t>
            </a:r>
            <a:r>
              <a:rPr lang="en-US" sz="1800" b="1" dirty="0" err="1">
                <a:solidFill>
                  <a:srgbClr val="1E2761"/>
                </a:solidFill>
                <a:latin typeface="Georgia" pitchFamily="34" charset="0"/>
                <a:ea typeface="Georgia" pitchFamily="34" charset="-122"/>
                <a:cs typeface="Georgia" pitchFamily="34" charset="-120"/>
              </a:rPr>
              <a:t>BasisFX</a:t>
            </a:r>
            <a:r>
              <a:rPr lang="en-US" b="1" dirty="0">
                <a:solidFill>
                  <a:srgbClr val="1E2761"/>
                </a:solidFill>
                <a:latin typeface="Georgia" pitchFamily="34" charset="0"/>
                <a:ea typeface="Georgia" pitchFamily="34" charset="-122"/>
                <a:cs typeface="Georgia" pitchFamily="34" charset="-120"/>
              </a:rPr>
              <a:t>, FX_VOL might not pass </a:t>
            </a:r>
            <a:endParaRPr lang="en-US" sz="1800" dirty="0"/>
          </a:p>
        </p:txBody>
      </p:sp>
    </p:spTree>
    <p:extLst>
      <p:ext uri="{BB962C8B-B14F-4D97-AF65-F5344CB8AC3E}">
        <p14:creationId xmlns:p14="http://schemas.microsoft.com/office/powerpoint/2010/main" val="38070444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228600"/>
            <a:ext cx="7680960" cy="777240"/>
          </a:xfrm>
          <a:prstGeom prst="rect">
            <a:avLst/>
          </a:prstGeom>
          <a:noFill/>
          <a:ln/>
        </p:spPr>
        <p:txBody>
          <a:bodyPr wrap="square" lIns="0" tIns="0" rIns="0" bIns="0" rtlCol="0" anchor="ctr"/>
          <a:lstStyle/>
          <a:p>
            <a:pPr marL="0" indent="0">
              <a:buNone/>
            </a:pPr>
            <a:r>
              <a:rPr lang="en-US" sz="2200" b="1" dirty="0">
                <a:solidFill>
                  <a:srgbClr val="1E2761"/>
                </a:solidFill>
                <a:latin typeface="Georgia" pitchFamily="34" charset="0"/>
                <a:ea typeface="Georgia" pitchFamily="34" charset="-122"/>
                <a:cs typeface="Georgia" pitchFamily="34" charset="-120"/>
              </a:rPr>
              <a:t>Parametric   Vol Risk Factors  </a:t>
            </a:r>
            <a:endParaRPr lang="en-US" sz="2200" dirty="0"/>
          </a:p>
        </p:txBody>
      </p:sp>
      <p:sp>
        <p:nvSpPr>
          <p:cNvPr id="3" name="Shape 1"/>
          <p:cNvSpPr/>
          <p:nvPr/>
        </p:nvSpPr>
        <p:spPr>
          <a:xfrm>
            <a:off x="731520" y="1005840"/>
            <a:ext cx="7680960" cy="502920"/>
          </a:xfrm>
          <a:prstGeom prst="rect">
            <a:avLst/>
          </a:prstGeom>
          <a:solidFill>
            <a:srgbClr val="EEF0F8"/>
          </a:solidFill>
          <a:ln/>
        </p:spPr>
      </p:sp>
      <p:sp>
        <p:nvSpPr>
          <p:cNvPr id="4" name="Text 2"/>
          <p:cNvSpPr/>
          <p:nvPr/>
        </p:nvSpPr>
        <p:spPr>
          <a:xfrm>
            <a:off x="914400" y="1005840"/>
            <a:ext cx="7315200" cy="50292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Core rule: If we represent a curve/surface using model parameters, RFET is tested on the market data used to calibrate the parameters, not directly on the parameters themselves.</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31520" y="1691640"/>
          <a:ext cx="7680960" cy="1965960"/>
        </p:xfrm>
        <a:graphic>
          <a:graphicData uri="http://schemas.openxmlformats.org/drawingml/2006/table">
            <a:tbl>
              <a:tblPr/>
              <a:tblGrid>
                <a:gridCol w="146304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320040">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Parameter</a:t>
                      </a:r>
                      <a:endParaRPr lang="en-US" sz="1000" dirty="0">
                        <a:latin typeface="Calibri" charset="0"/>
                        <a:ea typeface="Calibri" charset="0"/>
                        <a:cs typeface="Calibri" charset="0"/>
                      </a:endParaRPr>
                    </a:p>
                  </a:txBody>
                  <a:tcPr>
                    <a:lnL w="6350" cap="flat" cmpd="sng" algn="ctr">
                      <a:solidFill>
                        <a:srgbClr val="D0D5E0"/>
                      </a:solidFill>
                      <a:prstDash val="solid"/>
                      <a:round/>
                      <a:headEnd type="none" w="med" len="med"/>
                      <a:tailEnd type="none" w="med" len="med"/>
                    </a:lnL>
                    <a:lnR w="6350" cap="flat" cmpd="sng" algn="ctr">
                      <a:solidFill>
                        <a:srgbClr val="D0D5E0"/>
                      </a:solidFill>
                      <a:prstDash val="solid"/>
                      <a:round/>
                      <a:headEnd type="none" w="med" len="med"/>
                      <a:tailEnd type="none" w="med" len="med"/>
                    </a:lnR>
                    <a:lnT w="6350" cap="flat" cmpd="sng" algn="ctr">
                      <a:solidFill>
                        <a:srgbClr val="D0D5E0"/>
                      </a:solidFill>
                      <a:prstDash val="solid"/>
                      <a:round/>
                      <a:headEnd type="none" w="med" len="med"/>
                      <a:tailEnd type="none" w="med" len="med"/>
                    </a:lnT>
                    <a:lnB w="6350" cap="flat" cmpd="sng" algn="ctr">
                      <a:solidFill>
                        <a:srgbClr val="D0D5E0"/>
                      </a:solidFill>
                      <a:prstDash val="solid"/>
                      <a:round/>
                      <a:headEnd type="none" w="med" len="med"/>
                      <a:tailEnd type="none" w="med" len="med"/>
                    </a:lnB>
                    <a:solidFill>
                      <a:srgbClr val="1E2761"/>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What It Represents</a:t>
                      </a:r>
                      <a:endParaRPr lang="en-US" sz="1000" dirty="0">
                        <a:latin typeface="Calibri" charset="0"/>
                        <a:ea typeface="Calibri" charset="0"/>
                        <a:cs typeface="Calibri" charset="0"/>
                      </a:endParaRPr>
                    </a:p>
                  </a:txBody>
                  <a:tcPr>
                    <a:lnL w="6350" cap="flat" cmpd="sng" algn="ctr">
                      <a:solidFill>
                        <a:srgbClr val="D0D5E0"/>
                      </a:solidFill>
                      <a:prstDash val="solid"/>
                      <a:round/>
                      <a:headEnd type="none" w="med" len="med"/>
                      <a:tailEnd type="none" w="med" len="med"/>
                    </a:lnL>
                    <a:lnR w="6350" cap="flat" cmpd="sng" algn="ctr">
                      <a:solidFill>
                        <a:srgbClr val="D0D5E0"/>
                      </a:solidFill>
                      <a:prstDash val="solid"/>
                      <a:round/>
                      <a:headEnd type="none" w="med" len="med"/>
                      <a:tailEnd type="none" w="med" len="med"/>
                    </a:lnR>
                    <a:lnT w="6350" cap="flat" cmpd="sng" algn="ctr">
                      <a:solidFill>
                        <a:srgbClr val="D0D5E0"/>
                      </a:solidFill>
                      <a:prstDash val="solid"/>
                      <a:round/>
                      <a:headEnd type="none" w="med" len="med"/>
                      <a:tailEnd type="none" w="med" len="med"/>
                    </a:lnT>
                    <a:lnB w="6350" cap="flat" cmpd="sng" algn="ctr">
                      <a:solidFill>
                        <a:srgbClr val="D0D5E0"/>
                      </a:solidFill>
                      <a:prstDash val="solid"/>
                      <a:round/>
                      <a:headEnd type="none" w="med" len="med"/>
                      <a:tailEnd type="none" w="med" len="med"/>
                    </a:lnB>
                    <a:solidFill>
                      <a:srgbClr val="1E2761"/>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RFET View</a:t>
                      </a:r>
                      <a:endParaRPr lang="en-US" sz="1000" dirty="0">
                        <a:latin typeface="Calibri" charset="0"/>
                        <a:ea typeface="Calibri" charset="0"/>
                        <a:cs typeface="Calibri" charset="0"/>
                      </a:endParaRPr>
                    </a:p>
                  </a:txBody>
                  <a:tcPr>
                    <a:lnL w="6350" cap="flat" cmpd="sng" algn="ctr">
                      <a:solidFill>
                        <a:srgbClr val="D0D5E0"/>
                      </a:solidFill>
                      <a:prstDash val="solid"/>
                      <a:round/>
                      <a:headEnd type="none" w="med" len="med"/>
                      <a:tailEnd type="none" w="med" len="med"/>
                    </a:lnL>
                    <a:lnR w="6350" cap="flat" cmpd="sng" algn="ctr">
                      <a:solidFill>
                        <a:srgbClr val="D0D5E0"/>
                      </a:solidFill>
                      <a:prstDash val="solid"/>
                      <a:round/>
                      <a:headEnd type="none" w="med" len="med"/>
                      <a:tailEnd type="none" w="med" len="med"/>
                    </a:lnR>
                    <a:lnT w="6350" cap="flat" cmpd="sng" algn="ctr">
                      <a:solidFill>
                        <a:srgbClr val="D0D5E0"/>
                      </a:solidFill>
                      <a:prstDash val="solid"/>
                      <a:round/>
                      <a:headEnd type="none" w="med" len="med"/>
                      <a:tailEnd type="none" w="med" len="med"/>
                    </a:lnT>
                    <a:lnB w="6350" cap="flat" cmpd="sng" algn="ctr">
                      <a:solidFill>
                        <a:srgbClr val="D0D5E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11480">
                <a:tc>
                  <a:txBody>
                    <a:bodyPr/>
                    <a:lstStyle/>
                    <a:p>
                      <a:pPr marL="0" indent="0">
                        <a:buNone/>
                      </a:pPr>
                      <a:r>
                        <a:rPr lang="en-US" sz="950" b="1" dirty="0">
                          <a:solidFill>
                            <a:srgbClr val="1A1A2E"/>
                          </a:solidFill>
                          <a:latin typeface="Calibri" pitchFamily="34" charset="0"/>
                          <a:ea typeface="Calibri" pitchFamily="34" charset="-122"/>
                          <a:cs typeface="Calibri" pitchFamily="34" charset="-120"/>
                        </a:rPr>
                        <a:t>Alpha</a:t>
                      </a:r>
                      <a:endParaRPr lang="en-US" sz="950" dirty="0">
                        <a:latin typeface="Calibri" charset="0"/>
                        <a:ea typeface="Calibri" charset="0"/>
                        <a:cs typeface="Calibri" charset="0"/>
                      </a:endParaRPr>
                    </a:p>
                  </a:txBody>
                  <a:tcPr>
                    <a:lnL w="6350" cap="flat" cmpd="sng" algn="ctr">
                      <a:solidFill>
                        <a:srgbClr val="D0D5E0"/>
                      </a:solidFill>
                      <a:prstDash val="solid"/>
                      <a:round/>
                      <a:headEnd type="none" w="med" len="med"/>
                      <a:tailEnd type="none" w="med" len="med"/>
                    </a:lnL>
                    <a:lnR w="6350" cap="flat" cmpd="sng" algn="ctr">
                      <a:solidFill>
                        <a:srgbClr val="D0D5E0"/>
                      </a:solidFill>
                      <a:prstDash val="solid"/>
                      <a:round/>
                      <a:headEnd type="none" w="med" len="med"/>
                      <a:tailEnd type="none" w="med" len="med"/>
                    </a:lnR>
                    <a:lnT w="6350" cap="flat" cmpd="sng" algn="ctr">
                      <a:solidFill>
                        <a:srgbClr val="D0D5E0"/>
                      </a:solidFill>
                      <a:prstDash val="solid"/>
                      <a:round/>
                      <a:headEnd type="none" w="med" len="med"/>
                      <a:tailEnd type="none" w="med" len="med"/>
                    </a:lnT>
                    <a:lnB w="6350" cap="flat" cmpd="sng" algn="ctr">
                      <a:solidFill>
                        <a:srgbClr val="D0D5E0"/>
                      </a:solidFill>
                      <a:prstDash val="solid"/>
                      <a:round/>
                      <a:headEnd type="none" w="med" len="med"/>
                      <a:tailEnd type="none" w="med" len="med"/>
                    </a:lnB>
                    <a:solidFill>
                      <a:srgbClr val="FFFFFF"/>
                    </a:solidFill>
                  </a:tcPr>
                </a:tc>
                <a:tc>
                  <a:txBody>
                    <a:bodyPr/>
                    <a:lstStyle/>
                    <a:p>
                      <a:pPr marL="0" indent="0">
                        <a:buNone/>
                      </a:pPr>
                      <a:r>
                        <a:rPr lang="en-US" sz="950" dirty="0">
                          <a:solidFill>
                            <a:srgbClr val="1A1A2E"/>
                          </a:solidFill>
                          <a:latin typeface="Calibri" pitchFamily="34" charset="0"/>
                          <a:ea typeface="Calibri" pitchFamily="34" charset="-122"/>
                          <a:cs typeface="Calibri" pitchFamily="34" charset="-120"/>
                        </a:rPr>
                        <a:t>ATM / level of volatility</a:t>
                      </a:r>
                      <a:endParaRPr lang="en-US" sz="950" dirty="0">
                        <a:latin typeface="Calibri" charset="0"/>
                        <a:ea typeface="Calibri" charset="0"/>
                        <a:cs typeface="Calibri" charset="0"/>
                      </a:endParaRPr>
                    </a:p>
                  </a:txBody>
                  <a:tcPr>
                    <a:lnL w="6350" cap="flat" cmpd="sng" algn="ctr">
                      <a:solidFill>
                        <a:srgbClr val="D0D5E0"/>
                      </a:solidFill>
                      <a:prstDash val="solid"/>
                      <a:round/>
                      <a:headEnd type="none" w="med" len="med"/>
                      <a:tailEnd type="none" w="med" len="med"/>
                    </a:lnL>
                    <a:lnR w="6350" cap="flat" cmpd="sng" algn="ctr">
                      <a:solidFill>
                        <a:srgbClr val="D0D5E0"/>
                      </a:solidFill>
                      <a:prstDash val="solid"/>
                      <a:round/>
                      <a:headEnd type="none" w="med" len="med"/>
                      <a:tailEnd type="none" w="med" len="med"/>
                    </a:lnR>
                    <a:lnT w="6350" cap="flat" cmpd="sng" algn="ctr">
                      <a:solidFill>
                        <a:srgbClr val="D0D5E0"/>
                      </a:solidFill>
                      <a:prstDash val="solid"/>
                      <a:round/>
                      <a:headEnd type="none" w="med" len="med"/>
                      <a:tailEnd type="none" w="med" len="med"/>
                    </a:lnT>
                    <a:lnB w="6350" cap="flat" cmpd="sng" algn="ctr">
                      <a:solidFill>
                        <a:srgbClr val="D0D5E0"/>
                      </a:solidFill>
                      <a:prstDash val="solid"/>
                      <a:round/>
                      <a:headEnd type="none" w="med" len="med"/>
                      <a:tailEnd type="none" w="med" len="med"/>
                    </a:lnB>
                    <a:solidFill>
                      <a:srgbClr val="FFFFFF"/>
                    </a:solidFill>
                  </a:tcPr>
                </a:tc>
                <a:tc>
                  <a:txBody>
                    <a:bodyPr/>
                    <a:lstStyle/>
                    <a:p>
                      <a:pPr marL="0" indent="0">
                        <a:buNone/>
                      </a:pPr>
                      <a:r>
                        <a:rPr lang="en-US" sz="950" dirty="0">
                          <a:solidFill>
                            <a:srgbClr val="1A1A2E"/>
                          </a:solidFill>
                          <a:latin typeface="Calibri" pitchFamily="34" charset="0"/>
                          <a:ea typeface="Calibri" pitchFamily="34" charset="-122"/>
                          <a:cs typeface="Calibri" pitchFamily="34" charset="-120"/>
                        </a:rPr>
                        <a:t>Should be supported by ATM option quotes/trades</a:t>
                      </a:r>
                      <a:endParaRPr lang="en-US" sz="950" dirty="0">
                        <a:latin typeface="Calibri" charset="0"/>
                        <a:ea typeface="Calibri" charset="0"/>
                        <a:cs typeface="Calibri" charset="0"/>
                      </a:endParaRPr>
                    </a:p>
                  </a:txBody>
                  <a:tcPr>
                    <a:lnL w="6350" cap="flat" cmpd="sng" algn="ctr">
                      <a:solidFill>
                        <a:srgbClr val="D0D5E0"/>
                      </a:solidFill>
                      <a:prstDash val="solid"/>
                      <a:round/>
                      <a:headEnd type="none" w="med" len="med"/>
                      <a:tailEnd type="none" w="med" len="med"/>
                    </a:lnL>
                    <a:lnR w="6350" cap="flat" cmpd="sng" algn="ctr">
                      <a:solidFill>
                        <a:srgbClr val="D0D5E0"/>
                      </a:solidFill>
                      <a:prstDash val="solid"/>
                      <a:round/>
                      <a:headEnd type="none" w="med" len="med"/>
                      <a:tailEnd type="none" w="med" len="med"/>
                    </a:lnR>
                    <a:lnT w="6350" cap="flat" cmpd="sng" algn="ctr">
                      <a:solidFill>
                        <a:srgbClr val="D0D5E0"/>
                      </a:solidFill>
                      <a:prstDash val="solid"/>
                      <a:round/>
                      <a:headEnd type="none" w="med" len="med"/>
                      <a:tailEnd type="none" w="med" len="med"/>
                    </a:lnT>
                    <a:lnB w="6350" cap="flat" cmpd="sng" algn="ctr">
                      <a:solidFill>
                        <a:srgbClr val="D0D5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buNone/>
                      </a:pPr>
                      <a:r>
                        <a:rPr lang="en-US" sz="950" b="1" dirty="0">
                          <a:solidFill>
                            <a:srgbClr val="1A1A2E"/>
                          </a:solidFill>
                          <a:latin typeface="Calibri" pitchFamily="34" charset="0"/>
                          <a:ea typeface="Calibri" pitchFamily="34" charset="-122"/>
                          <a:cs typeface="Calibri" pitchFamily="34" charset="-120"/>
                        </a:rPr>
                        <a:t>Rho</a:t>
                      </a:r>
                      <a:endParaRPr lang="en-US" sz="950" dirty="0">
                        <a:latin typeface="Calibri" charset="0"/>
                        <a:ea typeface="Calibri" charset="0"/>
                        <a:cs typeface="Calibri" charset="0"/>
                      </a:endParaRPr>
                    </a:p>
                  </a:txBody>
                  <a:tcPr>
                    <a:lnL w="6350" cap="flat" cmpd="sng" algn="ctr">
                      <a:solidFill>
                        <a:srgbClr val="D0D5E0"/>
                      </a:solidFill>
                      <a:prstDash val="solid"/>
                      <a:round/>
                      <a:headEnd type="none" w="med" len="med"/>
                      <a:tailEnd type="none" w="med" len="med"/>
                    </a:lnL>
                    <a:lnR w="6350" cap="flat" cmpd="sng" algn="ctr">
                      <a:solidFill>
                        <a:srgbClr val="D0D5E0"/>
                      </a:solidFill>
                      <a:prstDash val="solid"/>
                      <a:round/>
                      <a:headEnd type="none" w="med" len="med"/>
                      <a:tailEnd type="none" w="med" len="med"/>
                    </a:lnR>
                    <a:lnT w="6350" cap="flat" cmpd="sng" algn="ctr">
                      <a:solidFill>
                        <a:srgbClr val="D0D5E0"/>
                      </a:solidFill>
                      <a:prstDash val="solid"/>
                      <a:round/>
                      <a:headEnd type="none" w="med" len="med"/>
                      <a:tailEnd type="none" w="med" len="med"/>
                    </a:lnT>
                    <a:lnB w="6350" cap="flat" cmpd="sng" algn="ctr">
                      <a:solidFill>
                        <a:srgbClr val="D0D5E0"/>
                      </a:solidFill>
                      <a:prstDash val="solid"/>
                      <a:round/>
                      <a:headEnd type="none" w="med" len="med"/>
                      <a:tailEnd type="none" w="med" len="med"/>
                    </a:lnB>
                    <a:solidFill>
                      <a:srgbClr val="F0F2F8"/>
                    </a:solidFill>
                  </a:tcPr>
                </a:tc>
                <a:tc>
                  <a:txBody>
                    <a:bodyPr/>
                    <a:lstStyle/>
                    <a:p>
                      <a:pPr marL="0" indent="0">
                        <a:buNone/>
                      </a:pPr>
                      <a:r>
                        <a:rPr lang="en-US" sz="950" dirty="0">
                          <a:solidFill>
                            <a:srgbClr val="1A1A2E"/>
                          </a:solidFill>
                          <a:latin typeface="Calibri" pitchFamily="34" charset="0"/>
                          <a:ea typeface="Calibri" pitchFamily="34" charset="-122"/>
                          <a:cs typeface="Calibri" pitchFamily="34" charset="-120"/>
                        </a:rPr>
                        <a:t>Skew / correlation between underlying and vol</a:t>
                      </a:r>
                      <a:endParaRPr lang="en-US" sz="950" dirty="0">
                        <a:latin typeface="Calibri" charset="0"/>
                        <a:ea typeface="Calibri" charset="0"/>
                        <a:cs typeface="Calibri" charset="0"/>
                      </a:endParaRPr>
                    </a:p>
                  </a:txBody>
                  <a:tcPr>
                    <a:lnL w="6350" cap="flat" cmpd="sng" algn="ctr">
                      <a:solidFill>
                        <a:srgbClr val="D0D5E0"/>
                      </a:solidFill>
                      <a:prstDash val="solid"/>
                      <a:round/>
                      <a:headEnd type="none" w="med" len="med"/>
                      <a:tailEnd type="none" w="med" len="med"/>
                    </a:lnL>
                    <a:lnR w="6350" cap="flat" cmpd="sng" algn="ctr">
                      <a:solidFill>
                        <a:srgbClr val="D0D5E0"/>
                      </a:solidFill>
                      <a:prstDash val="solid"/>
                      <a:round/>
                      <a:headEnd type="none" w="med" len="med"/>
                      <a:tailEnd type="none" w="med" len="med"/>
                    </a:lnR>
                    <a:lnT w="6350" cap="flat" cmpd="sng" algn="ctr">
                      <a:solidFill>
                        <a:srgbClr val="D0D5E0"/>
                      </a:solidFill>
                      <a:prstDash val="solid"/>
                      <a:round/>
                      <a:headEnd type="none" w="med" len="med"/>
                      <a:tailEnd type="none" w="med" len="med"/>
                    </a:lnT>
                    <a:lnB w="6350" cap="flat" cmpd="sng" algn="ctr">
                      <a:solidFill>
                        <a:srgbClr val="D0D5E0"/>
                      </a:solidFill>
                      <a:prstDash val="solid"/>
                      <a:round/>
                      <a:headEnd type="none" w="med" len="med"/>
                      <a:tailEnd type="none" w="med" len="med"/>
                    </a:lnB>
                    <a:solidFill>
                      <a:srgbClr val="F0F2F8"/>
                    </a:solidFill>
                  </a:tcPr>
                </a:tc>
                <a:tc>
                  <a:txBody>
                    <a:bodyPr/>
                    <a:lstStyle/>
                    <a:p>
                      <a:pPr marL="0" indent="0">
                        <a:buNone/>
                      </a:pPr>
                      <a:r>
                        <a:rPr lang="en-US" sz="950" dirty="0">
                          <a:solidFill>
                            <a:srgbClr val="1A1A2E"/>
                          </a:solidFill>
                          <a:latin typeface="Calibri" pitchFamily="34" charset="0"/>
                          <a:ea typeface="Calibri" pitchFamily="34" charset="-122"/>
                          <a:cs typeface="Calibri" pitchFamily="34" charset="-120"/>
                        </a:rPr>
                        <a:t>Should be supported by OTM strikes / delta points</a:t>
                      </a:r>
                      <a:endParaRPr lang="en-US" sz="950" dirty="0">
                        <a:latin typeface="Calibri" charset="0"/>
                        <a:ea typeface="Calibri" charset="0"/>
                        <a:cs typeface="Calibri" charset="0"/>
                      </a:endParaRPr>
                    </a:p>
                  </a:txBody>
                  <a:tcPr>
                    <a:lnL w="6350" cap="flat" cmpd="sng" algn="ctr">
                      <a:solidFill>
                        <a:srgbClr val="D0D5E0"/>
                      </a:solidFill>
                      <a:prstDash val="solid"/>
                      <a:round/>
                      <a:headEnd type="none" w="med" len="med"/>
                      <a:tailEnd type="none" w="med" len="med"/>
                    </a:lnL>
                    <a:lnR w="6350" cap="flat" cmpd="sng" algn="ctr">
                      <a:solidFill>
                        <a:srgbClr val="D0D5E0"/>
                      </a:solidFill>
                      <a:prstDash val="solid"/>
                      <a:round/>
                      <a:headEnd type="none" w="med" len="med"/>
                      <a:tailEnd type="none" w="med" len="med"/>
                    </a:lnR>
                    <a:lnT w="6350" cap="flat" cmpd="sng" algn="ctr">
                      <a:solidFill>
                        <a:srgbClr val="D0D5E0"/>
                      </a:solidFill>
                      <a:prstDash val="solid"/>
                      <a:round/>
                      <a:headEnd type="none" w="med" len="med"/>
                      <a:tailEnd type="none" w="med" len="med"/>
                    </a:lnT>
                    <a:lnB w="6350" cap="flat" cmpd="sng" algn="ctr">
                      <a:solidFill>
                        <a:srgbClr val="D0D5E0"/>
                      </a:solidFill>
                      <a:prstDash val="solid"/>
                      <a:round/>
                      <a:headEnd type="none" w="med" len="med"/>
                      <a:tailEnd type="none" w="med" len="med"/>
                    </a:lnB>
                    <a:solidFill>
                      <a:srgbClr val="F0F2F8"/>
                    </a:solidFill>
                  </a:tcPr>
                </a:tc>
                <a:extLst>
                  <a:ext uri="{0D108BD9-81ED-4DB2-BD59-A6C34878D82A}">
                    <a16:rowId xmlns:a16="http://schemas.microsoft.com/office/drawing/2014/main" val="10002"/>
                  </a:ext>
                </a:extLst>
              </a:tr>
              <a:tr h="411480">
                <a:tc>
                  <a:txBody>
                    <a:bodyPr/>
                    <a:lstStyle/>
                    <a:p>
                      <a:pPr marL="0" indent="0">
                        <a:buNone/>
                      </a:pPr>
                      <a:r>
                        <a:rPr lang="en-US" sz="950" b="1" dirty="0">
                          <a:solidFill>
                            <a:srgbClr val="1A1A2E"/>
                          </a:solidFill>
                          <a:latin typeface="Calibri" pitchFamily="34" charset="0"/>
                          <a:ea typeface="Calibri" pitchFamily="34" charset="-122"/>
                          <a:cs typeface="Calibri" pitchFamily="34" charset="-120"/>
                        </a:rPr>
                        <a:t>Nu</a:t>
                      </a:r>
                      <a:endParaRPr lang="en-US" sz="950" dirty="0">
                        <a:latin typeface="Calibri" charset="0"/>
                        <a:ea typeface="Calibri" charset="0"/>
                        <a:cs typeface="Calibri" charset="0"/>
                      </a:endParaRPr>
                    </a:p>
                  </a:txBody>
                  <a:tcPr>
                    <a:lnL w="6350" cap="flat" cmpd="sng" algn="ctr">
                      <a:solidFill>
                        <a:srgbClr val="D0D5E0"/>
                      </a:solidFill>
                      <a:prstDash val="solid"/>
                      <a:round/>
                      <a:headEnd type="none" w="med" len="med"/>
                      <a:tailEnd type="none" w="med" len="med"/>
                    </a:lnL>
                    <a:lnR w="6350" cap="flat" cmpd="sng" algn="ctr">
                      <a:solidFill>
                        <a:srgbClr val="D0D5E0"/>
                      </a:solidFill>
                      <a:prstDash val="solid"/>
                      <a:round/>
                      <a:headEnd type="none" w="med" len="med"/>
                      <a:tailEnd type="none" w="med" len="med"/>
                    </a:lnR>
                    <a:lnT w="6350" cap="flat" cmpd="sng" algn="ctr">
                      <a:solidFill>
                        <a:srgbClr val="D0D5E0"/>
                      </a:solidFill>
                      <a:prstDash val="solid"/>
                      <a:round/>
                      <a:headEnd type="none" w="med" len="med"/>
                      <a:tailEnd type="none" w="med" len="med"/>
                    </a:lnT>
                    <a:lnB w="6350" cap="flat" cmpd="sng" algn="ctr">
                      <a:solidFill>
                        <a:srgbClr val="D0D5E0"/>
                      </a:solidFill>
                      <a:prstDash val="solid"/>
                      <a:round/>
                      <a:headEnd type="none" w="med" len="med"/>
                      <a:tailEnd type="none" w="med" len="med"/>
                    </a:lnB>
                    <a:solidFill>
                      <a:srgbClr val="FFFFFF"/>
                    </a:solidFill>
                  </a:tcPr>
                </a:tc>
                <a:tc>
                  <a:txBody>
                    <a:bodyPr/>
                    <a:lstStyle/>
                    <a:p>
                      <a:pPr marL="0" indent="0">
                        <a:buNone/>
                      </a:pPr>
                      <a:r>
                        <a:rPr lang="en-US" sz="950" dirty="0">
                          <a:solidFill>
                            <a:srgbClr val="1A1A2E"/>
                          </a:solidFill>
                          <a:latin typeface="Calibri" pitchFamily="34" charset="0"/>
                          <a:ea typeface="Calibri" pitchFamily="34" charset="-122"/>
                          <a:cs typeface="Calibri" pitchFamily="34" charset="-120"/>
                        </a:rPr>
                        <a:t>Vol-of-vol / smile curvature</a:t>
                      </a:r>
                      <a:endParaRPr lang="en-US" sz="950" dirty="0">
                        <a:latin typeface="Calibri" charset="0"/>
                        <a:ea typeface="Calibri" charset="0"/>
                        <a:cs typeface="Calibri" charset="0"/>
                      </a:endParaRPr>
                    </a:p>
                  </a:txBody>
                  <a:tcPr>
                    <a:lnL w="6350" cap="flat" cmpd="sng" algn="ctr">
                      <a:solidFill>
                        <a:srgbClr val="D0D5E0"/>
                      </a:solidFill>
                      <a:prstDash val="solid"/>
                      <a:round/>
                      <a:headEnd type="none" w="med" len="med"/>
                      <a:tailEnd type="none" w="med" len="med"/>
                    </a:lnL>
                    <a:lnR w="6350" cap="flat" cmpd="sng" algn="ctr">
                      <a:solidFill>
                        <a:srgbClr val="D0D5E0"/>
                      </a:solidFill>
                      <a:prstDash val="solid"/>
                      <a:round/>
                      <a:headEnd type="none" w="med" len="med"/>
                      <a:tailEnd type="none" w="med" len="med"/>
                    </a:lnR>
                    <a:lnT w="6350" cap="flat" cmpd="sng" algn="ctr">
                      <a:solidFill>
                        <a:srgbClr val="D0D5E0"/>
                      </a:solidFill>
                      <a:prstDash val="solid"/>
                      <a:round/>
                      <a:headEnd type="none" w="med" len="med"/>
                      <a:tailEnd type="none" w="med" len="med"/>
                    </a:lnT>
                    <a:lnB w="6350" cap="flat" cmpd="sng" algn="ctr">
                      <a:solidFill>
                        <a:srgbClr val="D0D5E0"/>
                      </a:solidFill>
                      <a:prstDash val="solid"/>
                      <a:round/>
                      <a:headEnd type="none" w="med" len="med"/>
                      <a:tailEnd type="none" w="med" len="med"/>
                    </a:lnB>
                    <a:solidFill>
                      <a:srgbClr val="FFFFFF"/>
                    </a:solidFill>
                  </a:tcPr>
                </a:tc>
                <a:tc>
                  <a:txBody>
                    <a:bodyPr/>
                    <a:lstStyle/>
                    <a:p>
                      <a:pPr marL="0" indent="0">
                        <a:buNone/>
                      </a:pPr>
                      <a:r>
                        <a:rPr lang="en-US" sz="950" dirty="0">
                          <a:solidFill>
                            <a:srgbClr val="1A1A2E"/>
                          </a:solidFill>
                          <a:latin typeface="Calibri" pitchFamily="34" charset="0"/>
                          <a:ea typeface="Calibri" pitchFamily="34" charset="-122"/>
                          <a:cs typeface="Calibri" pitchFamily="34" charset="-120"/>
                        </a:rPr>
                        <a:t>Should be supported by multiple OTM strikes across smile</a:t>
                      </a:r>
                      <a:endParaRPr lang="en-US" sz="950" dirty="0">
                        <a:latin typeface="Calibri" charset="0"/>
                        <a:ea typeface="Calibri" charset="0"/>
                        <a:cs typeface="Calibri" charset="0"/>
                      </a:endParaRPr>
                    </a:p>
                  </a:txBody>
                  <a:tcPr>
                    <a:lnL w="6350" cap="flat" cmpd="sng" algn="ctr">
                      <a:solidFill>
                        <a:srgbClr val="D0D5E0"/>
                      </a:solidFill>
                      <a:prstDash val="solid"/>
                      <a:round/>
                      <a:headEnd type="none" w="med" len="med"/>
                      <a:tailEnd type="none" w="med" len="med"/>
                    </a:lnL>
                    <a:lnR w="6350" cap="flat" cmpd="sng" algn="ctr">
                      <a:solidFill>
                        <a:srgbClr val="D0D5E0"/>
                      </a:solidFill>
                      <a:prstDash val="solid"/>
                      <a:round/>
                      <a:headEnd type="none" w="med" len="med"/>
                      <a:tailEnd type="none" w="med" len="med"/>
                    </a:lnR>
                    <a:lnT w="6350" cap="flat" cmpd="sng" algn="ctr">
                      <a:solidFill>
                        <a:srgbClr val="D0D5E0"/>
                      </a:solidFill>
                      <a:prstDash val="solid"/>
                      <a:round/>
                      <a:headEnd type="none" w="med" len="med"/>
                      <a:tailEnd type="none" w="med" len="med"/>
                    </a:lnT>
                    <a:lnB w="6350" cap="flat" cmpd="sng" algn="ctr">
                      <a:solidFill>
                        <a:srgbClr val="D0D5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buNone/>
                      </a:pPr>
                      <a:r>
                        <a:rPr lang="en-US" sz="950" b="1" dirty="0">
                          <a:solidFill>
                            <a:srgbClr val="1A1A2E"/>
                          </a:solidFill>
                          <a:latin typeface="Calibri" pitchFamily="34" charset="0"/>
                          <a:ea typeface="Calibri" pitchFamily="34" charset="-122"/>
                          <a:cs typeface="Calibri" pitchFamily="34" charset="-120"/>
                        </a:rPr>
                        <a:t>Beta</a:t>
                      </a:r>
                      <a:endParaRPr lang="en-US" sz="950" dirty="0">
                        <a:latin typeface="Calibri" charset="0"/>
                        <a:ea typeface="Calibri" charset="0"/>
                        <a:cs typeface="Calibri" charset="0"/>
                      </a:endParaRPr>
                    </a:p>
                  </a:txBody>
                  <a:tcPr>
                    <a:lnL w="6350" cap="flat" cmpd="sng" algn="ctr">
                      <a:solidFill>
                        <a:srgbClr val="D0D5E0"/>
                      </a:solidFill>
                      <a:prstDash val="solid"/>
                      <a:round/>
                      <a:headEnd type="none" w="med" len="med"/>
                      <a:tailEnd type="none" w="med" len="med"/>
                    </a:lnL>
                    <a:lnR w="6350" cap="flat" cmpd="sng" algn="ctr">
                      <a:solidFill>
                        <a:srgbClr val="D0D5E0"/>
                      </a:solidFill>
                      <a:prstDash val="solid"/>
                      <a:round/>
                      <a:headEnd type="none" w="med" len="med"/>
                      <a:tailEnd type="none" w="med" len="med"/>
                    </a:lnR>
                    <a:lnT w="6350" cap="flat" cmpd="sng" algn="ctr">
                      <a:solidFill>
                        <a:srgbClr val="D0D5E0"/>
                      </a:solidFill>
                      <a:prstDash val="solid"/>
                      <a:round/>
                      <a:headEnd type="none" w="med" len="med"/>
                      <a:tailEnd type="none" w="med" len="med"/>
                    </a:lnT>
                    <a:lnB w="6350" cap="flat" cmpd="sng" algn="ctr">
                      <a:solidFill>
                        <a:srgbClr val="D0D5E0"/>
                      </a:solidFill>
                      <a:prstDash val="solid"/>
                      <a:round/>
                      <a:headEnd type="none" w="med" len="med"/>
                      <a:tailEnd type="none" w="med" len="med"/>
                    </a:lnB>
                    <a:solidFill>
                      <a:srgbClr val="F0F2F8"/>
                    </a:solidFill>
                  </a:tcPr>
                </a:tc>
                <a:tc>
                  <a:txBody>
                    <a:bodyPr/>
                    <a:lstStyle/>
                    <a:p>
                      <a:pPr marL="0" indent="0">
                        <a:buNone/>
                      </a:pPr>
                      <a:r>
                        <a:rPr lang="en-US" sz="950" dirty="0">
                          <a:solidFill>
                            <a:srgbClr val="1A1A2E"/>
                          </a:solidFill>
                          <a:latin typeface="Calibri" pitchFamily="34" charset="0"/>
                          <a:ea typeface="Calibri" pitchFamily="34" charset="-122"/>
                          <a:cs typeface="Calibri" pitchFamily="34" charset="-120"/>
                        </a:rPr>
                        <a:t>Elasticity / model-shape assumption</a:t>
                      </a:r>
                      <a:endParaRPr lang="en-US" sz="950" dirty="0">
                        <a:latin typeface="Calibri" charset="0"/>
                        <a:ea typeface="Calibri" charset="0"/>
                        <a:cs typeface="Calibri" charset="0"/>
                      </a:endParaRPr>
                    </a:p>
                  </a:txBody>
                  <a:tcPr>
                    <a:lnL w="6350" cap="flat" cmpd="sng" algn="ctr">
                      <a:solidFill>
                        <a:srgbClr val="D0D5E0"/>
                      </a:solidFill>
                      <a:prstDash val="solid"/>
                      <a:round/>
                      <a:headEnd type="none" w="med" len="med"/>
                      <a:tailEnd type="none" w="med" len="med"/>
                    </a:lnL>
                    <a:lnR w="6350" cap="flat" cmpd="sng" algn="ctr">
                      <a:solidFill>
                        <a:srgbClr val="D0D5E0"/>
                      </a:solidFill>
                      <a:prstDash val="solid"/>
                      <a:round/>
                      <a:headEnd type="none" w="med" len="med"/>
                      <a:tailEnd type="none" w="med" len="med"/>
                    </a:lnR>
                    <a:lnT w="6350" cap="flat" cmpd="sng" algn="ctr">
                      <a:solidFill>
                        <a:srgbClr val="D0D5E0"/>
                      </a:solidFill>
                      <a:prstDash val="solid"/>
                      <a:round/>
                      <a:headEnd type="none" w="med" len="med"/>
                      <a:tailEnd type="none" w="med" len="med"/>
                    </a:lnT>
                    <a:lnB w="6350" cap="flat" cmpd="sng" algn="ctr">
                      <a:solidFill>
                        <a:srgbClr val="D0D5E0"/>
                      </a:solidFill>
                      <a:prstDash val="solid"/>
                      <a:round/>
                      <a:headEnd type="none" w="med" len="med"/>
                      <a:tailEnd type="none" w="med" len="med"/>
                    </a:lnB>
                    <a:solidFill>
                      <a:srgbClr val="F0F2F8"/>
                    </a:solidFill>
                  </a:tcPr>
                </a:tc>
                <a:tc>
                  <a:txBody>
                    <a:bodyPr/>
                    <a:lstStyle/>
                    <a:p>
                      <a:pPr marL="0" indent="0">
                        <a:buNone/>
                      </a:pPr>
                      <a:r>
                        <a:rPr lang="en-US" sz="950" dirty="0">
                          <a:solidFill>
                            <a:srgbClr val="1A1A2E"/>
                          </a:solidFill>
                          <a:latin typeface="Calibri" pitchFamily="34" charset="0"/>
                          <a:ea typeface="Calibri" pitchFamily="34" charset="-122"/>
                          <a:cs typeface="Calibri" pitchFamily="34" charset="-120"/>
                        </a:rPr>
                        <a:t>Usually a model parameter, not a directly observable market RF</a:t>
                      </a:r>
                      <a:endParaRPr lang="en-US" sz="950" dirty="0">
                        <a:latin typeface="Calibri" charset="0"/>
                        <a:ea typeface="Calibri" charset="0"/>
                        <a:cs typeface="Calibri" charset="0"/>
                      </a:endParaRPr>
                    </a:p>
                  </a:txBody>
                  <a:tcPr>
                    <a:lnL w="6350" cap="flat" cmpd="sng" algn="ctr">
                      <a:solidFill>
                        <a:srgbClr val="D0D5E0"/>
                      </a:solidFill>
                      <a:prstDash val="solid"/>
                      <a:round/>
                      <a:headEnd type="none" w="med" len="med"/>
                      <a:tailEnd type="none" w="med" len="med"/>
                    </a:lnL>
                    <a:lnR w="6350" cap="flat" cmpd="sng" algn="ctr">
                      <a:solidFill>
                        <a:srgbClr val="D0D5E0"/>
                      </a:solidFill>
                      <a:prstDash val="solid"/>
                      <a:round/>
                      <a:headEnd type="none" w="med" len="med"/>
                      <a:tailEnd type="none" w="med" len="med"/>
                    </a:lnR>
                    <a:lnT w="6350" cap="flat" cmpd="sng" algn="ctr">
                      <a:solidFill>
                        <a:srgbClr val="D0D5E0"/>
                      </a:solidFill>
                      <a:prstDash val="solid"/>
                      <a:round/>
                      <a:headEnd type="none" w="med" len="med"/>
                      <a:tailEnd type="none" w="med" len="med"/>
                    </a:lnT>
                    <a:lnB w="6350" cap="flat" cmpd="sng" algn="ctr">
                      <a:solidFill>
                        <a:srgbClr val="D0D5E0"/>
                      </a:solidFill>
                      <a:prstDash val="solid"/>
                      <a:round/>
                      <a:headEnd type="none" w="med" len="med"/>
                      <a:tailEnd type="none" w="med" len="med"/>
                    </a:lnB>
                    <a:solidFill>
                      <a:srgbClr val="F0F2F8"/>
                    </a:solidFill>
                  </a:tcPr>
                </a:tc>
                <a:extLst>
                  <a:ext uri="{0D108BD9-81ED-4DB2-BD59-A6C34878D82A}">
                    <a16:rowId xmlns:a16="http://schemas.microsoft.com/office/drawing/2014/main" val="10004"/>
                  </a:ext>
                </a:extLst>
              </a:tr>
            </a:tbl>
          </a:graphicData>
        </a:graphic>
      </p:graphicFrame>
      <p:sp>
        <p:nvSpPr>
          <p:cNvPr id="5" name="Shape 3"/>
          <p:cNvSpPr/>
          <p:nvPr/>
        </p:nvSpPr>
        <p:spPr>
          <a:xfrm>
            <a:off x="731520" y="3749040"/>
            <a:ext cx="7680960" cy="685800"/>
          </a:xfrm>
          <a:prstGeom prst="rect">
            <a:avLst/>
          </a:prstGeom>
          <a:solidFill>
            <a:srgbClr val="FEF3C7"/>
          </a:solidFill>
          <a:ln/>
        </p:spPr>
      </p:sp>
      <p:sp>
        <p:nvSpPr>
          <p:cNvPr id="7" name="Shape 4"/>
          <p:cNvSpPr/>
          <p:nvPr/>
        </p:nvSpPr>
        <p:spPr>
          <a:xfrm>
            <a:off x="731520" y="3749040"/>
            <a:ext cx="54864" cy="685800"/>
          </a:xfrm>
          <a:prstGeom prst="rect">
            <a:avLst/>
          </a:prstGeom>
          <a:solidFill>
            <a:srgbClr val="F59E0B"/>
          </a:solidFill>
          <a:ln/>
        </p:spPr>
      </p:sp>
      <p:sp>
        <p:nvSpPr>
          <p:cNvPr id="8" name="Text 5"/>
          <p:cNvSpPr/>
          <p:nvPr/>
        </p:nvSpPr>
        <p:spPr>
          <a:xfrm>
            <a:off x="1005840" y="3749040"/>
            <a:ext cx="7223760" cy="685800"/>
          </a:xfrm>
          <a:prstGeom prst="rect">
            <a:avLst/>
          </a:prstGeom>
          <a:noFill/>
          <a:ln/>
        </p:spPr>
        <p:txBody>
          <a:bodyPr wrap="square" lIns="0" tIns="0" rIns="0" bIns="0" rtlCol="0" anchor="ctr"/>
          <a:lstStyle/>
          <a:p>
            <a:pPr marL="0" indent="0">
              <a:buNone/>
            </a:pPr>
            <a:r>
              <a:rPr lang="en-US" sz="1100" b="1" dirty="0">
                <a:solidFill>
                  <a:srgbClr val="1A1A2E"/>
                </a:solidFill>
                <a:latin typeface="Calibri" pitchFamily="34" charset="0"/>
                <a:ea typeface="Calibri" pitchFamily="34" charset="-122"/>
                <a:cs typeface="Calibri" pitchFamily="34" charset="-120"/>
              </a:rPr>
              <a:t>Key question on Beta: </a:t>
            </a:r>
            <a:r>
              <a:rPr lang="en-US" sz="1050" dirty="0">
                <a:solidFill>
                  <a:srgbClr val="2D3248"/>
                </a:solidFill>
                <a:latin typeface="Calibri" pitchFamily="34" charset="0"/>
                <a:ea typeface="Calibri" pitchFamily="34" charset="-122"/>
                <a:cs typeface="Calibri" pitchFamily="34" charset="-120"/>
              </a:rPr>
              <a:t>Beta is not usually a "real" market-observed risk factor. Unless the our bank  can show beta is dynamically calibrated from eligible option RPOs and materially shockable,  can we treat It as a model parameter / calibration assumption, not a standalone RFET risk factor.? </a:t>
            </a:r>
            <a:endParaRPr lang="en-US" sz="1100" dirty="0"/>
          </a:p>
        </p:txBody>
      </p:sp>
      <p:sp>
        <p:nvSpPr>
          <p:cNvPr id="9" name="Shape 6"/>
          <p:cNvSpPr/>
          <p:nvPr/>
        </p:nvSpPr>
        <p:spPr>
          <a:xfrm>
            <a:off x="731520" y="4572000"/>
            <a:ext cx="7680960" cy="457200"/>
          </a:xfrm>
          <a:prstGeom prst="rect">
            <a:avLst/>
          </a:prstGeom>
          <a:solidFill>
            <a:srgbClr val="1E2761"/>
          </a:solidFill>
          <a:ln/>
        </p:spPr>
      </p:sp>
      <p:sp>
        <p:nvSpPr>
          <p:cNvPr id="10" name="Text 7"/>
          <p:cNvSpPr/>
          <p:nvPr/>
        </p:nvSpPr>
        <p:spPr>
          <a:xfrm>
            <a:off x="914400" y="4572000"/>
            <a:ext cx="7315200" cy="45720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For parametric vol, the RFET evidence should sit behind the option market data: ATM, OTM strikes, expiry, delta/moneyness — not just the stored SABR parameters.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TotalTime>
  <Words>1285</Words>
  <Application>Microsoft Office PowerPoint</Application>
  <PresentationFormat>On-screen Show (16:9)</PresentationFormat>
  <Paragraphs>105</Paragraphs>
  <Slides>7</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Georgia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RFET Under FRTB IMA</dc:title>
  <dc:subject>PptxGenJS Presentation</dc:subject>
  <dc:creator>RFET Team</dc:creator>
  <cp:lastModifiedBy>CHOUKRI ABDELILAH</cp:lastModifiedBy>
  <cp:revision>2</cp:revision>
  <dcterms:created xsi:type="dcterms:W3CDTF">2026-05-18T16:09:46Z</dcterms:created>
  <dcterms:modified xsi:type="dcterms:W3CDTF">2026-05-18T18:05:27Z</dcterms:modified>
</cp:coreProperties>
</file>