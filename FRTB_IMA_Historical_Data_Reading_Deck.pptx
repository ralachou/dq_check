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1371600"/>
            <a:ext cx="10058400" cy="274320"/>
          </a:xfrm>
          <a:prstGeom prst="rect">
            <a:avLst/>
          </a:prstGeom>
          <a:noFill/>
          <a:ln/>
        </p:spPr>
        <p:txBody>
          <a:bodyPr wrap="square" lIns="0" tIns="0" rIns="0" bIns="0" rtlCol="0" anchor="ctr"/>
          <a:lstStyle/>
          <a:p>
            <a:pPr indent="0" marL="0">
              <a:buNone/>
            </a:pPr>
            <a:r>
              <a:rPr lang="en-US" sz="1100" b="1" spc="300" kern="0" dirty="0">
                <a:solidFill>
                  <a:srgbClr val="9A7212"/>
                </a:solidFill>
                <a:latin typeface="Calibri" pitchFamily="34" charset="0"/>
                <a:ea typeface="Calibri" pitchFamily="34" charset="-122"/>
                <a:cs typeface="Calibri" pitchFamily="34" charset="-120"/>
              </a:rPr>
              <a:t>FRTB  ·  INTERNAL MODELS APPROACH  ·  READING DECK</a:t>
            </a:r>
            <a:endParaRPr lang="en-US" sz="1100" dirty="0"/>
          </a:p>
        </p:txBody>
      </p:sp>
      <p:sp>
        <p:nvSpPr>
          <p:cNvPr id="3" name="Text 1"/>
          <p:cNvSpPr/>
          <p:nvPr/>
        </p:nvSpPr>
        <p:spPr>
          <a:xfrm>
            <a:off x="731520" y="1783080"/>
            <a:ext cx="7863840" cy="1554480"/>
          </a:xfrm>
          <a:prstGeom prst="rect">
            <a:avLst/>
          </a:prstGeom>
          <a:noFill/>
          <a:ln/>
        </p:spPr>
        <p:txBody>
          <a:bodyPr wrap="square" lIns="0" tIns="0" rIns="0" bIns="0" rtlCol="0" anchor="ctr"/>
          <a:lstStyle/>
          <a:p>
            <a:pPr indent="0" marL="0">
              <a:lnSpc>
                <a:spcPts val="4600"/>
              </a:lnSpc>
              <a:buNone/>
            </a:pPr>
            <a:r>
              <a:rPr lang="en-US" sz="4000" b="1" dirty="0">
                <a:solidFill>
                  <a:srgbClr val="1B2A4A"/>
                </a:solidFill>
                <a:latin typeface="Cambria" pitchFamily="34" charset="0"/>
                <a:ea typeface="Cambria" pitchFamily="34" charset="-122"/>
                <a:cs typeface="Cambria" pitchFamily="34" charset="-120"/>
              </a:rPr>
              <a:t>Historical Data:</a:t>
            </a:r>
            <a:endParaRPr lang="en-US" sz="4000" dirty="0"/>
          </a:p>
          <a:p>
            <a:pPr indent="0" marL="0">
              <a:lnSpc>
                <a:spcPts val="4600"/>
              </a:lnSpc>
              <a:buNone/>
            </a:pPr>
            <a:r>
              <a:rPr lang="en-US" sz="4000" b="1" dirty="0">
                <a:solidFill>
                  <a:srgbClr val="1B2A4A"/>
                </a:solidFill>
                <a:latin typeface="Cambria" pitchFamily="34" charset="0"/>
                <a:ea typeface="Cambria" pitchFamily="34" charset="-122"/>
                <a:cs typeface="Cambria" pitchFamily="34" charset="-120"/>
              </a:rPr>
              <a:t>What the Rule Requires</a:t>
            </a:r>
            <a:endParaRPr lang="en-US" sz="4000" dirty="0"/>
          </a:p>
        </p:txBody>
      </p:sp>
      <p:sp>
        <p:nvSpPr>
          <p:cNvPr id="4" name="Text 2"/>
          <p:cNvSpPr/>
          <p:nvPr/>
        </p:nvSpPr>
        <p:spPr>
          <a:xfrm>
            <a:off x="731520" y="3520440"/>
            <a:ext cx="7863840" cy="1280160"/>
          </a:xfrm>
          <a:prstGeom prst="rect">
            <a:avLst/>
          </a:prstGeom>
          <a:noFill/>
          <a:ln/>
        </p:spPr>
        <p:txBody>
          <a:bodyPr wrap="square" lIns="0" tIns="0" rIns="0" bIns="0" rtlCol="0" anchor="t"/>
          <a:lstStyle/>
          <a:p>
            <a:pPr indent="0" marL="0">
              <a:lnSpc>
                <a:spcPts val="1800"/>
              </a:lnSpc>
              <a:buNone/>
            </a:pPr>
            <a:r>
              <a:rPr lang="en-US" sz="1300" dirty="0">
                <a:solidFill>
                  <a:srgbClr val="3F4A5A"/>
                </a:solidFill>
                <a:latin typeface="Calibri" pitchFamily="34" charset="0"/>
                <a:ea typeface="Calibri" pitchFamily="34" charset="-122"/>
                <a:cs typeface="Calibri" pitchFamily="34" charset="-120"/>
              </a:rPr>
              <a:t>This deck sets out, in the regulators' own words, what the FRTB Internal Models Approach requires of historical risk-factor data. Each substantive slide gives the operative text, a plain reading of it, and the strongest counter-reading available to someone who disagrees. It is written to be read rather than presented, and to be argued with.</a:t>
            </a:r>
            <a:endParaRPr lang="en-US" sz="1300" dirty="0"/>
          </a:p>
        </p:txBody>
      </p:sp>
      <p:sp>
        <p:nvSpPr>
          <p:cNvPr id="5" name="Shape 3"/>
          <p:cNvSpPr/>
          <p:nvPr/>
        </p:nvSpPr>
        <p:spPr>
          <a:xfrm>
            <a:off x="731520" y="4937760"/>
            <a:ext cx="2926080" cy="0"/>
          </a:xfrm>
          <a:prstGeom prst="line">
            <a:avLst/>
          </a:prstGeom>
          <a:noFill/>
          <a:ln w="12700">
            <a:solidFill>
              <a:srgbClr val="D9D5CC"/>
            </a:solidFill>
            <a:prstDash val="solid"/>
          </a:ln>
        </p:spPr>
      </p:sp>
      <p:sp>
        <p:nvSpPr>
          <p:cNvPr id="6" name="Text 4"/>
          <p:cNvSpPr/>
          <p:nvPr/>
        </p:nvSpPr>
        <p:spPr>
          <a:xfrm>
            <a:off x="731520" y="5120640"/>
            <a:ext cx="8412480" cy="822960"/>
          </a:xfrm>
          <a:prstGeom prst="rect">
            <a:avLst/>
          </a:prstGeom>
          <a:noFill/>
          <a:ln/>
        </p:spPr>
        <p:txBody>
          <a:bodyPr wrap="square" lIns="0" tIns="0" rIns="0" bIns="0" rtlCol="0" anchor="t"/>
          <a:lstStyle/>
          <a:p>
            <a:pPr indent="0" marL="0">
              <a:lnSpc>
                <a:spcPts val="1400"/>
              </a:lnSpc>
              <a:buNone/>
            </a:pPr>
            <a:r>
              <a:rPr lang="en-US" sz="1000" dirty="0">
                <a:solidFill>
                  <a:srgbClr val="6B7280"/>
                </a:solidFill>
                <a:latin typeface="Calibri" pitchFamily="34" charset="0"/>
                <a:ea typeface="Calibri" pitchFamily="34" charset="-122"/>
                <a:cs typeface="Calibri" pitchFamily="34" charset="-120"/>
              </a:rPr>
              <a:t>Sources: US Basel III Endgame NPR (March 2026), §__.214(b)(2) and §__.215(b)(5), with preamble.  ·  Basel MAR31 Principles 1–7 and MAR33.5(2)(b).  ·  EBA RTS on assessment methodology and Guidelines on IMA data inputs — persuasive in the US context, not binding.</a:t>
            </a:r>
            <a:endParaRPr lang="en-US" sz="1000" dirty="0"/>
          </a:p>
        </p:txBody>
      </p:sp>
      <p:sp>
        <p:nvSpPr>
          <p:cNvPr id="7" name="Shape 5"/>
          <p:cNvSpPr/>
          <p:nvPr/>
        </p:nvSpPr>
        <p:spPr>
          <a:xfrm>
            <a:off x="8869680" y="1874520"/>
            <a:ext cx="2194560" cy="566928"/>
          </a:xfrm>
          <a:prstGeom prst="roundRect">
            <a:avLst>
              <a:gd name="adj" fmla="val 8065"/>
            </a:avLst>
          </a:prstGeom>
          <a:solidFill>
            <a:srgbClr val="F5F0E4"/>
          </a:solidFill>
          <a:ln w="9525">
            <a:solidFill>
              <a:srgbClr val="9A7212"/>
            </a:solidFill>
            <a:prstDash val="solid"/>
          </a:ln>
        </p:spPr>
      </p:sp>
      <p:sp>
        <p:nvSpPr>
          <p:cNvPr id="8" name="Text 6"/>
          <p:cNvSpPr/>
          <p:nvPr/>
        </p:nvSpPr>
        <p:spPr>
          <a:xfrm>
            <a:off x="8869680" y="1874520"/>
            <a:ext cx="2194560" cy="566928"/>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Stress period</a:t>
            </a:r>
            <a:endParaRPr lang="en-US" sz="1100" dirty="0"/>
          </a:p>
        </p:txBody>
      </p:sp>
      <p:sp>
        <p:nvSpPr>
          <p:cNvPr id="9" name="Shape 7"/>
          <p:cNvSpPr/>
          <p:nvPr/>
        </p:nvSpPr>
        <p:spPr>
          <a:xfrm>
            <a:off x="8869680" y="2606040"/>
            <a:ext cx="2468880" cy="566928"/>
          </a:xfrm>
          <a:prstGeom prst="roundRect">
            <a:avLst>
              <a:gd name="adj" fmla="val 8065"/>
            </a:avLst>
          </a:prstGeom>
          <a:solidFill>
            <a:srgbClr val="33507F"/>
          </a:solidFill>
          <a:ln w="9525">
            <a:solidFill>
              <a:srgbClr val="33507F"/>
            </a:solidFill>
            <a:prstDash val="solid"/>
          </a:ln>
        </p:spPr>
      </p:sp>
      <p:sp>
        <p:nvSpPr>
          <p:cNvPr id="10" name="Text 8"/>
          <p:cNvSpPr/>
          <p:nvPr/>
        </p:nvSpPr>
        <p:spPr>
          <a:xfrm>
            <a:off x="8869680" y="2606040"/>
            <a:ext cx="24688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 standards</a:t>
            </a:r>
            <a:endParaRPr lang="en-US" sz="1100" dirty="0"/>
          </a:p>
        </p:txBody>
      </p:sp>
      <p:sp>
        <p:nvSpPr>
          <p:cNvPr id="11" name="Shape 9"/>
          <p:cNvSpPr/>
          <p:nvPr/>
        </p:nvSpPr>
        <p:spPr>
          <a:xfrm>
            <a:off x="8869680" y="3337560"/>
            <a:ext cx="2743200" cy="566928"/>
          </a:xfrm>
          <a:prstGeom prst="roundRect">
            <a:avLst>
              <a:gd name="adj" fmla="val 8065"/>
            </a:avLst>
          </a:prstGeom>
          <a:solidFill>
            <a:srgbClr val="1B2A4A"/>
          </a:solidFill>
          <a:ln w="9525">
            <a:solidFill>
              <a:srgbClr val="1B2A4A"/>
            </a:solidFill>
            <a:prstDash val="solid"/>
          </a:ln>
        </p:spPr>
      </p:sp>
      <p:sp>
        <p:nvSpPr>
          <p:cNvPr id="12" name="Text 10"/>
          <p:cNvSpPr/>
          <p:nvPr/>
        </p:nvSpPr>
        <p:spPr>
          <a:xfrm>
            <a:off x="8869680" y="3337560"/>
            <a:ext cx="27432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Proxy provisions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HOW TO READ THIS DECK</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Method, and what is verified</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1371600"/>
            <a:ext cx="5440680" cy="2194560"/>
          </a:xfrm>
          <a:prstGeom prst="roundRect">
            <a:avLst>
              <a:gd name="adj" fmla="val 2083"/>
            </a:avLst>
          </a:prstGeom>
          <a:solidFill>
            <a:srgbClr val="FFFFFF"/>
          </a:solidFill>
          <a:ln w="9525">
            <a:solidFill>
              <a:srgbClr val="D9D5CC"/>
            </a:solidFill>
            <a:prstDash val="solid"/>
          </a:ln>
        </p:spPr>
      </p:sp>
      <p:sp>
        <p:nvSpPr>
          <p:cNvPr id="6" name="Text 4"/>
          <p:cNvSpPr/>
          <p:nvPr/>
        </p:nvSpPr>
        <p:spPr>
          <a:xfrm>
            <a:off x="804672" y="151790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METHOD</a:t>
            </a:r>
            <a:endParaRPr lang="en-US" sz="900" dirty="0"/>
          </a:p>
        </p:txBody>
      </p:sp>
      <p:sp>
        <p:nvSpPr>
          <p:cNvPr id="7" name="Text 5"/>
          <p:cNvSpPr/>
          <p:nvPr/>
        </p:nvSpPr>
        <p:spPr>
          <a:xfrm>
            <a:off x="804672" y="1773936"/>
            <a:ext cx="4937760" cy="169164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Every substantive slide is built the same way. The band across the top carries the operative text, quoted rather than paraphrased. Below it, the left column gives the plain reading. The right column gives the strongest argument available to someone who reads it differently.</a:t>
            </a:r>
            <a:endParaRPr lang="en-US" sz="1100" dirty="0"/>
          </a:p>
          <a:p>
            <a:pPr indent="0" marL="0">
              <a:lnSpc>
                <a:spcPts val="1500"/>
              </a:lnSpc>
              <a:buNone/>
            </a:pPr>
            <a:endParaRPr lang="en-US" sz="1100" dirty="0"/>
          </a:p>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The counter-readings are included deliberately. Anyone can produce a one-sided reading of a rule; a position that has already absorbed the objections is the one that survives a supervisory conversation.</a:t>
            </a:r>
            <a:endParaRPr lang="en-US" sz="1100" dirty="0"/>
          </a:p>
        </p:txBody>
      </p:sp>
      <p:sp>
        <p:nvSpPr>
          <p:cNvPr id="8" name="Shape 6"/>
          <p:cNvSpPr/>
          <p:nvPr/>
        </p:nvSpPr>
        <p:spPr>
          <a:xfrm>
            <a:off x="6172200" y="1371600"/>
            <a:ext cx="5440680" cy="2194560"/>
          </a:xfrm>
          <a:prstGeom prst="roundRect">
            <a:avLst>
              <a:gd name="adj" fmla="val 2083"/>
            </a:avLst>
          </a:prstGeom>
          <a:solidFill>
            <a:srgbClr val="F7F5F1"/>
          </a:solidFill>
          <a:ln w="9525">
            <a:solidFill>
              <a:srgbClr val="D9D5CC"/>
            </a:solidFill>
            <a:prstDash val="solid"/>
          </a:ln>
        </p:spPr>
      </p:sp>
      <p:sp>
        <p:nvSpPr>
          <p:cNvPr id="9" name="Text 7"/>
          <p:cNvSpPr/>
          <p:nvPr/>
        </p:nvSpPr>
        <p:spPr>
          <a:xfrm>
            <a:off x="6428232" y="151790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WHAT THIS DECK IS NOT</a:t>
            </a:r>
            <a:endParaRPr lang="en-US" sz="900" dirty="0"/>
          </a:p>
        </p:txBody>
      </p:sp>
      <p:sp>
        <p:nvSpPr>
          <p:cNvPr id="10" name="Text 8"/>
          <p:cNvSpPr/>
          <p:nvPr/>
        </p:nvSpPr>
        <p:spPr>
          <a:xfrm>
            <a:off x="6428232" y="1773936"/>
            <a:ext cx="4937760" cy="169164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It is not an assessment of past implementation decisions. The existing historical data was built to answer the question that was being asked at the time, under a different risk-factor taxonomy and a different capital measure. Nothing here suggests otherwise.</a:t>
            </a:r>
            <a:endParaRPr lang="en-US" sz="1100" dirty="0"/>
          </a:p>
          <a:p>
            <a:pPr indent="0" marL="0">
              <a:lnSpc>
                <a:spcPts val="1500"/>
              </a:lnSpc>
              <a:buNone/>
            </a:pPr>
            <a:endParaRPr lang="en-US" sz="1100" dirty="0"/>
          </a:p>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It is also not a recommendation to regenerate history. The rule does not require that, and the final slides set out a narrower and more defensible scope.</a:t>
            </a:r>
            <a:endParaRPr lang="en-US" sz="1100" dirty="0"/>
          </a:p>
        </p:txBody>
      </p:sp>
      <p:sp>
        <p:nvSpPr>
          <p:cNvPr id="11" name="Shape 9"/>
          <p:cNvSpPr/>
          <p:nvPr/>
        </p:nvSpPr>
        <p:spPr>
          <a:xfrm>
            <a:off x="548640" y="3749040"/>
            <a:ext cx="11064240" cy="1965960"/>
          </a:xfrm>
          <a:prstGeom prst="roundRect">
            <a:avLst>
              <a:gd name="adj" fmla="val 2326"/>
            </a:avLst>
          </a:prstGeom>
          <a:solidFill>
            <a:srgbClr val="FFFFFF"/>
          </a:solidFill>
          <a:ln w="9525">
            <a:solidFill>
              <a:srgbClr val="D9D5CC"/>
            </a:solidFill>
            <a:prstDash val="solid"/>
          </a:ln>
        </p:spPr>
      </p:sp>
      <p:sp>
        <p:nvSpPr>
          <p:cNvPr id="12" name="Text 10"/>
          <p:cNvSpPr/>
          <p:nvPr/>
        </p:nvSpPr>
        <p:spPr>
          <a:xfrm>
            <a:off x="804672" y="3895344"/>
            <a:ext cx="5394960" cy="219456"/>
          </a:xfrm>
          <a:prstGeom prst="rect">
            <a:avLst/>
          </a:prstGeom>
          <a:noFill/>
          <a:ln/>
        </p:spPr>
        <p:txBody>
          <a:bodyPr wrap="square" lIns="0" tIns="0" rIns="0" bIns="0" rtlCol="0" anchor="ctr"/>
          <a:lstStyle/>
          <a:p>
            <a:pPr indent="0" marL="0">
              <a:buNone/>
            </a:pPr>
            <a:r>
              <a:rPr lang="en-US" sz="900" b="1" spc="180" kern="0" dirty="0">
                <a:solidFill>
                  <a:srgbClr val="9A7212"/>
                </a:solidFill>
                <a:latin typeface="Calibri" pitchFamily="34" charset="0"/>
                <a:ea typeface="Calibri" pitchFamily="34" charset="-122"/>
                <a:cs typeface="Calibri" pitchFamily="34" charset="-120"/>
              </a:rPr>
              <a:t>STATUS OF THE CITATIONS</a:t>
            </a:r>
            <a:endParaRPr lang="en-US" sz="900" dirty="0"/>
          </a:p>
        </p:txBody>
      </p:sp>
      <p:sp>
        <p:nvSpPr>
          <p:cNvPr id="13" name="Text 11"/>
          <p:cNvSpPr/>
          <p:nvPr/>
        </p:nvSpPr>
        <p:spPr>
          <a:xfrm>
            <a:off x="804672" y="4151376"/>
            <a:ext cx="10515600" cy="146304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The US operative text quoted here is taken from §__.214(b)(2)(i)–(vi), which sets the data standards for the ES-based measure, and cross-refers to §__.215(b)(5) for the identified stress period. Basel material is from MAR31 Principles 1 to 7 and MAR33.5(2)(b). Four points remain to be confirmed against the Federal Register text before external use, and are flagged where they appear: the exact clause numbering; the supervisory-unsuitability provision; the US treatment where a proxy cannot be demonstrated under the direct approach; and whether the US PLA provisions replicate Basel Principle 7(b) on the use of proxied risk factors in the risk-theoretical P&amp;L. Where a proposition rests on Basel text with no confirmed US equivalent, that is stated on the slide rather than left implicit.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FRAMING</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Two different questions are being answered</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548640" y="1325880"/>
            <a:ext cx="5440680" cy="2514600"/>
          </a:xfrm>
          <a:prstGeom prst="roundRect">
            <a:avLst>
              <a:gd name="adj" fmla="val 1818"/>
            </a:avLst>
          </a:prstGeom>
          <a:solidFill>
            <a:srgbClr val="F7F5F1"/>
          </a:solidFill>
          <a:ln w="9525">
            <a:solidFill>
              <a:srgbClr val="D9D5CC"/>
            </a:solidFill>
            <a:prstDash val="solid"/>
          </a:ln>
        </p:spPr>
      </p:sp>
      <p:sp>
        <p:nvSpPr>
          <p:cNvPr id="6" name="Text 4"/>
          <p:cNvSpPr/>
          <p:nvPr/>
        </p:nvSpPr>
        <p:spPr>
          <a:xfrm>
            <a:off x="804672" y="1517904"/>
            <a:ext cx="4937760" cy="384048"/>
          </a:xfrm>
          <a:prstGeom prst="rect">
            <a:avLst/>
          </a:prstGeom>
          <a:noFill/>
          <a:ln/>
        </p:spPr>
        <p:txBody>
          <a:bodyPr wrap="square" lIns="0" tIns="0" rIns="0" bIns="0" rtlCol="0" anchor="ctr"/>
          <a:lstStyle/>
          <a:p>
            <a:pPr indent="0" marL="0">
              <a:buNone/>
            </a:pPr>
            <a:r>
              <a:rPr lang="en-US" sz="1700" b="1" dirty="0">
                <a:solidFill>
                  <a:srgbClr val="3F4A5A"/>
                </a:solidFill>
                <a:latin typeface="Cambria" pitchFamily="34" charset="0"/>
                <a:ea typeface="Cambria" pitchFamily="34" charset="-122"/>
                <a:cs typeface="Cambria" pitchFamily="34" charset="-120"/>
              </a:rPr>
              <a:t>“Do we already have history?”</a:t>
            </a:r>
            <a:endParaRPr lang="en-US" sz="1700" dirty="0"/>
          </a:p>
        </p:txBody>
      </p:sp>
      <p:sp>
        <p:nvSpPr>
          <p:cNvPr id="7" name="Text 5"/>
          <p:cNvSpPr/>
          <p:nvPr/>
        </p:nvSpPr>
        <p:spPr>
          <a:xfrm>
            <a:off x="804672" y="2011680"/>
            <a:ext cx="4937760" cy="169164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This is a question about availability, and the answer is yes. The firm holds historical series covering the global financial crisis, and those series have been used for regulatory capital since Basel 2.5.</a:t>
            </a:r>
            <a:endParaRPr lang="en-US" sz="1100" dirty="0"/>
          </a:p>
          <a:p>
            <a:pPr indent="0" marL="0">
              <a:lnSpc>
                <a:spcPts val="1500"/>
              </a:lnSpc>
              <a:buNone/>
            </a:pPr>
            <a:endParaRPr lang="en-US" sz="1100" dirty="0"/>
          </a:p>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That history was constructed to represent a particular set of risk factors under a particular capital measure. Its acceptance was acceptance of that construction, for that purpose.</a:t>
            </a:r>
            <a:endParaRPr lang="en-US" sz="1100" dirty="0"/>
          </a:p>
        </p:txBody>
      </p:sp>
      <p:sp>
        <p:nvSpPr>
          <p:cNvPr id="8" name="Shape 6"/>
          <p:cNvSpPr/>
          <p:nvPr/>
        </p:nvSpPr>
        <p:spPr>
          <a:xfrm>
            <a:off x="6172200" y="1325880"/>
            <a:ext cx="5440680" cy="2514600"/>
          </a:xfrm>
          <a:prstGeom prst="roundRect">
            <a:avLst>
              <a:gd name="adj" fmla="val 1818"/>
            </a:avLst>
          </a:prstGeom>
          <a:solidFill>
            <a:srgbClr val="F5F0E4"/>
          </a:solidFill>
          <a:ln w="9525">
            <a:solidFill>
              <a:srgbClr val="9A7212"/>
            </a:solidFill>
            <a:prstDash val="solid"/>
          </a:ln>
        </p:spPr>
      </p:sp>
      <p:sp>
        <p:nvSpPr>
          <p:cNvPr id="9" name="Text 7"/>
          <p:cNvSpPr/>
          <p:nvPr/>
        </p:nvSpPr>
        <p:spPr>
          <a:xfrm>
            <a:off x="6428232" y="1517904"/>
            <a:ext cx="4937760" cy="640080"/>
          </a:xfrm>
          <a:prstGeom prst="rect">
            <a:avLst/>
          </a:prstGeom>
          <a:noFill/>
          <a:ln/>
        </p:spPr>
        <p:txBody>
          <a:bodyPr wrap="square" lIns="0" tIns="0" rIns="0" bIns="0" rtlCol="0" anchor="ctr"/>
          <a:lstStyle/>
          <a:p>
            <a:pPr indent="0" marL="0">
              <a:buNone/>
            </a:pPr>
            <a:r>
              <a:rPr lang="en-US" sz="1700" b="1" dirty="0">
                <a:solidFill>
                  <a:srgbClr val="1B2A4A"/>
                </a:solidFill>
                <a:latin typeface="Cambria" pitchFamily="34" charset="0"/>
                <a:ea typeface="Cambria" pitchFamily="34" charset="-122"/>
                <a:cs typeface="Cambria" pitchFamily="34" charset="-120"/>
              </a:rPr>
              <a:t>“Does that history represent today's risk factors in the stress period?”</a:t>
            </a:r>
            <a:endParaRPr lang="en-US" sz="1700" dirty="0"/>
          </a:p>
        </p:txBody>
      </p:sp>
      <p:sp>
        <p:nvSpPr>
          <p:cNvPr id="10" name="Text 8"/>
          <p:cNvSpPr/>
          <p:nvPr/>
        </p:nvSpPr>
        <p:spPr>
          <a:xfrm>
            <a:off x="6428232" y="2240280"/>
            <a:ext cx="4937760" cy="150876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This is a question about representativeness, and it is the one the rule asks. It is not answered by the first.</a:t>
            </a:r>
            <a:endParaRPr lang="en-US" sz="1100" dirty="0"/>
          </a:p>
          <a:p>
            <a:pPr indent="0" marL="0">
              <a:lnSpc>
                <a:spcPts val="1500"/>
              </a:lnSpc>
              <a:buNone/>
            </a:pPr>
            <a:endParaRPr lang="en-US" sz="1100" dirty="0"/>
          </a:p>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The IMA risk-factor set in use today is not the Basel 2.5 set. Where the two differ in granularity, definition or coverage, the existence of a series in the older taxonomy does not establish that today's factor has a stress-period representation.</a:t>
            </a:r>
            <a:endParaRPr lang="en-US" sz="1100" dirty="0"/>
          </a:p>
        </p:txBody>
      </p:sp>
      <p:sp>
        <p:nvSpPr>
          <p:cNvPr id="11" name="Shape 9"/>
          <p:cNvSpPr/>
          <p:nvPr/>
        </p:nvSpPr>
        <p:spPr>
          <a:xfrm>
            <a:off x="548640" y="4023360"/>
            <a:ext cx="11064240" cy="1417320"/>
          </a:xfrm>
          <a:prstGeom prst="roundRect">
            <a:avLst>
              <a:gd name="adj" fmla="val 3226"/>
            </a:avLst>
          </a:prstGeom>
          <a:solidFill>
            <a:srgbClr val="FFFFFF"/>
          </a:solidFill>
          <a:ln w="9525">
            <a:solidFill>
              <a:srgbClr val="D9D5CC"/>
            </a:solidFill>
            <a:prstDash val="solid"/>
          </a:ln>
        </p:spPr>
      </p:sp>
      <p:sp>
        <p:nvSpPr>
          <p:cNvPr id="12" name="Text 10"/>
          <p:cNvSpPr/>
          <p:nvPr/>
        </p:nvSpPr>
        <p:spPr>
          <a:xfrm>
            <a:off x="804672" y="416966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WHY THE DISTINCTION MATTERS</a:t>
            </a:r>
            <a:endParaRPr lang="en-US" sz="900" dirty="0"/>
          </a:p>
        </p:txBody>
      </p:sp>
      <p:sp>
        <p:nvSpPr>
          <p:cNvPr id="13" name="Text 11"/>
          <p:cNvSpPr/>
          <p:nvPr/>
        </p:nvSpPr>
        <p:spPr>
          <a:xfrm>
            <a:off x="804672" y="4425696"/>
            <a:ext cx="10515600" cy="91440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Prior regulatory acceptance is evidence about a previous framework. It is not, in the language the rule uses, a track record for the representation now in use. The framework was drafted in the knowledge that firms would hold legacy data, and it conditions the use of that data on demonstrated suitability rather than on prior acceptance. That is the whole of the argument in this deck: not that the existing history is wrong, but that its suitability is a question that has to be answered with evidence rather than with precedent.</a:t>
            </a:r>
            <a:endParaRPr lang="en-US" sz="1100" dirty="0"/>
          </a:p>
        </p:txBody>
      </p:sp>
      <p:sp>
        <p:nvSpPr>
          <p:cNvPr id="14" name="Shape 12"/>
          <p:cNvSpPr/>
          <p:nvPr/>
        </p:nvSpPr>
        <p:spPr>
          <a:xfrm>
            <a:off x="548640" y="5623560"/>
            <a:ext cx="11064240" cy="530352"/>
          </a:xfrm>
          <a:prstGeom prst="roundRect">
            <a:avLst>
              <a:gd name="adj" fmla="val 8621"/>
            </a:avLst>
          </a:prstGeom>
          <a:solidFill>
            <a:srgbClr val="1B2A4A"/>
          </a:solidFill>
          <a:ln w="12700">
            <a:solidFill>
              <a:srgbClr val="1B2A4A"/>
            </a:solidFill>
            <a:prstDash val="solid"/>
          </a:ln>
        </p:spPr>
      </p:sp>
      <p:sp>
        <p:nvSpPr>
          <p:cNvPr id="15" name="Text 13"/>
          <p:cNvSpPr/>
          <p:nvPr/>
        </p:nvSpPr>
        <p:spPr>
          <a:xfrm>
            <a:off x="822960" y="5623560"/>
            <a:ext cx="10515600" cy="5303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History availability  ≠  history suitability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FACT 1  ·  WHERE CAPITAL IS MEASURED</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Both models-based components are calibrated to the stress period</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548640" y="1234440"/>
            <a:ext cx="11064240" cy="1371600"/>
          </a:xfrm>
          <a:prstGeom prst="roundRect">
            <a:avLst>
              <a:gd name="adj" fmla="val 3333"/>
            </a:avLst>
          </a:prstGeom>
          <a:solidFill>
            <a:srgbClr val="F5F0E4"/>
          </a:solidFill>
          <a:ln w="9525">
            <a:solidFill>
              <a:srgbClr val="9A7212"/>
            </a:solidFill>
            <a:prstDash val="solid"/>
          </a:ln>
        </p:spPr>
      </p:sp>
      <p:sp>
        <p:nvSpPr>
          <p:cNvPr id="6" name="Text 4"/>
          <p:cNvSpPr/>
          <p:nvPr/>
        </p:nvSpPr>
        <p:spPr>
          <a:xfrm>
            <a:off x="822960" y="1362456"/>
            <a:ext cx="10515600" cy="219456"/>
          </a:xfrm>
          <a:prstGeom prst="rect">
            <a:avLst/>
          </a:prstGeom>
          <a:noFill/>
          <a:ln/>
        </p:spPr>
        <p:txBody>
          <a:bodyPr wrap="square" lIns="0" tIns="0" rIns="0" bIns="0" rtlCol="0" anchor="ctr"/>
          <a:lstStyle/>
          <a:p>
            <a:pPr indent="0" marL="0">
              <a:buNone/>
            </a:pPr>
            <a:r>
              <a:rPr lang="en-US" sz="900" b="1" spc="150" kern="0" dirty="0">
                <a:solidFill>
                  <a:srgbClr val="9A7212"/>
                </a:solidFill>
                <a:latin typeface="Calibri" pitchFamily="34" charset="0"/>
                <a:ea typeface="Calibri" pitchFamily="34" charset="-122"/>
                <a:cs typeface="Calibri" pitchFamily="34" charset="-120"/>
              </a:rPr>
              <a:t>US NPR PREAMBLE — MODELS-BASED NON-DEFAULT CAPITAL REQUIREMENT; IMCC</a:t>
            </a:r>
            <a:endParaRPr lang="en-US" sz="900" dirty="0"/>
          </a:p>
        </p:txBody>
      </p:sp>
      <p:sp>
        <p:nvSpPr>
          <p:cNvPr id="7" name="Text 5"/>
          <p:cNvSpPr/>
          <p:nvPr/>
        </p:nvSpPr>
        <p:spPr>
          <a:xfrm>
            <a:off x="822960" y="1618488"/>
            <a:ext cx="10515600" cy="859536"/>
          </a:xfrm>
          <a:prstGeom prst="rect">
            <a:avLst/>
          </a:prstGeom>
          <a:noFill/>
          <a:ln/>
        </p:spPr>
        <p:txBody>
          <a:bodyPr wrap="square" lIns="0" tIns="0" rIns="0" bIns="0" rtlCol="0" anchor="t"/>
          <a:lstStyle/>
          <a:p>
            <a:pPr indent="0" marL="0">
              <a:lnSpc>
                <a:spcPts val="1500"/>
              </a:lnSpc>
              <a:buNone/>
            </a:pPr>
            <a:r>
              <a:rPr lang="en-US" sz="1100" i="1" dirty="0">
                <a:solidFill>
                  <a:srgbClr val="1B2A4A"/>
                </a:solidFill>
                <a:latin typeface="Calibri" pitchFamily="34" charset="0"/>
                <a:ea typeface="Calibri" pitchFamily="34" charset="-122"/>
                <a:cs typeface="Calibri" pitchFamily="34" charset="-120"/>
              </a:rPr>
              <a:t>“the first two components, IMCC and SES, are intended to capture the potential losses arising from changes in risk factors during a period of substantial market stress”</a:t>
            </a:r>
            <a:endParaRPr lang="en-US" sz="1100" dirty="0"/>
          </a:p>
          <a:p>
            <a:pPr indent="0" marL="0">
              <a:lnSpc>
                <a:spcPts val="1500"/>
              </a:lnSpc>
              <a:buNone/>
            </a:pPr>
            <a:endParaRPr lang="en-US" sz="1100" dirty="0"/>
          </a:p>
          <a:p>
            <a:pPr indent="0" marL="0">
              <a:lnSpc>
                <a:spcPts val="1500"/>
              </a:lnSpc>
              <a:buNone/>
            </a:pPr>
            <a:r>
              <a:rPr lang="en-US" sz="1100" i="1" dirty="0">
                <a:solidFill>
                  <a:srgbClr val="1B2A4A"/>
                </a:solidFill>
                <a:latin typeface="Calibri" pitchFamily="34" charset="0"/>
                <a:ea typeface="Calibri" pitchFamily="34" charset="-122"/>
                <a:cs typeface="Calibri" pitchFamily="34" charset="-120"/>
              </a:rPr>
              <a:t>“The IMCC is intended to capture the estimated losses for model-eligible positions arising from changes in modellable and type A non-modellable risk factors over a twelve-month historical period of substantial market stress”</a:t>
            </a:r>
            <a:endParaRPr lang="en-US" sz="1100" dirty="0"/>
          </a:p>
        </p:txBody>
      </p:sp>
      <p:sp>
        <p:nvSpPr>
          <p:cNvPr id="8" name="Shape 6"/>
          <p:cNvSpPr/>
          <p:nvPr/>
        </p:nvSpPr>
        <p:spPr>
          <a:xfrm>
            <a:off x="548640" y="2743200"/>
            <a:ext cx="5440680" cy="3154680"/>
          </a:xfrm>
          <a:prstGeom prst="roundRect">
            <a:avLst>
              <a:gd name="adj" fmla="val 1449"/>
            </a:avLst>
          </a:prstGeom>
          <a:solidFill>
            <a:srgbClr val="FFFFFF"/>
          </a:solidFill>
          <a:ln w="9525">
            <a:solidFill>
              <a:srgbClr val="D9D5CC"/>
            </a:solidFill>
            <a:prstDash val="solid"/>
          </a:ln>
        </p:spPr>
      </p:sp>
      <p:sp>
        <p:nvSpPr>
          <p:cNvPr id="9" name="Text 7"/>
          <p:cNvSpPr/>
          <p:nvPr/>
        </p:nvSpPr>
        <p:spPr>
          <a:xfrm>
            <a:off x="804672" y="288950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WHAT THIS ESTABLISHES</a:t>
            </a:r>
            <a:endParaRPr lang="en-US" sz="900" dirty="0"/>
          </a:p>
        </p:txBody>
      </p:sp>
      <p:sp>
        <p:nvSpPr>
          <p:cNvPr id="10" name="Text 8"/>
          <p:cNvSpPr/>
          <p:nvPr/>
        </p:nvSpPr>
        <p:spPr>
          <a:xfrm>
            <a:off x="804672" y="3145536"/>
            <a:ext cx="4937760" cy="260604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Both components of the models-based non-default capital requirement are calibrated to risk-factor behaviour during a single twelve-month period of substantial market stress, selected from an observation period beginning no later than 2007. No part of the capital measure is driven by current-period risk-factor moves.</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current period is not irrelevant. It governs risk-factor eligibility, backtesting and P&amp;L attribution. It is simply not the input to the capital calculation. The distinction is worth stating precisely: the current period determines whether a risk factor is admitted to the model, and the stress period determines how much capital it generates.</a:t>
            </a:r>
            <a:endParaRPr lang="en-US" sz="1050" dirty="0"/>
          </a:p>
        </p:txBody>
      </p:sp>
      <p:sp>
        <p:nvSpPr>
          <p:cNvPr id="11" name="Shape 9"/>
          <p:cNvSpPr/>
          <p:nvPr/>
        </p:nvSpPr>
        <p:spPr>
          <a:xfrm>
            <a:off x="6172200" y="2743200"/>
            <a:ext cx="5440680" cy="3154680"/>
          </a:xfrm>
          <a:prstGeom prst="roundRect">
            <a:avLst>
              <a:gd name="adj" fmla="val 1449"/>
            </a:avLst>
          </a:prstGeom>
          <a:solidFill>
            <a:srgbClr val="F7F5F1"/>
          </a:solidFill>
          <a:ln w="9525">
            <a:solidFill>
              <a:srgbClr val="D9D5CC"/>
            </a:solidFill>
            <a:prstDash val="solid"/>
          </a:ln>
        </p:spPr>
      </p:sp>
      <p:sp>
        <p:nvSpPr>
          <p:cNvPr id="12" name="Text 10"/>
          <p:cNvSpPr/>
          <p:nvPr/>
        </p:nvSpPr>
        <p:spPr>
          <a:xfrm>
            <a:off x="6428232" y="288950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IF SOMEONE PUSHES BACK</a:t>
            </a:r>
            <a:endParaRPr lang="en-US" sz="900" dirty="0"/>
          </a:p>
        </p:txBody>
      </p:sp>
      <p:sp>
        <p:nvSpPr>
          <p:cNvPr id="13" name="Text 11"/>
          <p:cNvSpPr/>
          <p:nvPr/>
        </p:nvSpPr>
        <p:spPr>
          <a:xfrm>
            <a:off x="6428232" y="3145536"/>
            <a:ext cx="4937760" cy="260604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This is preamble, not operative rule text. It evidences the agencies' intent and tells you how they will read the operative provisions, but it does not itself impose a standard.</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More substantively: the phrase “changes in risk factors” describes exactly what a legacy 2007–09 series contains. Nothing in this passage distinguishes between a series built for today's risk-factor taxonomy and one built for an earlier one. On its own, this text does not carry the argument — it only establishes where the argument has to be fought, which is over the meaning of “appropriate data” in the operative standards.</a:t>
            </a:r>
            <a:endParaRPr lang="en-US" sz="1050" dirty="0"/>
          </a:p>
        </p:txBody>
      </p:sp>
      <p:sp>
        <p:nvSpPr>
          <p:cNvPr id="14" name="Text 12"/>
          <p:cNvSpPr/>
          <p:nvPr/>
        </p:nvSpPr>
        <p:spPr>
          <a:xfrm>
            <a:off x="548640" y="6309360"/>
            <a:ext cx="10424160" cy="27432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stress period is a single twelve-month window selected from an observation period beginning no later than 2007 — not the full run of history since 2007.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FACT 1 CONTINUED</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Modellability has two independent gates, not one</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548640" y="1234440"/>
            <a:ext cx="11064240" cy="1234440"/>
          </a:xfrm>
          <a:prstGeom prst="roundRect">
            <a:avLst>
              <a:gd name="adj" fmla="val 3704"/>
            </a:avLst>
          </a:prstGeom>
          <a:solidFill>
            <a:srgbClr val="F5F0E4"/>
          </a:solidFill>
          <a:ln w="9525">
            <a:solidFill>
              <a:srgbClr val="9A7212"/>
            </a:solidFill>
            <a:prstDash val="solid"/>
          </a:ln>
        </p:spPr>
      </p:sp>
      <p:sp>
        <p:nvSpPr>
          <p:cNvPr id="6" name="Text 4"/>
          <p:cNvSpPr/>
          <p:nvPr/>
        </p:nvSpPr>
        <p:spPr>
          <a:xfrm>
            <a:off x="822960" y="1362456"/>
            <a:ext cx="10515600" cy="219456"/>
          </a:xfrm>
          <a:prstGeom prst="rect">
            <a:avLst/>
          </a:prstGeom>
          <a:noFill/>
          <a:ln/>
        </p:spPr>
        <p:txBody>
          <a:bodyPr wrap="square" lIns="0" tIns="0" rIns="0" bIns="0" rtlCol="0" anchor="ctr"/>
          <a:lstStyle/>
          <a:p>
            <a:pPr indent="0" marL="0">
              <a:buNone/>
            </a:pPr>
            <a:r>
              <a:rPr lang="en-US" sz="900" b="1" spc="150" kern="0" dirty="0">
                <a:solidFill>
                  <a:srgbClr val="9A7212"/>
                </a:solidFill>
                <a:latin typeface="Calibri" pitchFamily="34" charset="0"/>
                <a:ea typeface="Calibri" pitchFamily="34" charset="-122"/>
                <a:cs typeface="Calibri" pitchFamily="34" charset="-120"/>
              </a:rPr>
              <a:t>US NPR PREAMBLE — DEFINITION OF MODELLABLE AND NON-MODELLABLE RISK FACTORS</a:t>
            </a:r>
            <a:endParaRPr lang="en-US" sz="900" dirty="0"/>
          </a:p>
        </p:txBody>
      </p:sp>
      <p:sp>
        <p:nvSpPr>
          <p:cNvPr id="7" name="Text 5"/>
          <p:cNvSpPr/>
          <p:nvPr/>
        </p:nvSpPr>
        <p:spPr>
          <a:xfrm>
            <a:off x="822960" y="1618488"/>
            <a:ext cx="10515600" cy="722376"/>
          </a:xfrm>
          <a:prstGeom prst="rect">
            <a:avLst/>
          </a:prstGeom>
          <a:noFill/>
          <a:ln/>
        </p:spPr>
        <p:txBody>
          <a:bodyPr wrap="square" lIns="0" tIns="0" rIns="0" bIns="0" rtlCol="0" anchor="t"/>
          <a:lstStyle/>
          <a:p>
            <a:pPr indent="0" marL="0">
              <a:lnSpc>
                <a:spcPts val="1500"/>
              </a:lnSpc>
              <a:buNone/>
            </a:pPr>
            <a:r>
              <a:rPr lang="en-US" sz="1150" i="1" dirty="0">
                <a:solidFill>
                  <a:srgbClr val="1B2A4A"/>
                </a:solidFill>
                <a:latin typeface="Calibri" pitchFamily="34" charset="0"/>
                <a:ea typeface="Calibri" pitchFamily="34" charset="-122"/>
                <a:cs typeface="Calibri" pitchFamily="34" charset="-120"/>
              </a:rPr>
              <a:t>“The IMCC and SES would distinguish between risk factors for which there is appropriate data for the twelve-month historical stress period used by the model and a sufficient number of real prices in the current period to qualify as modellable risk factors and those for which there is not”</a:t>
            </a:r>
            <a:endParaRPr lang="en-US" sz="1150" dirty="0"/>
          </a:p>
        </p:txBody>
      </p:sp>
      <p:sp>
        <p:nvSpPr>
          <p:cNvPr id="8" name="Shape 6"/>
          <p:cNvSpPr/>
          <p:nvPr/>
        </p:nvSpPr>
        <p:spPr>
          <a:xfrm>
            <a:off x="548640" y="2606040"/>
            <a:ext cx="5440680" cy="3291840"/>
          </a:xfrm>
          <a:prstGeom prst="roundRect">
            <a:avLst>
              <a:gd name="adj" fmla="val 1389"/>
            </a:avLst>
          </a:prstGeom>
          <a:solidFill>
            <a:srgbClr val="FFFFFF"/>
          </a:solidFill>
          <a:ln w="9525">
            <a:solidFill>
              <a:srgbClr val="D9D5CC"/>
            </a:solidFill>
            <a:prstDash val="solid"/>
          </a:ln>
        </p:spPr>
      </p:sp>
      <p:sp>
        <p:nvSpPr>
          <p:cNvPr id="9" name="Text 7"/>
          <p:cNvSpPr/>
          <p:nvPr/>
        </p:nvSpPr>
        <p:spPr>
          <a:xfrm>
            <a:off x="804672" y="275234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WHAT THIS ESTABLISHES</a:t>
            </a:r>
            <a:endParaRPr lang="en-US" sz="900" dirty="0"/>
          </a:p>
        </p:txBody>
      </p:sp>
      <p:sp>
        <p:nvSpPr>
          <p:cNvPr id="10" name="Text 8"/>
          <p:cNvSpPr/>
          <p:nvPr/>
        </p:nvSpPr>
        <p:spPr>
          <a:xfrm>
            <a:off x="804672" y="3008376"/>
            <a:ext cx="4937760" cy="274320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test is conjunctive. A risk factor qualifies as modellable where there is appropriate data for the twelve-month stress period AND a sufficient number of real prices in the current period. Satisfying the second does not satisfy the first.</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This matters because the Risk Factor Eligibility Test is a current-period count of real price observations. A factor that clears twenty-four observations with no ninety-day gap has demonstrated something about the present. It has demonstrated nothing about whether its stress-period series is fit for the expected shortfall measure that series feeds.</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“It passed RFET” is therefore not an answer to a question about historical data.</a:t>
            </a:r>
            <a:endParaRPr lang="en-US" sz="1050" dirty="0"/>
          </a:p>
        </p:txBody>
      </p:sp>
      <p:sp>
        <p:nvSpPr>
          <p:cNvPr id="11" name="Shape 9"/>
          <p:cNvSpPr/>
          <p:nvPr/>
        </p:nvSpPr>
        <p:spPr>
          <a:xfrm>
            <a:off x="6172200" y="2606040"/>
            <a:ext cx="5440680" cy="3291840"/>
          </a:xfrm>
          <a:prstGeom prst="roundRect">
            <a:avLst>
              <a:gd name="adj" fmla="val 1389"/>
            </a:avLst>
          </a:prstGeom>
          <a:solidFill>
            <a:srgbClr val="F7F5F1"/>
          </a:solidFill>
          <a:ln w="9525">
            <a:solidFill>
              <a:srgbClr val="D9D5CC"/>
            </a:solidFill>
            <a:prstDash val="solid"/>
          </a:ln>
        </p:spPr>
      </p:sp>
      <p:sp>
        <p:nvSpPr>
          <p:cNvPr id="12" name="Text 10"/>
          <p:cNvSpPr/>
          <p:nvPr/>
        </p:nvSpPr>
        <p:spPr>
          <a:xfrm>
            <a:off x="6428232" y="275234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IF SOMEONE PUSHES BACK</a:t>
            </a:r>
            <a:endParaRPr lang="en-US" sz="900" dirty="0"/>
          </a:p>
        </p:txBody>
      </p:sp>
      <p:sp>
        <p:nvSpPr>
          <p:cNvPr id="13" name="Text 11"/>
          <p:cNvSpPr/>
          <p:nvPr/>
        </p:nvSpPr>
        <p:spPr>
          <a:xfrm>
            <a:off x="6428232" y="3008376"/>
            <a:ext cx="4937760" cy="274320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word “appropriate” is not defined in this sentence, and the reuse position fills that gap with the obvious candidate: data that was appropriate for regulatory capital under Basel 2.5 is appropriate now.</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That reading is not unreasonable on this text alone. It fails only once the operative standards in §__.214(b)(2) are read, because those standards define appropriateness by reference to what the data must let the model do — capture idiosyncratic and systematic risk, reflect volatility and correlation, and represent the stress period — rather than by reference to its provenance or prior use.</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Expect this argument. It is answered by the next four slides, not by this one.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FACT 2  ·  THE OPERATIVE STANDARDS</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The six data standards, in full — (i) to (iii)</a:t>
            </a:r>
            <a:endParaRPr lang="en-US" sz="2500" dirty="0"/>
          </a:p>
        </p:txBody>
      </p:sp>
      <p:sp>
        <p:nvSpPr>
          <p:cNvPr id="4" name="Text 2"/>
          <p:cNvSpPr/>
          <p:nvPr/>
        </p:nvSpPr>
        <p:spPr>
          <a:xfrm>
            <a:off x="548640" y="1033272"/>
            <a:ext cx="11064240" cy="310896"/>
          </a:xfrm>
          <a:prstGeom prst="rect">
            <a:avLst/>
          </a:prstGeom>
          <a:noFill/>
          <a:ln/>
        </p:spPr>
        <p:txBody>
          <a:bodyPr wrap="square" lIns="0" tIns="0" rIns="0" bIns="0" rtlCol="0" anchor="t"/>
          <a:lstStyle/>
          <a:p>
            <a:pPr indent="0" marL="0">
              <a:buNone/>
            </a:pPr>
            <a:r>
              <a:rPr lang="en-US" sz="1200" dirty="0">
                <a:solidFill>
                  <a:srgbClr val="3F4A5A"/>
                </a:solidFill>
                <a:latin typeface="Calibri" pitchFamily="34" charset="0"/>
                <a:ea typeface="Calibri" pitchFamily="34" charset="-122"/>
                <a:cs typeface="Calibri" pitchFamily="34" charset="-120"/>
              </a:rPr>
              <a:t>§__.214(b)(2). These govern the data used to calculate the ES-based measure. They are not conditioned on the outcome of the Risk Factor Eligibility Test.</a:t>
            </a:r>
            <a:endParaRPr lang="en-US" sz="1200" dirty="0"/>
          </a:p>
        </p:txBody>
      </p:sp>
      <p:sp>
        <p:nvSpPr>
          <p:cNvPr id="5" name="Text 3"/>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48640" y="1874520"/>
            <a:ext cx="11064240" cy="1325880"/>
          </a:xfrm>
          <a:prstGeom prst="roundRect">
            <a:avLst>
              <a:gd name="adj" fmla="val 3448"/>
            </a:avLst>
          </a:prstGeom>
          <a:solidFill>
            <a:srgbClr val="FFFFFF"/>
          </a:solidFill>
          <a:ln w="9525">
            <a:solidFill>
              <a:srgbClr val="D9D5CC"/>
            </a:solidFill>
            <a:prstDash val="solid"/>
          </a:ln>
        </p:spPr>
      </p:sp>
      <p:sp>
        <p:nvSpPr>
          <p:cNvPr id="7" name="Text 5"/>
          <p:cNvSpPr/>
          <p:nvPr/>
        </p:nvSpPr>
        <p:spPr>
          <a:xfrm>
            <a:off x="777240" y="2039112"/>
            <a:ext cx="548640" cy="274320"/>
          </a:xfrm>
          <a:prstGeom prst="rect">
            <a:avLst/>
          </a:prstGeom>
          <a:noFill/>
          <a:ln/>
        </p:spPr>
        <p:txBody>
          <a:bodyPr wrap="square" lIns="0" tIns="0" rIns="0" bIns="0" rtlCol="0" anchor="ctr"/>
          <a:lstStyle/>
          <a:p>
            <a:pPr indent="0" marL="0">
              <a:buNone/>
            </a:pPr>
            <a:r>
              <a:rPr lang="en-US" sz="1400" b="1" dirty="0">
                <a:solidFill>
                  <a:srgbClr val="9A7212"/>
                </a:solidFill>
                <a:latin typeface="Cambria" pitchFamily="34" charset="0"/>
                <a:ea typeface="Cambria" pitchFamily="34" charset="-122"/>
                <a:cs typeface="Cambria" pitchFamily="34" charset="-120"/>
              </a:rPr>
              <a:t>(i)</a:t>
            </a:r>
            <a:endParaRPr lang="en-US" sz="1400" dirty="0"/>
          </a:p>
        </p:txBody>
      </p:sp>
      <p:sp>
        <p:nvSpPr>
          <p:cNvPr id="8" name="Text 6"/>
          <p:cNvSpPr/>
          <p:nvPr/>
        </p:nvSpPr>
        <p:spPr>
          <a:xfrm>
            <a:off x="1371600" y="2020824"/>
            <a:ext cx="5120640" cy="1051560"/>
          </a:xfrm>
          <a:prstGeom prst="rect">
            <a:avLst/>
          </a:prstGeom>
          <a:noFill/>
          <a:ln/>
        </p:spPr>
        <p:txBody>
          <a:bodyPr wrap="square" lIns="0" tIns="0" rIns="0" bIns="0" rtlCol="0" anchor="t"/>
          <a:lstStyle/>
          <a:p>
            <a:pPr indent="0" marL="0">
              <a:lnSpc>
                <a:spcPts val="1500"/>
              </a:lnSpc>
              <a:buNone/>
            </a:pPr>
            <a:r>
              <a:rPr lang="en-US" sz="1050" dirty="0">
                <a:solidFill>
                  <a:srgbClr val="1B2A4A"/>
                </a:solidFill>
                <a:latin typeface="Calibri" pitchFamily="34" charset="0"/>
                <a:ea typeface="Calibri" pitchFamily="34" charset="-122"/>
                <a:cs typeface="Calibri" pitchFamily="34" charset="-120"/>
              </a:rPr>
              <a:t>“The data must allow the internal models used to calculate the ES-based measure to capture both idiosyncratic risk and systematic risk, if applicable.”</a:t>
            </a:r>
            <a:endParaRPr lang="en-US" sz="1050" dirty="0"/>
          </a:p>
        </p:txBody>
      </p:sp>
      <p:sp>
        <p:nvSpPr>
          <p:cNvPr id="9" name="Text 7"/>
          <p:cNvSpPr/>
          <p:nvPr/>
        </p:nvSpPr>
        <p:spPr>
          <a:xfrm>
            <a:off x="6720840" y="2020824"/>
            <a:ext cx="4663440" cy="1051560"/>
          </a:xfrm>
          <a:prstGeom prst="rect">
            <a:avLst/>
          </a:prstGeom>
          <a:noFill/>
          <a:ln/>
        </p:spPr>
        <p:txBody>
          <a:bodyPr wrap="square" lIns="0" tIns="0" rIns="0" bIns="0" rtlCol="0" anchor="t"/>
          <a:lstStyle/>
          <a:p>
            <a:pPr indent="0" marL="0">
              <a:lnSpc>
                <a:spcPts val="1500"/>
              </a:lnSpc>
              <a:buNone/>
            </a:pPr>
            <a:r>
              <a:rPr lang="en-US" sz="1050" dirty="0">
                <a:solidFill>
                  <a:srgbClr val="3F4A5A"/>
                </a:solidFill>
                <a:latin typeface="Calibri" pitchFamily="34" charset="0"/>
                <a:ea typeface="Calibri" pitchFamily="34" charset="-122"/>
                <a:cs typeface="Calibri" pitchFamily="34" charset="-120"/>
              </a:rPr>
              <a:t>Both components must be present in the data. Basel Principle 2 adds the consequence: where the data does not reflect one of them, an NMRF charge applies to the aspects not adequately captured — the aspect, not necessarily the whole factor.</a:t>
            </a:r>
            <a:endParaRPr lang="en-US" sz="1050" dirty="0"/>
          </a:p>
        </p:txBody>
      </p:sp>
      <p:sp>
        <p:nvSpPr>
          <p:cNvPr id="10" name="Shape 8"/>
          <p:cNvSpPr/>
          <p:nvPr/>
        </p:nvSpPr>
        <p:spPr>
          <a:xfrm>
            <a:off x="548640" y="3337560"/>
            <a:ext cx="11064240" cy="1325880"/>
          </a:xfrm>
          <a:prstGeom prst="roundRect">
            <a:avLst>
              <a:gd name="adj" fmla="val 3448"/>
            </a:avLst>
          </a:prstGeom>
          <a:solidFill>
            <a:srgbClr val="FFFFFF"/>
          </a:solidFill>
          <a:ln w="9525">
            <a:solidFill>
              <a:srgbClr val="D9D5CC"/>
            </a:solidFill>
            <a:prstDash val="solid"/>
          </a:ln>
        </p:spPr>
      </p:sp>
      <p:sp>
        <p:nvSpPr>
          <p:cNvPr id="11" name="Text 9"/>
          <p:cNvSpPr/>
          <p:nvPr/>
        </p:nvSpPr>
        <p:spPr>
          <a:xfrm>
            <a:off x="777240" y="3502152"/>
            <a:ext cx="548640" cy="274320"/>
          </a:xfrm>
          <a:prstGeom prst="rect">
            <a:avLst/>
          </a:prstGeom>
          <a:noFill/>
          <a:ln/>
        </p:spPr>
        <p:txBody>
          <a:bodyPr wrap="square" lIns="0" tIns="0" rIns="0" bIns="0" rtlCol="0" anchor="ctr"/>
          <a:lstStyle/>
          <a:p>
            <a:pPr indent="0" marL="0">
              <a:buNone/>
            </a:pPr>
            <a:r>
              <a:rPr lang="en-US" sz="1400" b="1" dirty="0">
                <a:solidFill>
                  <a:srgbClr val="9A7212"/>
                </a:solidFill>
                <a:latin typeface="Cambria" pitchFamily="34" charset="0"/>
                <a:ea typeface="Cambria" pitchFamily="34" charset="-122"/>
                <a:cs typeface="Cambria" pitchFamily="34" charset="-120"/>
              </a:rPr>
              <a:t>(ii)</a:t>
            </a:r>
            <a:endParaRPr lang="en-US" sz="1400" dirty="0"/>
          </a:p>
        </p:txBody>
      </p:sp>
      <p:sp>
        <p:nvSpPr>
          <p:cNvPr id="12" name="Text 10"/>
          <p:cNvSpPr/>
          <p:nvPr/>
        </p:nvSpPr>
        <p:spPr>
          <a:xfrm>
            <a:off x="1371600" y="3483864"/>
            <a:ext cx="5120640" cy="1051560"/>
          </a:xfrm>
          <a:prstGeom prst="rect">
            <a:avLst/>
          </a:prstGeom>
          <a:noFill/>
          <a:ln/>
        </p:spPr>
        <p:txBody>
          <a:bodyPr wrap="square" lIns="0" tIns="0" rIns="0" bIns="0" rtlCol="0" anchor="t"/>
          <a:lstStyle/>
          <a:p>
            <a:pPr indent="0" marL="0">
              <a:lnSpc>
                <a:spcPts val="1500"/>
              </a:lnSpc>
              <a:buNone/>
            </a:pPr>
            <a:r>
              <a:rPr lang="en-US" sz="1050" dirty="0">
                <a:solidFill>
                  <a:srgbClr val="1B2A4A"/>
                </a:solidFill>
                <a:latin typeface="Calibri" pitchFamily="34" charset="0"/>
                <a:ea typeface="Calibri" pitchFamily="34" charset="-122"/>
                <a:cs typeface="Calibri" pitchFamily="34" charset="-120"/>
              </a:rPr>
              <a:t>“The data must allow the internal models used to calculate the ES-based measure to reflect volatility and correlation of risk factors of market risk covered positions.”</a:t>
            </a:r>
            <a:endParaRPr lang="en-US" sz="1050" dirty="0"/>
          </a:p>
        </p:txBody>
      </p:sp>
      <p:sp>
        <p:nvSpPr>
          <p:cNvPr id="13" name="Text 11"/>
          <p:cNvSpPr/>
          <p:nvPr/>
        </p:nvSpPr>
        <p:spPr>
          <a:xfrm>
            <a:off x="6720840" y="3483864"/>
            <a:ext cx="4663440" cy="1051560"/>
          </a:xfrm>
          <a:prstGeom prst="rect">
            <a:avLst/>
          </a:prstGeom>
          <a:noFill/>
          <a:ln/>
        </p:spPr>
        <p:txBody>
          <a:bodyPr wrap="square" lIns="0" tIns="0" rIns="0" bIns="0" rtlCol="0" anchor="t"/>
          <a:lstStyle/>
          <a:p>
            <a:pPr indent="0" marL="0">
              <a:lnSpc>
                <a:spcPts val="1500"/>
              </a:lnSpc>
              <a:buNone/>
            </a:pPr>
            <a:r>
              <a:rPr lang="en-US" sz="1050" dirty="0">
                <a:solidFill>
                  <a:srgbClr val="3F4A5A"/>
                </a:solidFill>
                <a:latin typeface="Calibri" pitchFamily="34" charset="0"/>
                <a:ea typeface="Calibri" pitchFamily="34" charset="-122"/>
                <a:cs typeface="Calibri" pitchFamily="34" charset="-120"/>
              </a:rPr>
              <a:t>Two moments, not one. Matching the volatility level of a risk factor does not satisfy this standard if the correlation structure between factors is not also reflected. Basel Principle 3 develops it considerably; see slide 10.</a:t>
            </a:r>
            <a:endParaRPr lang="en-US" sz="1050" dirty="0"/>
          </a:p>
        </p:txBody>
      </p:sp>
      <p:sp>
        <p:nvSpPr>
          <p:cNvPr id="14" name="Shape 12"/>
          <p:cNvSpPr/>
          <p:nvPr/>
        </p:nvSpPr>
        <p:spPr>
          <a:xfrm>
            <a:off x="548640" y="4800600"/>
            <a:ext cx="11064240" cy="1325880"/>
          </a:xfrm>
          <a:prstGeom prst="roundRect">
            <a:avLst>
              <a:gd name="adj" fmla="val 3448"/>
            </a:avLst>
          </a:prstGeom>
          <a:solidFill>
            <a:srgbClr val="FFFFFF"/>
          </a:solidFill>
          <a:ln w="9525">
            <a:solidFill>
              <a:srgbClr val="D9D5CC"/>
            </a:solidFill>
            <a:prstDash val="solid"/>
          </a:ln>
        </p:spPr>
      </p:sp>
      <p:sp>
        <p:nvSpPr>
          <p:cNvPr id="15" name="Text 13"/>
          <p:cNvSpPr/>
          <p:nvPr/>
        </p:nvSpPr>
        <p:spPr>
          <a:xfrm>
            <a:off x="777240" y="4965192"/>
            <a:ext cx="548640" cy="274320"/>
          </a:xfrm>
          <a:prstGeom prst="rect">
            <a:avLst/>
          </a:prstGeom>
          <a:noFill/>
          <a:ln/>
        </p:spPr>
        <p:txBody>
          <a:bodyPr wrap="square" lIns="0" tIns="0" rIns="0" bIns="0" rtlCol="0" anchor="ctr"/>
          <a:lstStyle/>
          <a:p>
            <a:pPr indent="0" marL="0">
              <a:buNone/>
            </a:pPr>
            <a:r>
              <a:rPr lang="en-US" sz="1400" b="1" dirty="0">
                <a:solidFill>
                  <a:srgbClr val="9A7212"/>
                </a:solidFill>
                <a:latin typeface="Cambria" pitchFamily="34" charset="0"/>
                <a:ea typeface="Cambria" pitchFamily="34" charset="-122"/>
                <a:cs typeface="Cambria" pitchFamily="34" charset="-120"/>
              </a:rPr>
              <a:t>(iii)</a:t>
            </a:r>
            <a:endParaRPr lang="en-US" sz="1400" dirty="0"/>
          </a:p>
        </p:txBody>
      </p:sp>
      <p:sp>
        <p:nvSpPr>
          <p:cNvPr id="16" name="Text 14"/>
          <p:cNvSpPr/>
          <p:nvPr/>
        </p:nvSpPr>
        <p:spPr>
          <a:xfrm>
            <a:off x="1371600" y="4946904"/>
            <a:ext cx="5120640" cy="1051560"/>
          </a:xfrm>
          <a:prstGeom prst="rect">
            <a:avLst/>
          </a:prstGeom>
          <a:noFill/>
          <a:ln/>
        </p:spPr>
        <p:txBody>
          <a:bodyPr wrap="square" lIns="0" tIns="0" rIns="0" bIns="0" rtlCol="0" anchor="t"/>
          <a:lstStyle/>
          <a:p>
            <a:pPr indent="0" marL="0">
              <a:lnSpc>
                <a:spcPts val="1500"/>
              </a:lnSpc>
              <a:buNone/>
            </a:pPr>
            <a:r>
              <a:rPr lang="en-US" sz="1050" dirty="0">
                <a:solidFill>
                  <a:srgbClr val="1B2A4A"/>
                </a:solidFill>
                <a:latin typeface="Calibri" pitchFamily="34" charset="0"/>
                <a:ea typeface="Calibri" pitchFamily="34" charset="-122"/>
                <a:cs typeface="Calibri" pitchFamily="34" charset="-120"/>
              </a:rPr>
              <a:t>“The data must be reflective of prices observed or quoted in the market. Where data used are not derived from real price observations, the [BANKING ORGANIZATION] must be able to demonstrate that the data used are reasonably representative of real price observations.”</a:t>
            </a:r>
            <a:endParaRPr lang="en-US" sz="1050" dirty="0"/>
          </a:p>
        </p:txBody>
      </p:sp>
      <p:sp>
        <p:nvSpPr>
          <p:cNvPr id="17" name="Text 15"/>
          <p:cNvSpPr/>
          <p:nvPr/>
        </p:nvSpPr>
        <p:spPr>
          <a:xfrm>
            <a:off x="6720840" y="4946904"/>
            <a:ext cx="4663440" cy="1051560"/>
          </a:xfrm>
          <a:prstGeom prst="rect">
            <a:avLst/>
          </a:prstGeom>
          <a:noFill/>
          <a:ln/>
        </p:spPr>
        <p:txBody>
          <a:bodyPr wrap="square" lIns="0" tIns="0" rIns="0" bIns="0" rtlCol="0" anchor="t"/>
          <a:lstStyle/>
          <a:p>
            <a:pPr indent="0" marL="0">
              <a:lnSpc>
                <a:spcPts val="1500"/>
              </a:lnSpc>
              <a:buNone/>
            </a:pPr>
            <a:r>
              <a:rPr lang="en-US" sz="1050" dirty="0">
                <a:solidFill>
                  <a:srgbClr val="3F4A5A"/>
                </a:solidFill>
                <a:latin typeface="Calibri" pitchFamily="34" charset="0"/>
                <a:ea typeface="Calibri" pitchFamily="34" charset="-122"/>
                <a:cs typeface="Calibri" pitchFamily="34" charset="-120"/>
              </a:rPr>
              <a:t>This is a standard about lineage rather than about direct observability. Derived quantities are permitted; what is required is the ability to demonstrate that they are reasonably representative of real prices.</a:t>
            </a:r>
            <a:endParaRPr lang="en-US" sz="1050" dirty="0"/>
          </a:p>
        </p:txBody>
      </p:sp>
      <p:sp>
        <p:nvSpPr>
          <p:cNvPr id="18" name="Text 16"/>
          <p:cNvSpPr/>
          <p:nvPr/>
        </p:nvSpPr>
        <p:spPr>
          <a:xfrm>
            <a:off x="548640" y="6309360"/>
            <a:ext cx="10424160" cy="27432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Left column: operative text as drafted. Right column: plain reading.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FACT 2 CONTINUED</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The six data standards, in full — (iv) to (vi)</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548640" y="1170432"/>
            <a:ext cx="11064240" cy="1207008"/>
          </a:xfrm>
          <a:prstGeom prst="roundRect">
            <a:avLst>
              <a:gd name="adj" fmla="val 3788"/>
            </a:avLst>
          </a:prstGeom>
          <a:solidFill>
            <a:srgbClr val="FFFFFF"/>
          </a:solidFill>
          <a:ln w="9525">
            <a:solidFill>
              <a:srgbClr val="D9D5CC"/>
            </a:solidFill>
            <a:prstDash val="solid"/>
          </a:ln>
        </p:spPr>
      </p:sp>
      <p:sp>
        <p:nvSpPr>
          <p:cNvPr id="6" name="Text 4"/>
          <p:cNvSpPr/>
          <p:nvPr/>
        </p:nvSpPr>
        <p:spPr>
          <a:xfrm>
            <a:off x="777240" y="1316736"/>
            <a:ext cx="548640" cy="274320"/>
          </a:xfrm>
          <a:prstGeom prst="rect">
            <a:avLst/>
          </a:prstGeom>
          <a:noFill/>
          <a:ln/>
        </p:spPr>
        <p:txBody>
          <a:bodyPr wrap="square" lIns="0" tIns="0" rIns="0" bIns="0" rtlCol="0" anchor="ctr"/>
          <a:lstStyle/>
          <a:p>
            <a:pPr indent="0" marL="0">
              <a:buNone/>
            </a:pPr>
            <a:r>
              <a:rPr lang="en-US" sz="1400" b="1" dirty="0">
                <a:solidFill>
                  <a:srgbClr val="9A7212"/>
                </a:solidFill>
                <a:latin typeface="Cambria" pitchFamily="34" charset="0"/>
                <a:ea typeface="Cambria" pitchFamily="34" charset="-122"/>
                <a:cs typeface="Cambria" pitchFamily="34" charset="-120"/>
              </a:rPr>
              <a:t>(iv)</a:t>
            </a:r>
            <a:endParaRPr lang="en-US" sz="1400" dirty="0"/>
          </a:p>
        </p:txBody>
      </p:sp>
      <p:sp>
        <p:nvSpPr>
          <p:cNvPr id="7" name="Text 5"/>
          <p:cNvSpPr/>
          <p:nvPr/>
        </p:nvSpPr>
        <p:spPr>
          <a:xfrm>
            <a:off x="1371600" y="1298448"/>
            <a:ext cx="5120640" cy="950976"/>
          </a:xfrm>
          <a:prstGeom prst="rect">
            <a:avLst/>
          </a:prstGeom>
          <a:noFill/>
          <a:ln/>
        </p:spPr>
        <p:txBody>
          <a:bodyPr wrap="square" lIns="0" tIns="0" rIns="0" bIns="0" rtlCol="0" anchor="t"/>
          <a:lstStyle/>
          <a:p>
            <a:pPr indent="0" marL="0">
              <a:lnSpc>
                <a:spcPts val="1300"/>
              </a:lnSpc>
              <a:buNone/>
            </a:pPr>
            <a:r>
              <a:rPr lang="en-US" sz="950" dirty="0">
                <a:solidFill>
                  <a:srgbClr val="1B2A4A"/>
                </a:solidFill>
                <a:latin typeface="Calibri" pitchFamily="34" charset="0"/>
                <a:ea typeface="Calibri" pitchFamily="34" charset="-122"/>
                <a:cs typeface="Calibri" pitchFamily="34" charset="-120"/>
              </a:rPr>
              <a:t>“The data must be updated at a sufficient frequency to adequately reflect the performance of the risk factor, and at a minimum on a weekly basis. Where the [BANKING ORGANIZATION] uses regressions to estimate risk factor parameters, these must be re-estimated on a regular basis. The [BANKING ORGANIZATION] must have clear policies and procedures for backfilling and gap-filling missing data and for updating the sources of data.”</a:t>
            </a:r>
            <a:endParaRPr lang="en-US" sz="950" dirty="0"/>
          </a:p>
        </p:txBody>
      </p:sp>
      <p:sp>
        <p:nvSpPr>
          <p:cNvPr id="8" name="Text 6"/>
          <p:cNvSpPr/>
          <p:nvPr/>
        </p:nvSpPr>
        <p:spPr>
          <a:xfrm>
            <a:off x="6720840" y="1298448"/>
            <a:ext cx="4663440" cy="950976"/>
          </a:xfrm>
          <a:prstGeom prst="rect">
            <a:avLst/>
          </a:prstGeom>
          <a:noFill/>
          <a:ln/>
        </p:spPr>
        <p:txBody>
          <a:bodyPr wrap="square" lIns="0" tIns="0" rIns="0" bIns="0" rtlCol="0" anchor="t"/>
          <a:lstStyle/>
          <a:p>
            <a:pPr indent="0" marL="0">
              <a:lnSpc>
                <a:spcPts val="1350"/>
              </a:lnSpc>
              <a:buNone/>
            </a:pPr>
            <a:r>
              <a:rPr lang="en-US" sz="1000" dirty="0">
                <a:solidFill>
                  <a:srgbClr val="3F4A5A"/>
                </a:solidFill>
                <a:latin typeface="Calibri" pitchFamily="34" charset="0"/>
                <a:ea typeface="Calibri" pitchFamily="34" charset="-122"/>
                <a:cs typeface="Calibri" pitchFamily="34" charset="-120"/>
              </a:rPr>
              <a:t>Note that the US minimum is weekly, where Basel Principle 5 sets monthly. On this standard the US text is the stricter of the two.</a:t>
            </a:r>
            <a:endParaRPr lang="en-US" sz="1000" dirty="0"/>
          </a:p>
          <a:p>
            <a:pPr indent="0" marL="0">
              <a:lnSpc>
                <a:spcPts val="1350"/>
              </a:lnSpc>
              <a:buNone/>
            </a:pPr>
            <a:endParaRPr lang="en-US" sz="1000" dirty="0"/>
          </a:p>
          <a:p>
            <a:pPr indent="0" marL="0">
              <a:lnSpc>
                <a:spcPts val="1350"/>
              </a:lnSpc>
              <a:buNone/>
            </a:pPr>
            <a:r>
              <a:rPr lang="en-US" sz="1000" dirty="0">
                <a:solidFill>
                  <a:srgbClr val="3F4A5A"/>
                </a:solidFill>
                <a:latin typeface="Calibri" pitchFamily="34" charset="0"/>
                <a:ea typeface="Calibri" pitchFamily="34" charset="-122"/>
                <a:cs typeface="Calibri" pitchFamily="34" charset="-120"/>
              </a:rPr>
              <a:t>This is a governance and lineage requirement rather than an argument for rebuilding history. Where it bites on legacy data is on the documentation of gap-filling methods and source changes over time.</a:t>
            </a:r>
            <a:endParaRPr lang="en-US" sz="1000" dirty="0"/>
          </a:p>
        </p:txBody>
      </p:sp>
      <p:sp>
        <p:nvSpPr>
          <p:cNvPr id="9" name="Shape 7"/>
          <p:cNvSpPr/>
          <p:nvPr/>
        </p:nvSpPr>
        <p:spPr>
          <a:xfrm>
            <a:off x="548640" y="2505456"/>
            <a:ext cx="11064240" cy="1755648"/>
          </a:xfrm>
          <a:prstGeom prst="roundRect">
            <a:avLst>
              <a:gd name="adj" fmla="val 2604"/>
            </a:avLst>
          </a:prstGeom>
          <a:solidFill>
            <a:srgbClr val="FFFFFF"/>
          </a:solidFill>
          <a:ln w="9525">
            <a:solidFill>
              <a:srgbClr val="D9D5CC"/>
            </a:solidFill>
            <a:prstDash val="solid"/>
          </a:ln>
        </p:spPr>
      </p:sp>
      <p:sp>
        <p:nvSpPr>
          <p:cNvPr id="10" name="Text 8"/>
          <p:cNvSpPr/>
          <p:nvPr/>
        </p:nvSpPr>
        <p:spPr>
          <a:xfrm>
            <a:off x="777240" y="2651760"/>
            <a:ext cx="548640" cy="274320"/>
          </a:xfrm>
          <a:prstGeom prst="rect">
            <a:avLst/>
          </a:prstGeom>
          <a:noFill/>
          <a:ln/>
        </p:spPr>
        <p:txBody>
          <a:bodyPr wrap="square" lIns="0" tIns="0" rIns="0" bIns="0" rtlCol="0" anchor="ctr"/>
          <a:lstStyle/>
          <a:p>
            <a:pPr indent="0" marL="0">
              <a:buNone/>
            </a:pPr>
            <a:r>
              <a:rPr lang="en-US" sz="1400" b="1" dirty="0">
                <a:solidFill>
                  <a:srgbClr val="9A7212"/>
                </a:solidFill>
                <a:latin typeface="Cambria" pitchFamily="34" charset="0"/>
                <a:ea typeface="Cambria" pitchFamily="34" charset="-122"/>
                <a:cs typeface="Cambria" pitchFamily="34" charset="-120"/>
              </a:rPr>
              <a:t>(v)</a:t>
            </a:r>
            <a:endParaRPr lang="en-US" sz="1400" dirty="0"/>
          </a:p>
        </p:txBody>
      </p:sp>
      <p:sp>
        <p:nvSpPr>
          <p:cNvPr id="11" name="Text 9"/>
          <p:cNvSpPr/>
          <p:nvPr/>
        </p:nvSpPr>
        <p:spPr>
          <a:xfrm>
            <a:off x="1371600" y="2633472"/>
            <a:ext cx="5120640" cy="1499616"/>
          </a:xfrm>
          <a:prstGeom prst="rect">
            <a:avLst/>
          </a:prstGeom>
          <a:noFill/>
          <a:ln/>
        </p:spPr>
        <p:txBody>
          <a:bodyPr wrap="square" lIns="0" tIns="0" rIns="0" bIns="0" rtlCol="0" anchor="t"/>
          <a:lstStyle/>
          <a:p>
            <a:pPr indent="0" marL="0">
              <a:lnSpc>
                <a:spcPts val="1300"/>
              </a:lnSpc>
              <a:buNone/>
            </a:pPr>
            <a:r>
              <a:rPr lang="en-US" sz="950" dirty="0">
                <a:solidFill>
                  <a:srgbClr val="1B2A4A"/>
                </a:solidFill>
                <a:latin typeface="Calibri" pitchFamily="34" charset="0"/>
                <a:ea typeface="Calibri" pitchFamily="34" charset="-122"/>
                <a:cs typeface="Calibri" pitchFamily="34" charset="-120"/>
              </a:rPr>
              <a:t>“The data to determine the liquidity horizon-adjusted ES-based measure must be reflective of market prices observed or quoted in the period of stress specified in §__.215(b)(5). The data should be sourced directly from the historical period whenever possible. The [BANKING ORGANIZATION] must empirically justify any instances where the market prices used in the period of stress are different from the market prices actually observed during that period. In cases where market risk covered positions that are currently traded did not exist during a period of significant financial stress, the [BANKING ORGANIZATION] must demonstrate that the prices used match changes in prices or spreads of similar instruments during the stress period.”</a:t>
            </a:r>
            <a:endParaRPr lang="en-US" sz="950" dirty="0"/>
          </a:p>
        </p:txBody>
      </p:sp>
      <p:sp>
        <p:nvSpPr>
          <p:cNvPr id="12" name="Text 10"/>
          <p:cNvSpPr/>
          <p:nvPr/>
        </p:nvSpPr>
        <p:spPr>
          <a:xfrm>
            <a:off x="6720840" y="2633472"/>
            <a:ext cx="4663440" cy="1499616"/>
          </a:xfrm>
          <a:prstGeom prst="rect">
            <a:avLst/>
          </a:prstGeom>
          <a:noFill/>
          <a:ln/>
        </p:spPr>
        <p:txBody>
          <a:bodyPr wrap="square" lIns="0" tIns="0" rIns="0" bIns="0" rtlCol="0" anchor="t"/>
          <a:lstStyle/>
          <a:p>
            <a:pPr indent="0" marL="0">
              <a:lnSpc>
                <a:spcPts val="1350"/>
              </a:lnSpc>
              <a:buNone/>
            </a:pPr>
            <a:r>
              <a:rPr lang="en-US" sz="1000" dirty="0">
                <a:solidFill>
                  <a:srgbClr val="3F4A5A"/>
                </a:solidFill>
                <a:latin typeface="Calibri" pitchFamily="34" charset="0"/>
                <a:ea typeface="Calibri" pitchFamily="34" charset="-122"/>
                <a:cs typeface="Calibri" pitchFamily="34" charset="-120"/>
              </a:rPr>
              <a:t>Four separate obligations in one paragraph: the data must be reflective of stress-period prices; it should be sourced directly from that period wherever possible; any deviation must be empirically justified; and where the instrument did not exist, its prices must be shown to match those of similar instruments that did trade.</a:t>
            </a:r>
            <a:endParaRPr lang="en-US" sz="1000" dirty="0"/>
          </a:p>
          <a:p>
            <a:pPr indent="0" marL="0">
              <a:lnSpc>
                <a:spcPts val="1350"/>
              </a:lnSpc>
              <a:buNone/>
            </a:pPr>
            <a:endParaRPr lang="en-US" sz="1000" dirty="0"/>
          </a:p>
          <a:p>
            <a:pPr indent="0" marL="0">
              <a:lnSpc>
                <a:spcPts val="1350"/>
              </a:lnSpc>
              <a:buNone/>
            </a:pPr>
            <a:r>
              <a:rPr lang="en-US" sz="1000" dirty="0">
                <a:solidFill>
                  <a:srgbClr val="3F4A5A"/>
                </a:solidFill>
                <a:latin typeface="Calibri" pitchFamily="34" charset="0"/>
                <a:ea typeface="Calibri" pitchFamily="34" charset="-122"/>
                <a:cs typeface="Calibri" pitchFamily="34" charset="-120"/>
              </a:rPr>
              <a:t>This is the cornerstone provision. Slide 11 sets it out in full.</a:t>
            </a:r>
            <a:endParaRPr lang="en-US" sz="1000" dirty="0"/>
          </a:p>
        </p:txBody>
      </p:sp>
      <p:sp>
        <p:nvSpPr>
          <p:cNvPr id="13" name="Shape 11"/>
          <p:cNvSpPr/>
          <p:nvPr/>
        </p:nvSpPr>
        <p:spPr>
          <a:xfrm>
            <a:off x="548640" y="4389120"/>
            <a:ext cx="11064240" cy="1554480"/>
          </a:xfrm>
          <a:prstGeom prst="roundRect">
            <a:avLst>
              <a:gd name="adj" fmla="val 2941"/>
            </a:avLst>
          </a:prstGeom>
          <a:solidFill>
            <a:srgbClr val="FFFFFF"/>
          </a:solidFill>
          <a:ln w="9525">
            <a:solidFill>
              <a:srgbClr val="D9D5CC"/>
            </a:solidFill>
            <a:prstDash val="solid"/>
          </a:ln>
        </p:spPr>
      </p:sp>
      <p:sp>
        <p:nvSpPr>
          <p:cNvPr id="14" name="Text 12"/>
          <p:cNvSpPr/>
          <p:nvPr/>
        </p:nvSpPr>
        <p:spPr>
          <a:xfrm>
            <a:off x="777240" y="4535424"/>
            <a:ext cx="548640" cy="274320"/>
          </a:xfrm>
          <a:prstGeom prst="rect">
            <a:avLst/>
          </a:prstGeom>
          <a:noFill/>
          <a:ln/>
        </p:spPr>
        <p:txBody>
          <a:bodyPr wrap="square" lIns="0" tIns="0" rIns="0" bIns="0" rtlCol="0" anchor="ctr"/>
          <a:lstStyle/>
          <a:p>
            <a:pPr indent="0" marL="0">
              <a:buNone/>
            </a:pPr>
            <a:r>
              <a:rPr lang="en-US" sz="1400" b="1" dirty="0">
                <a:solidFill>
                  <a:srgbClr val="9A7212"/>
                </a:solidFill>
                <a:latin typeface="Cambria" pitchFamily="34" charset="0"/>
                <a:ea typeface="Cambria" pitchFamily="34" charset="-122"/>
                <a:cs typeface="Cambria" pitchFamily="34" charset="-120"/>
              </a:rPr>
              <a:t>(vi)</a:t>
            </a:r>
            <a:endParaRPr lang="en-US" sz="1400" dirty="0"/>
          </a:p>
        </p:txBody>
      </p:sp>
      <p:sp>
        <p:nvSpPr>
          <p:cNvPr id="15" name="Text 13"/>
          <p:cNvSpPr/>
          <p:nvPr/>
        </p:nvSpPr>
        <p:spPr>
          <a:xfrm>
            <a:off x="1371600" y="4517136"/>
            <a:ext cx="5120640" cy="1298448"/>
          </a:xfrm>
          <a:prstGeom prst="rect">
            <a:avLst/>
          </a:prstGeom>
          <a:noFill/>
          <a:ln/>
        </p:spPr>
        <p:txBody>
          <a:bodyPr wrap="square" lIns="0" tIns="0" rIns="0" bIns="0" rtlCol="0" anchor="t"/>
          <a:lstStyle/>
          <a:p>
            <a:pPr indent="0" marL="0">
              <a:lnSpc>
                <a:spcPts val="1300"/>
              </a:lnSpc>
              <a:buNone/>
            </a:pPr>
            <a:r>
              <a:rPr lang="en-US" sz="950" dirty="0">
                <a:solidFill>
                  <a:srgbClr val="1B2A4A"/>
                </a:solidFill>
                <a:latin typeface="Calibri" pitchFamily="34" charset="0"/>
                <a:ea typeface="Calibri" pitchFamily="34" charset="-122"/>
                <a:cs typeface="Calibri" pitchFamily="34" charset="-120"/>
              </a:rPr>
              <a:t>“The data may include proxies provided the [BANKING ORGANIZATION] can demonstrate to the satisfaction of the [AGENCY] that the proxies are appropriate and that the following standards are satisfied: (A) There is sufficient evidence demonstrating the appropriateness of the proxies, such as an appropriate track record for their representation of a market risk covered position; (B) The proxies have sufficiently similar characteristics to the transactions they represent in terms of volatility level and correlations; and (C) The proxies are appropriate for the region, credit spread, quality and type of instrument they are intended to represent.”</a:t>
            </a:r>
            <a:endParaRPr lang="en-US" sz="950" dirty="0"/>
          </a:p>
        </p:txBody>
      </p:sp>
      <p:sp>
        <p:nvSpPr>
          <p:cNvPr id="16" name="Text 14"/>
          <p:cNvSpPr/>
          <p:nvPr/>
        </p:nvSpPr>
        <p:spPr>
          <a:xfrm>
            <a:off x="6720840" y="4517136"/>
            <a:ext cx="4663440" cy="1298448"/>
          </a:xfrm>
          <a:prstGeom prst="rect">
            <a:avLst/>
          </a:prstGeom>
          <a:noFill/>
          <a:ln/>
        </p:spPr>
        <p:txBody>
          <a:bodyPr wrap="square" lIns="0" tIns="0" rIns="0" bIns="0" rtlCol="0" anchor="t"/>
          <a:lstStyle/>
          <a:p>
            <a:pPr indent="0" marL="0">
              <a:lnSpc>
                <a:spcPts val="1350"/>
              </a:lnSpc>
              <a:buNone/>
            </a:pPr>
            <a:r>
              <a:rPr lang="en-US" sz="1000" dirty="0">
                <a:solidFill>
                  <a:srgbClr val="3F4A5A"/>
                </a:solidFill>
                <a:latin typeface="Calibri" pitchFamily="34" charset="0"/>
                <a:ea typeface="Calibri" pitchFamily="34" charset="-122"/>
                <a:cs typeface="Calibri" pitchFamily="34" charset="-120"/>
              </a:rPr>
              <a:t>Proxies are expressly permitted. The permission is conditioned on three demonstrations, each of which is a comparison between the proxy and the thing it represents.</a:t>
            </a:r>
            <a:endParaRPr lang="en-US" sz="1000" dirty="0"/>
          </a:p>
          <a:p>
            <a:pPr indent="0" marL="0">
              <a:lnSpc>
                <a:spcPts val="1350"/>
              </a:lnSpc>
              <a:buNone/>
            </a:pPr>
            <a:endParaRPr lang="en-US" sz="1000" dirty="0"/>
          </a:p>
          <a:p>
            <a:pPr indent="0" marL="0">
              <a:lnSpc>
                <a:spcPts val="1350"/>
              </a:lnSpc>
              <a:buNone/>
            </a:pPr>
            <a:r>
              <a:rPr lang="en-US" sz="1000" dirty="0">
                <a:solidFill>
                  <a:srgbClr val="3F4A5A"/>
                </a:solidFill>
                <a:latin typeface="Calibri" pitchFamily="34" charset="0"/>
                <a:ea typeface="Calibri" pitchFamily="34" charset="-122"/>
                <a:cs typeface="Calibri" pitchFamily="34" charset="-120"/>
              </a:rPr>
              <a:t>Slide 12 sets out why that comparative structure is the operative constraint.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FACT 2 CONTINUED</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Who the standards apply to, and who decides</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48640" y="1280160"/>
            <a:ext cx="5440680" cy="2286000"/>
          </a:xfrm>
          <a:prstGeom prst="roundRect">
            <a:avLst>
              <a:gd name="adj" fmla="val 2000"/>
            </a:avLst>
          </a:prstGeom>
          <a:solidFill>
            <a:srgbClr val="FFFFFF"/>
          </a:solidFill>
          <a:ln w="9525">
            <a:solidFill>
              <a:srgbClr val="D9D5CC"/>
            </a:solidFill>
            <a:prstDash val="solid"/>
          </a:ln>
        </p:spPr>
      </p:sp>
      <p:sp>
        <p:nvSpPr>
          <p:cNvPr id="6" name="Text 4"/>
          <p:cNvSpPr/>
          <p:nvPr/>
        </p:nvSpPr>
        <p:spPr>
          <a:xfrm>
            <a:off x="804672" y="142646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THESE ARE ES DATA STANDARDS, NOT RFET CRITERIA</a:t>
            </a:r>
            <a:endParaRPr lang="en-US" sz="900" dirty="0"/>
          </a:p>
        </p:txBody>
      </p:sp>
      <p:sp>
        <p:nvSpPr>
          <p:cNvPr id="7" name="Text 5"/>
          <p:cNvSpPr/>
          <p:nvPr/>
        </p:nvSpPr>
        <p:spPr>
          <a:xfrm>
            <a:off x="804672" y="1682496"/>
            <a:ext cx="4937760" cy="178308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The six standards sit in §__.214(b)(2), which governs the data used to calculate the ES-based measure. The Risk Factor Eligibility Test sits in §__.215. The cross-reference in standard (v) — to “the period of stress specified in §__.215(b)(5)” — confirms that the two provisions are distinct.</a:t>
            </a:r>
            <a:endParaRPr lang="en-US" sz="1100" dirty="0"/>
          </a:p>
          <a:p>
            <a:pPr indent="0" marL="0">
              <a:lnSpc>
                <a:spcPts val="1500"/>
              </a:lnSpc>
              <a:buNone/>
            </a:pPr>
            <a:endParaRPr lang="en-US" sz="1100" dirty="0"/>
          </a:p>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The consequence is that these standards apply to the data behind every risk factor in the model, including modellable ones. A risk factor that has passed RFET remains subject to all six. Eligibility and data quality are separate gates, and clearing the first says nothing about the second.</a:t>
            </a:r>
            <a:endParaRPr lang="en-US" sz="1100" dirty="0"/>
          </a:p>
        </p:txBody>
      </p:sp>
      <p:sp>
        <p:nvSpPr>
          <p:cNvPr id="8" name="Shape 6"/>
          <p:cNvSpPr/>
          <p:nvPr/>
        </p:nvSpPr>
        <p:spPr>
          <a:xfrm>
            <a:off x="6172200" y="1280160"/>
            <a:ext cx="5440680" cy="2286000"/>
          </a:xfrm>
          <a:prstGeom prst="roundRect">
            <a:avLst>
              <a:gd name="adj" fmla="val 2000"/>
            </a:avLst>
          </a:prstGeom>
          <a:solidFill>
            <a:srgbClr val="F7F5F1"/>
          </a:solidFill>
          <a:ln w="9525">
            <a:solidFill>
              <a:srgbClr val="D9D5CC"/>
            </a:solidFill>
            <a:prstDash val="solid"/>
          </a:ln>
        </p:spPr>
      </p:sp>
      <p:sp>
        <p:nvSpPr>
          <p:cNvPr id="9" name="Text 7"/>
          <p:cNvSpPr/>
          <p:nvPr/>
        </p:nvSpPr>
        <p:spPr>
          <a:xfrm>
            <a:off x="6428232" y="142646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COMPLIANCE IS NOT SELF-CERTIFIED</a:t>
            </a:r>
            <a:endParaRPr lang="en-US" sz="900" dirty="0"/>
          </a:p>
        </p:txBody>
      </p:sp>
      <p:sp>
        <p:nvSpPr>
          <p:cNvPr id="10" name="Text 8"/>
          <p:cNvSpPr/>
          <p:nvPr/>
        </p:nvSpPr>
        <p:spPr>
          <a:xfrm>
            <a:off x="6428232" y="1682496"/>
            <a:ext cx="4937760" cy="1783080"/>
          </a:xfrm>
          <a:prstGeom prst="rect">
            <a:avLst/>
          </a:prstGeom>
          <a:noFill/>
          <a:ln/>
        </p:spPr>
        <p:txBody>
          <a:bodyPr wrap="square" lIns="0" tIns="0" rIns="0" bIns="0" rtlCol="0" anchor="t"/>
          <a:lstStyle/>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The data must satisfy each applicable standard. Separately, the supervisor retains the power to deem the data unsuitable even where the listed requirements are met.</a:t>
            </a:r>
            <a:endParaRPr lang="en-US" sz="1100" dirty="0"/>
          </a:p>
          <a:p>
            <a:pPr indent="0" marL="0">
              <a:lnSpc>
                <a:spcPts val="1500"/>
              </a:lnSpc>
              <a:buNone/>
            </a:pPr>
            <a:endParaRPr lang="en-US" sz="1100" dirty="0"/>
          </a:p>
          <a:p>
            <a:pPr indent="0" marL="0">
              <a:lnSpc>
                <a:spcPts val="1500"/>
              </a:lnSpc>
              <a:buNone/>
            </a:pPr>
            <a:r>
              <a:rPr lang="en-US" sz="1100" dirty="0">
                <a:solidFill>
                  <a:srgbClr val="3F4A5A"/>
                </a:solidFill>
                <a:latin typeface="Calibri" pitchFamily="34" charset="0"/>
                <a:ea typeface="Calibri" pitchFamily="34" charset="-122"/>
                <a:cs typeface="Calibri" pitchFamily="34" charset="-120"/>
              </a:rPr>
              <a:t>This is the layer above the six tests, and it changes the risk profile of a decision to retain. An undemonstrated position is not approved — it is unresolved. Resolution arrives at supervisory review, which for a programme on an eighteen-month horizon is late enough that remediation may no longer be available. The cost of being wrong is therefore not the capital difference alone; it is the capital difference plus the loss of time in which to fix it.</a:t>
            </a:r>
            <a:endParaRPr lang="en-US" sz="1100" dirty="0"/>
          </a:p>
        </p:txBody>
      </p:sp>
      <p:sp>
        <p:nvSpPr>
          <p:cNvPr id="11" name="Shape 9"/>
          <p:cNvSpPr/>
          <p:nvPr/>
        </p:nvSpPr>
        <p:spPr>
          <a:xfrm>
            <a:off x="548640" y="3749040"/>
            <a:ext cx="11064240" cy="1965960"/>
          </a:xfrm>
          <a:prstGeom prst="roundRect">
            <a:avLst>
              <a:gd name="adj" fmla="val 2326"/>
            </a:avLst>
          </a:prstGeom>
          <a:solidFill>
            <a:srgbClr val="F5F0E4"/>
          </a:solidFill>
          <a:ln w="9525">
            <a:solidFill>
              <a:srgbClr val="9A7212"/>
            </a:solidFill>
            <a:prstDash val="solid"/>
          </a:ln>
        </p:spPr>
      </p:sp>
      <p:sp>
        <p:nvSpPr>
          <p:cNvPr id="12" name="Text 10"/>
          <p:cNvSpPr/>
          <p:nvPr/>
        </p:nvSpPr>
        <p:spPr>
          <a:xfrm>
            <a:off x="804672" y="3895344"/>
            <a:ext cx="5394960" cy="219456"/>
          </a:xfrm>
          <a:prstGeom prst="rect">
            <a:avLst/>
          </a:prstGeom>
          <a:noFill/>
          <a:ln/>
        </p:spPr>
        <p:txBody>
          <a:bodyPr wrap="square" lIns="0" tIns="0" rIns="0" bIns="0" rtlCol="0" anchor="ctr"/>
          <a:lstStyle/>
          <a:p>
            <a:pPr indent="0" marL="0">
              <a:buNone/>
            </a:pPr>
            <a:r>
              <a:rPr lang="en-US" sz="900" b="1" spc="180" kern="0" dirty="0">
                <a:solidFill>
                  <a:srgbClr val="9A7212"/>
                </a:solidFill>
                <a:latin typeface="Calibri" pitchFamily="34" charset="0"/>
                <a:ea typeface="Calibri" pitchFamily="34" charset="-122"/>
                <a:cs typeface="Calibri" pitchFamily="34" charset="-120"/>
              </a:rPr>
              <a:t>WHERE THE US AND BASEL TEXTS DIFFER — STATE THESE CORRECTLY</a:t>
            </a:r>
            <a:endParaRPr lang="en-US" sz="900" dirty="0"/>
          </a:p>
        </p:txBody>
      </p:sp>
      <p:sp>
        <p:nvSpPr>
          <p:cNvPr id="13" name="Text 11"/>
          <p:cNvSpPr/>
          <p:nvPr/>
        </p:nvSpPr>
        <p:spPr>
          <a:xfrm>
            <a:off x="804672" y="4151376"/>
            <a:ext cx="10515600" cy="146304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Update frequency: the US requires weekly at minimum; Basel Principle 5 requires monthly, preferably daily, with regressions re-estimated no less than every two weeks. The US floor is stricter.   ·   Proxy criteria: the US adds “credit spread” to Basel's list of region, quality and instrument type.   ·   Reconciliation: Basel Principle 4 requires periodic reconciliation of risk-model prices against real price observations and front and back office prices, and documentation of how risk factors are derived from market prices; the US text states the standard without specifying the mechanism.   ·   Failure of the stress-period standard: Basel Principle 6 provides for omitting the risk factor from the stressed period, subject to the reduced set still explaining 75%; the US operative text states the requirement without stating that consequence.   ·   Proxy usage gate: the EBA requires proxies to be used only where data are insufficient. That framing is European. Do not attribute it to the US rule.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THE CORNERSTONE</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Standard (v): what the stress-period requirement actually demands</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548640" y="1234440"/>
            <a:ext cx="5440680" cy="3977640"/>
          </a:xfrm>
          <a:prstGeom prst="roundRect">
            <a:avLst>
              <a:gd name="adj" fmla="val 1149"/>
            </a:avLst>
          </a:prstGeom>
          <a:solidFill>
            <a:srgbClr val="FFFFFF"/>
          </a:solidFill>
          <a:ln w="9525">
            <a:solidFill>
              <a:srgbClr val="D9D5CC"/>
            </a:solidFill>
            <a:prstDash val="solid"/>
          </a:ln>
        </p:spPr>
      </p:sp>
      <p:sp>
        <p:nvSpPr>
          <p:cNvPr id="6" name="Text 4"/>
          <p:cNvSpPr/>
          <p:nvPr/>
        </p:nvSpPr>
        <p:spPr>
          <a:xfrm>
            <a:off x="804672" y="138074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THE HIERARCHY THE TEXT ESTABLISHES</a:t>
            </a:r>
            <a:endParaRPr lang="en-US" sz="900" dirty="0"/>
          </a:p>
        </p:txBody>
      </p:sp>
      <p:sp>
        <p:nvSpPr>
          <p:cNvPr id="7" name="Text 5"/>
          <p:cNvSpPr/>
          <p:nvPr/>
        </p:nvSpPr>
        <p:spPr>
          <a:xfrm>
            <a:off x="804672" y="1664208"/>
            <a:ext cx="1188720" cy="237744"/>
          </a:xfrm>
          <a:prstGeom prst="rect">
            <a:avLst/>
          </a:prstGeom>
          <a:noFill/>
          <a:ln/>
        </p:spPr>
        <p:txBody>
          <a:bodyPr wrap="square" lIns="0" tIns="0" rIns="0" bIns="0" rtlCol="0" anchor="ctr"/>
          <a:lstStyle/>
          <a:p>
            <a:pPr indent="0" marL="0">
              <a:buNone/>
            </a:pPr>
            <a:r>
              <a:rPr lang="en-US" sz="1000" b="1" dirty="0">
                <a:solidFill>
                  <a:srgbClr val="9A7212"/>
                </a:solidFill>
                <a:latin typeface="Calibri" pitchFamily="34" charset="0"/>
                <a:ea typeface="Calibri" pitchFamily="34" charset="-122"/>
                <a:cs typeface="Calibri" pitchFamily="34" charset="-120"/>
              </a:rPr>
              <a:t>First</a:t>
            </a:r>
            <a:endParaRPr lang="en-US" sz="1000" dirty="0"/>
          </a:p>
        </p:txBody>
      </p:sp>
      <p:sp>
        <p:nvSpPr>
          <p:cNvPr id="8" name="Text 6"/>
          <p:cNvSpPr/>
          <p:nvPr/>
        </p:nvSpPr>
        <p:spPr>
          <a:xfrm>
            <a:off x="804672" y="1883664"/>
            <a:ext cx="4937760" cy="6858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Data reflective of market prices observed or quoted in the identified period of stress.</a:t>
            </a:r>
            <a:endParaRPr lang="en-US" sz="1050" dirty="0"/>
          </a:p>
        </p:txBody>
      </p:sp>
      <p:sp>
        <p:nvSpPr>
          <p:cNvPr id="9" name="Text 7"/>
          <p:cNvSpPr/>
          <p:nvPr/>
        </p:nvSpPr>
        <p:spPr>
          <a:xfrm>
            <a:off x="804672" y="2596896"/>
            <a:ext cx="1188720" cy="237744"/>
          </a:xfrm>
          <a:prstGeom prst="rect">
            <a:avLst/>
          </a:prstGeom>
          <a:noFill/>
          <a:ln/>
        </p:spPr>
        <p:txBody>
          <a:bodyPr wrap="square" lIns="0" tIns="0" rIns="0" bIns="0" rtlCol="0" anchor="ctr"/>
          <a:lstStyle/>
          <a:p>
            <a:pPr indent="0" marL="0">
              <a:buNone/>
            </a:pPr>
            <a:r>
              <a:rPr lang="en-US" sz="1000" b="1" dirty="0">
                <a:solidFill>
                  <a:srgbClr val="9A7212"/>
                </a:solidFill>
                <a:latin typeface="Calibri" pitchFamily="34" charset="0"/>
                <a:ea typeface="Calibri" pitchFamily="34" charset="-122"/>
                <a:cs typeface="Calibri" pitchFamily="34" charset="-120"/>
              </a:rPr>
              <a:t>Preferred</a:t>
            </a:r>
            <a:endParaRPr lang="en-US" sz="1000" dirty="0"/>
          </a:p>
        </p:txBody>
      </p:sp>
      <p:sp>
        <p:nvSpPr>
          <p:cNvPr id="10" name="Text 8"/>
          <p:cNvSpPr/>
          <p:nvPr/>
        </p:nvSpPr>
        <p:spPr>
          <a:xfrm>
            <a:off x="804672" y="2816352"/>
            <a:ext cx="4937760" cy="6858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Sourced directly from the historical period — the text says “whenever possible”, which places the burden on demonstrating that it was not possible.</a:t>
            </a:r>
            <a:endParaRPr lang="en-US" sz="1050" dirty="0"/>
          </a:p>
        </p:txBody>
      </p:sp>
      <p:sp>
        <p:nvSpPr>
          <p:cNvPr id="11" name="Text 9"/>
          <p:cNvSpPr/>
          <p:nvPr/>
        </p:nvSpPr>
        <p:spPr>
          <a:xfrm>
            <a:off x="804672" y="3529584"/>
            <a:ext cx="1188720" cy="237744"/>
          </a:xfrm>
          <a:prstGeom prst="rect">
            <a:avLst/>
          </a:prstGeom>
          <a:noFill/>
          <a:ln/>
        </p:spPr>
        <p:txBody>
          <a:bodyPr wrap="square" lIns="0" tIns="0" rIns="0" bIns="0" rtlCol="0" anchor="ctr"/>
          <a:lstStyle/>
          <a:p>
            <a:pPr indent="0" marL="0">
              <a:buNone/>
            </a:pPr>
            <a:r>
              <a:rPr lang="en-US" sz="1000" b="1" dirty="0">
                <a:solidFill>
                  <a:srgbClr val="9A7212"/>
                </a:solidFill>
                <a:latin typeface="Calibri" pitchFamily="34" charset="0"/>
                <a:ea typeface="Calibri" pitchFamily="34" charset="-122"/>
                <a:cs typeface="Calibri" pitchFamily="34" charset="-120"/>
              </a:rPr>
              <a:t>If different</a:t>
            </a:r>
            <a:endParaRPr lang="en-US" sz="1000" dirty="0"/>
          </a:p>
        </p:txBody>
      </p:sp>
      <p:sp>
        <p:nvSpPr>
          <p:cNvPr id="12" name="Text 10"/>
          <p:cNvSpPr/>
          <p:nvPr/>
        </p:nvSpPr>
        <p:spPr>
          <a:xfrm>
            <a:off x="804672" y="3749040"/>
            <a:ext cx="4937760" cy="6858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Where the prices used differ from those actually observed in that period, the deviation must be empirically justified.</a:t>
            </a:r>
            <a:endParaRPr lang="en-US" sz="1050" dirty="0"/>
          </a:p>
        </p:txBody>
      </p:sp>
      <p:sp>
        <p:nvSpPr>
          <p:cNvPr id="13" name="Text 11"/>
          <p:cNvSpPr/>
          <p:nvPr/>
        </p:nvSpPr>
        <p:spPr>
          <a:xfrm>
            <a:off x="804672" y="4462272"/>
            <a:ext cx="1188720" cy="237744"/>
          </a:xfrm>
          <a:prstGeom prst="rect">
            <a:avLst/>
          </a:prstGeom>
          <a:noFill/>
          <a:ln/>
        </p:spPr>
        <p:txBody>
          <a:bodyPr wrap="square" lIns="0" tIns="0" rIns="0" bIns="0" rtlCol="0" anchor="ctr"/>
          <a:lstStyle/>
          <a:p>
            <a:pPr indent="0" marL="0">
              <a:buNone/>
            </a:pPr>
            <a:r>
              <a:rPr lang="en-US" sz="1000" b="1" dirty="0">
                <a:solidFill>
                  <a:srgbClr val="9A7212"/>
                </a:solidFill>
                <a:latin typeface="Calibri" pitchFamily="34" charset="0"/>
                <a:ea typeface="Calibri" pitchFamily="34" charset="-122"/>
                <a:cs typeface="Calibri" pitchFamily="34" charset="-120"/>
              </a:rPr>
              <a:t>If absent</a:t>
            </a:r>
            <a:endParaRPr lang="en-US" sz="1000" dirty="0"/>
          </a:p>
        </p:txBody>
      </p:sp>
      <p:sp>
        <p:nvSpPr>
          <p:cNvPr id="14" name="Text 12"/>
          <p:cNvSpPr/>
          <p:nvPr/>
        </p:nvSpPr>
        <p:spPr>
          <a:xfrm>
            <a:off x="804672" y="4681728"/>
            <a:ext cx="4937760" cy="6858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Where the instrument did not exist during the stress period, the prices used must be demonstrated to match changes in prices or spreads of similar instruments that did trade then.</a:t>
            </a:r>
            <a:endParaRPr lang="en-US" sz="1050" dirty="0"/>
          </a:p>
        </p:txBody>
      </p:sp>
      <p:sp>
        <p:nvSpPr>
          <p:cNvPr id="15" name="Shape 13"/>
          <p:cNvSpPr/>
          <p:nvPr/>
        </p:nvSpPr>
        <p:spPr>
          <a:xfrm>
            <a:off x="6172200" y="1234440"/>
            <a:ext cx="5440680" cy="1920240"/>
          </a:xfrm>
          <a:prstGeom prst="roundRect">
            <a:avLst>
              <a:gd name="adj" fmla="val 2381"/>
            </a:avLst>
          </a:prstGeom>
          <a:solidFill>
            <a:srgbClr val="F7F5F1"/>
          </a:solidFill>
          <a:ln w="9525">
            <a:solidFill>
              <a:srgbClr val="D9D5CC"/>
            </a:solidFill>
            <a:prstDash val="solid"/>
          </a:ln>
        </p:spPr>
      </p:sp>
      <p:sp>
        <p:nvSpPr>
          <p:cNvPr id="16" name="Text 14"/>
          <p:cNvSpPr/>
          <p:nvPr/>
        </p:nvSpPr>
        <p:spPr>
          <a:xfrm>
            <a:off x="6428232" y="138074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WHAT THE TEXT DOES NOT SAY</a:t>
            </a:r>
            <a:endParaRPr lang="en-US" sz="900" dirty="0"/>
          </a:p>
        </p:txBody>
      </p:sp>
      <p:sp>
        <p:nvSpPr>
          <p:cNvPr id="17" name="Text 15"/>
          <p:cNvSpPr/>
          <p:nvPr/>
        </p:nvSpPr>
        <p:spPr>
          <a:xfrm>
            <a:off x="6428232" y="1636776"/>
            <a:ext cx="4937760" cy="141732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It does not say that the stress-period series must be constructed from real price observations. It does not prohibit reconstruction, and it does not prohibit substitution. What it does is establish a preference order and attach an evidential burden to every departure from the top of it.</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reuse position leans on “whenever possible”, and it is entitled to. That phrase is the proportionality hook in the provision, and it is the basis on which a defensible “good enough” position can be built.</a:t>
            </a:r>
            <a:endParaRPr lang="en-US" sz="1050" dirty="0"/>
          </a:p>
        </p:txBody>
      </p:sp>
      <p:sp>
        <p:nvSpPr>
          <p:cNvPr id="18" name="Shape 16"/>
          <p:cNvSpPr/>
          <p:nvPr/>
        </p:nvSpPr>
        <p:spPr>
          <a:xfrm>
            <a:off x="6172200" y="3291840"/>
            <a:ext cx="5440680" cy="1920240"/>
          </a:xfrm>
          <a:prstGeom prst="roundRect">
            <a:avLst>
              <a:gd name="adj" fmla="val 2381"/>
            </a:avLst>
          </a:prstGeom>
          <a:solidFill>
            <a:srgbClr val="FFFFFF"/>
          </a:solidFill>
          <a:ln w="9525">
            <a:solidFill>
              <a:srgbClr val="D9D5CC"/>
            </a:solidFill>
            <a:prstDash val="solid"/>
          </a:ln>
        </p:spPr>
      </p:sp>
      <p:sp>
        <p:nvSpPr>
          <p:cNvPr id="19" name="Text 17"/>
          <p:cNvSpPr/>
          <p:nvPr/>
        </p:nvSpPr>
        <p:spPr>
          <a:xfrm>
            <a:off x="6428232" y="343814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BUT THE HOOK CUTS BOTH WAYS</a:t>
            </a:r>
            <a:endParaRPr lang="en-US" sz="900" dirty="0"/>
          </a:p>
        </p:txBody>
      </p:sp>
      <p:sp>
        <p:nvSpPr>
          <p:cNvPr id="20" name="Text 18"/>
          <p:cNvSpPr/>
          <p:nvPr/>
        </p:nvSpPr>
        <p:spPr>
          <a:xfrm>
            <a:off x="6428232" y="3694176"/>
            <a:ext cx="4937760" cy="141732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“Whenever possible” conditions the effort required; it does not condition the standard. The provision assumes direct sourcing is the default and treats anything else as a departure requiring justification.</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practical question a supervisor will ask is not whether direct sourcing was convenient, but whether it was possible. Where underlying observations exist and were not used, the departure is harder to justify than where they were never captured at all — which is precisely the distinction that determines the scope of any remediation.</a:t>
            </a:r>
            <a:endParaRPr lang="en-US" sz="1050" dirty="0"/>
          </a:p>
        </p:txBody>
      </p:sp>
      <p:sp>
        <p:nvSpPr>
          <p:cNvPr id="21" name="Shape 19"/>
          <p:cNvSpPr/>
          <p:nvPr/>
        </p:nvSpPr>
        <p:spPr>
          <a:xfrm>
            <a:off x="548640" y="5440680"/>
            <a:ext cx="11064240" cy="530352"/>
          </a:xfrm>
          <a:prstGeom prst="roundRect">
            <a:avLst>
              <a:gd name="adj" fmla="val 8621"/>
            </a:avLst>
          </a:prstGeom>
          <a:solidFill>
            <a:srgbClr val="1B2A4A"/>
          </a:solidFill>
          <a:ln w="12700">
            <a:solidFill>
              <a:srgbClr val="1B2A4A"/>
            </a:solidFill>
            <a:prstDash val="solid"/>
          </a:ln>
        </p:spPr>
      </p:sp>
      <p:sp>
        <p:nvSpPr>
          <p:cNvPr id="22" name="Text 20"/>
          <p:cNvSpPr/>
          <p:nvPr/>
        </p:nvSpPr>
        <p:spPr>
          <a:xfrm>
            <a:off x="822960" y="5440680"/>
            <a:ext cx="10515600" cy="5303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Availability of some history is not, on this text, a justification for departing from the history of the risk factor being capitalised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VOLATILITY AND CORRELATION</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Standard (ii), developed by Basel Principle 3</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548640" y="1207008"/>
            <a:ext cx="11064240" cy="1572768"/>
          </a:xfrm>
          <a:prstGeom prst="roundRect">
            <a:avLst>
              <a:gd name="adj" fmla="val 2907"/>
            </a:avLst>
          </a:prstGeom>
          <a:solidFill>
            <a:srgbClr val="F5F0E4"/>
          </a:solidFill>
          <a:ln w="9525">
            <a:solidFill>
              <a:srgbClr val="9A7212"/>
            </a:solidFill>
            <a:prstDash val="solid"/>
          </a:ln>
        </p:spPr>
      </p:sp>
      <p:sp>
        <p:nvSpPr>
          <p:cNvPr id="6" name="Text 4"/>
          <p:cNvSpPr/>
          <p:nvPr/>
        </p:nvSpPr>
        <p:spPr>
          <a:xfrm>
            <a:off x="822960" y="1335024"/>
            <a:ext cx="10515600" cy="219456"/>
          </a:xfrm>
          <a:prstGeom prst="rect">
            <a:avLst/>
          </a:prstGeom>
          <a:noFill/>
          <a:ln/>
        </p:spPr>
        <p:txBody>
          <a:bodyPr wrap="square" lIns="0" tIns="0" rIns="0" bIns="0" rtlCol="0" anchor="ctr"/>
          <a:lstStyle/>
          <a:p>
            <a:pPr indent="0" marL="0">
              <a:buNone/>
            </a:pPr>
            <a:r>
              <a:rPr lang="en-US" sz="900" b="1" spc="150" kern="0" dirty="0">
                <a:solidFill>
                  <a:srgbClr val="9A7212"/>
                </a:solidFill>
                <a:latin typeface="Calibri" pitchFamily="34" charset="0"/>
                <a:ea typeface="Calibri" pitchFamily="34" charset="-122"/>
                <a:cs typeface="Calibri" pitchFamily="34" charset="-120"/>
              </a:rPr>
              <a:t>BASEL MAR31 PRINCIPLE 3</a:t>
            </a:r>
            <a:endParaRPr lang="en-US" sz="900" dirty="0"/>
          </a:p>
        </p:txBody>
      </p:sp>
      <p:sp>
        <p:nvSpPr>
          <p:cNvPr id="7" name="Text 5"/>
          <p:cNvSpPr/>
          <p:nvPr/>
        </p:nvSpPr>
        <p:spPr>
          <a:xfrm>
            <a:off x="822960" y="1591056"/>
            <a:ext cx="10515600" cy="1060704"/>
          </a:xfrm>
          <a:prstGeom prst="rect">
            <a:avLst/>
          </a:prstGeom>
          <a:noFill/>
          <a:ln/>
        </p:spPr>
        <p:txBody>
          <a:bodyPr wrap="square" lIns="0" tIns="0" rIns="0" bIns="0" rtlCol="0" anchor="t"/>
          <a:lstStyle/>
          <a:p>
            <a:pPr indent="0" marL="0">
              <a:lnSpc>
                <a:spcPts val="1500"/>
              </a:lnSpc>
              <a:buNone/>
            </a:pPr>
            <a:r>
              <a:rPr lang="en-US" sz="1000" i="1" dirty="0">
                <a:solidFill>
                  <a:srgbClr val="1B2A4A"/>
                </a:solidFill>
                <a:latin typeface="Calibri" pitchFamily="34" charset="0"/>
                <a:ea typeface="Calibri" pitchFamily="34" charset="-122"/>
                <a:cs typeface="Calibri" pitchFamily="34" charset="-120"/>
              </a:rPr>
              <a:t>“Banks must ensure that they do not understate the volatility of an asset (eg by using inappropriate averaging of data or proxies). Further, banks must ensure that they accurately reflect the correlation of asset prices, rates across yield curves and/or volatilities within volatility surfaces. Different data sources can provide dramatically different volatility and correlation estimates for asset prices. The bank should choose data sources so as to ensure that (i) the data are representative of real price observations; (ii) price volatility is not understated by the choice of data; and (iii) correlations are reasonable approximations of correlations among real price observations. Furthermore, any transformations must not understate the volatility arising from risk factors and must accurately reflect the correlations arising from risk factors used in the bank's ES model.”</a:t>
            </a:r>
            <a:endParaRPr lang="en-US" sz="1000" dirty="0"/>
          </a:p>
        </p:txBody>
      </p:sp>
      <p:sp>
        <p:nvSpPr>
          <p:cNvPr id="8" name="Shape 6"/>
          <p:cNvSpPr/>
          <p:nvPr/>
        </p:nvSpPr>
        <p:spPr>
          <a:xfrm>
            <a:off x="548640" y="2926080"/>
            <a:ext cx="5440680" cy="2971800"/>
          </a:xfrm>
          <a:prstGeom prst="roundRect">
            <a:avLst>
              <a:gd name="adj" fmla="val 1538"/>
            </a:avLst>
          </a:prstGeom>
          <a:solidFill>
            <a:srgbClr val="FFFFFF"/>
          </a:solidFill>
          <a:ln w="9525">
            <a:solidFill>
              <a:srgbClr val="D9D5CC"/>
            </a:solidFill>
            <a:prstDash val="solid"/>
          </a:ln>
        </p:spPr>
      </p:sp>
      <p:sp>
        <p:nvSpPr>
          <p:cNvPr id="9" name="Text 7"/>
          <p:cNvSpPr/>
          <p:nvPr/>
        </p:nvSpPr>
        <p:spPr>
          <a:xfrm>
            <a:off x="804672" y="307238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WHAT THIS ESTABLISHES</a:t>
            </a:r>
            <a:endParaRPr lang="en-US" sz="900" dirty="0"/>
          </a:p>
        </p:txBody>
      </p:sp>
      <p:sp>
        <p:nvSpPr>
          <p:cNvPr id="10" name="Text 8"/>
          <p:cNvSpPr/>
          <p:nvPr/>
        </p:nvSpPr>
        <p:spPr>
          <a:xfrm>
            <a:off x="804672" y="3328416"/>
            <a:ext cx="4937760" cy="242316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Three conditions, each of them testable rather than interpretive: the data must be representative of real price observations, volatility must not be understated by the choice of data, and correlations must be reasonable approximations of those among real price observations.</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Two words are load-bearing. “Proxies” is named explicitly as a mechanism by which volatility gets understated. And “transformations” brings scaling, averaging, interpolation and proxy mapping within the same non-understatement condition — a transformation is not a neutral operation for these purposes.</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Note also that correlation within volatility surfaces is named. The application to a rates-volatility stack is not an inference about scope.</a:t>
            </a:r>
            <a:endParaRPr lang="en-US" sz="1050" dirty="0"/>
          </a:p>
        </p:txBody>
      </p:sp>
      <p:sp>
        <p:nvSpPr>
          <p:cNvPr id="11" name="Shape 9"/>
          <p:cNvSpPr/>
          <p:nvPr/>
        </p:nvSpPr>
        <p:spPr>
          <a:xfrm>
            <a:off x="6172200" y="2926080"/>
            <a:ext cx="5440680" cy="2971800"/>
          </a:xfrm>
          <a:prstGeom prst="roundRect">
            <a:avLst>
              <a:gd name="adj" fmla="val 1538"/>
            </a:avLst>
          </a:prstGeom>
          <a:solidFill>
            <a:srgbClr val="F7F5F1"/>
          </a:solidFill>
          <a:ln w="9525">
            <a:solidFill>
              <a:srgbClr val="D9D5CC"/>
            </a:solidFill>
            <a:prstDash val="solid"/>
          </a:ln>
        </p:spPr>
      </p:sp>
      <p:sp>
        <p:nvSpPr>
          <p:cNvPr id="12" name="Text 10"/>
          <p:cNvSpPr/>
          <p:nvPr/>
        </p:nvSpPr>
        <p:spPr>
          <a:xfrm>
            <a:off x="6428232" y="307238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IF SOMEONE PUSHES BACK</a:t>
            </a:r>
            <a:endParaRPr lang="en-US" sz="900" dirty="0"/>
          </a:p>
        </p:txBody>
      </p:sp>
      <p:sp>
        <p:nvSpPr>
          <p:cNvPr id="13" name="Text 11"/>
          <p:cNvSpPr/>
          <p:nvPr/>
        </p:nvSpPr>
        <p:spPr>
          <a:xfrm>
            <a:off x="6428232" y="3328416"/>
            <a:ext cx="4937760" cy="242316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Principle 3 sets no numeric threshold. “Reasonable approximation” is a judgment, and a firm may reasonably judge that its construction meets it.</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stronger objection is that this is Basel text, and the corresponding US standard (ii) is a single sentence without the elaboration. A firm could argue that the US agencies chose not to import the detail.</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answer is that Principle 3 is the most developed articulation of what an examiner will look for under a standard the US has adopted in substance, and that the absence of a numeric threshold moves the question to supervisory discretion rather than removing it.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THE STRUCTURAL LIMIT</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Why a single driver cannot satisfy standard (ii)</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548640" y="1280160"/>
            <a:ext cx="5440680" cy="2788920"/>
          </a:xfrm>
          <a:prstGeom prst="roundRect">
            <a:avLst>
              <a:gd name="adj" fmla="val 1639"/>
            </a:avLst>
          </a:prstGeom>
          <a:solidFill>
            <a:srgbClr val="F7F5F1"/>
          </a:solidFill>
          <a:ln w="9525">
            <a:solidFill>
              <a:srgbClr val="D9D5CC"/>
            </a:solidFill>
            <a:prstDash val="solid"/>
          </a:ln>
        </p:spPr>
      </p:sp>
      <p:sp>
        <p:nvSpPr>
          <p:cNvPr id="6" name="Text 4"/>
          <p:cNvSpPr/>
          <p:nvPr/>
        </p:nvSpPr>
        <p:spPr>
          <a:xfrm>
            <a:off x="804672" y="142646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THE ARITHMETIC</a:t>
            </a:r>
            <a:endParaRPr lang="en-US" sz="900" dirty="0"/>
          </a:p>
        </p:txBody>
      </p:sp>
      <p:sp>
        <p:nvSpPr>
          <p:cNvPr id="7" name="Text 5"/>
          <p:cNvSpPr/>
          <p:nvPr/>
        </p:nvSpPr>
        <p:spPr>
          <a:xfrm>
            <a:off x="804672" y="1682496"/>
            <a:ext cx="4937760" cy="457200"/>
          </a:xfrm>
          <a:prstGeom prst="rect">
            <a:avLst/>
          </a:prstGeom>
          <a:noFill/>
          <a:ln/>
        </p:spPr>
        <p:txBody>
          <a:bodyPr wrap="square" lIns="0" tIns="0" rIns="0" bIns="0" rtlCol="0" anchor="t"/>
          <a:lstStyle/>
          <a:p>
            <a:pPr indent="0" marL="0">
              <a:lnSpc>
                <a:spcPts val="1500"/>
              </a:lnSpc>
              <a:buNone/>
            </a:pPr>
            <a:r>
              <a:rPr lang="en-US" sz="1050" dirty="0">
                <a:solidFill>
                  <a:srgbClr val="3F4A5A"/>
                </a:solidFill>
                <a:latin typeface="Calibri" pitchFamily="34" charset="0"/>
                <a:ea typeface="Calibri" pitchFamily="34" charset="-122"/>
                <a:cs typeface="Calibri" pitchFamily="34" charset="-120"/>
              </a:rPr>
              <a:t>Suppose several distinct volatility risk factors are represented historically by a single series X, scaled:</a:t>
            </a:r>
            <a:endParaRPr lang="en-US" sz="1050" dirty="0"/>
          </a:p>
        </p:txBody>
      </p:sp>
      <p:sp>
        <p:nvSpPr>
          <p:cNvPr id="8" name="Text 6"/>
          <p:cNvSpPr/>
          <p:nvPr/>
        </p:nvSpPr>
        <p:spPr>
          <a:xfrm>
            <a:off x="804672" y="2139696"/>
            <a:ext cx="4937760" cy="274320"/>
          </a:xfrm>
          <a:prstGeom prst="rect">
            <a:avLst/>
          </a:prstGeom>
          <a:noFill/>
          <a:ln/>
        </p:spPr>
        <p:txBody>
          <a:bodyPr wrap="square" lIns="0" tIns="0" rIns="0" bIns="0" rtlCol="0" anchor="ctr"/>
          <a:lstStyle/>
          <a:p>
            <a:pPr indent="0" marL="0">
              <a:buNone/>
            </a:pPr>
            <a:r>
              <a:rPr lang="en-US" sz="1100" dirty="0">
                <a:solidFill>
                  <a:srgbClr val="1B2A4A"/>
                </a:solidFill>
                <a:latin typeface="Courier New" pitchFamily="34" charset="0"/>
                <a:ea typeface="Courier New" pitchFamily="34" charset="-122"/>
                <a:cs typeface="Courier New" pitchFamily="34" charset="-120"/>
              </a:rPr>
              <a:t>EUR = 1.2·X      GBP = 0.8·X      INF = 0.6·X</a:t>
            </a:r>
            <a:endParaRPr lang="en-US" sz="1100" dirty="0"/>
          </a:p>
        </p:txBody>
      </p:sp>
      <p:sp>
        <p:nvSpPr>
          <p:cNvPr id="9" name="Text 7"/>
          <p:cNvSpPr/>
          <p:nvPr/>
        </p:nvSpPr>
        <p:spPr>
          <a:xfrm>
            <a:off x="804672" y="2468880"/>
            <a:ext cx="4937760" cy="256032"/>
          </a:xfrm>
          <a:prstGeom prst="rect">
            <a:avLst/>
          </a:prstGeom>
          <a:noFill/>
          <a:ln/>
        </p:spPr>
        <p:txBody>
          <a:bodyPr wrap="square" lIns="0" tIns="0" rIns="0" bIns="0" rtlCol="0" anchor="t"/>
          <a:lstStyle/>
          <a:p>
            <a:pPr indent="0" marL="0">
              <a:lnSpc>
                <a:spcPts val="1500"/>
              </a:lnSpc>
              <a:buNone/>
            </a:pPr>
            <a:r>
              <a:rPr lang="en-US" sz="1050" dirty="0">
                <a:solidFill>
                  <a:srgbClr val="3F4A5A"/>
                </a:solidFill>
                <a:latin typeface="Calibri" pitchFamily="34" charset="0"/>
                <a:ea typeface="Calibri" pitchFamily="34" charset="-122"/>
                <a:cs typeface="Calibri" pitchFamily="34" charset="-120"/>
              </a:rPr>
              <a:t>Then, identically, for any positive scale factors:</a:t>
            </a:r>
            <a:endParaRPr lang="en-US" sz="1050" dirty="0"/>
          </a:p>
        </p:txBody>
      </p:sp>
      <p:sp>
        <p:nvSpPr>
          <p:cNvPr id="10" name="Text 8"/>
          <p:cNvSpPr/>
          <p:nvPr/>
        </p:nvSpPr>
        <p:spPr>
          <a:xfrm>
            <a:off x="804672" y="2724912"/>
            <a:ext cx="4937760" cy="292608"/>
          </a:xfrm>
          <a:prstGeom prst="rect">
            <a:avLst/>
          </a:prstGeom>
          <a:noFill/>
          <a:ln/>
        </p:spPr>
        <p:txBody>
          <a:bodyPr wrap="square" lIns="0" tIns="0" rIns="0" bIns="0" rtlCol="0" anchor="ctr"/>
          <a:lstStyle/>
          <a:p>
            <a:pPr indent="0" marL="0">
              <a:buNone/>
            </a:pPr>
            <a:r>
              <a:rPr lang="en-US" sz="1200" b="1" dirty="0">
                <a:solidFill>
                  <a:srgbClr val="C0392B"/>
                </a:solidFill>
                <a:latin typeface="Courier New" pitchFamily="34" charset="0"/>
                <a:ea typeface="Courier New" pitchFamily="34" charset="-122"/>
                <a:cs typeface="Courier New" pitchFamily="34" charset="-120"/>
              </a:rPr>
              <a:t>Corr(EUR,GBP) = Corr(EUR,INF) = 1</a:t>
            </a:r>
            <a:endParaRPr lang="en-US" sz="1200" dirty="0"/>
          </a:p>
        </p:txBody>
      </p:sp>
      <p:sp>
        <p:nvSpPr>
          <p:cNvPr id="11" name="Text 9"/>
          <p:cNvSpPr/>
          <p:nvPr/>
        </p:nvSpPr>
        <p:spPr>
          <a:xfrm>
            <a:off x="804672" y="3090672"/>
            <a:ext cx="4937760" cy="86868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Volatility level can be scaled to match. Correlation structure, basis and idiosyncratic behaviour cannot be created — they are excluded by the construction rather than merely estimated imprecisely. Where no scaling factor is applied at all, volatility level fails as well, and that is the easier of the two to demonstrate.</a:t>
            </a:r>
            <a:endParaRPr lang="en-US" sz="1050" dirty="0"/>
          </a:p>
        </p:txBody>
      </p:sp>
      <p:sp>
        <p:nvSpPr>
          <p:cNvPr id="12" name="Shape 10"/>
          <p:cNvSpPr/>
          <p:nvPr/>
        </p:nvSpPr>
        <p:spPr>
          <a:xfrm>
            <a:off x="6172200" y="1280160"/>
            <a:ext cx="5440680" cy="2788920"/>
          </a:xfrm>
          <a:prstGeom prst="roundRect">
            <a:avLst>
              <a:gd name="adj" fmla="val 1639"/>
            </a:avLst>
          </a:prstGeom>
          <a:solidFill>
            <a:srgbClr val="FFFFFF"/>
          </a:solidFill>
          <a:ln w="9525">
            <a:solidFill>
              <a:srgbClr val="D9D5CC"/>
            </a:solidFill>
            <a:prstDash val="solid"/>
          </a:ln>
        </p:spPr>
      </p:sp>
      <p:sp>
        <p:nvSpPr>
          <p:cNvPr id="13" name="Text 11"/>
          <p:cNvSpPr/>
          <p:nvPr/>
        </p:nvSpPr>
        <p:spPr>
          <a:xfrm>
            <a:off x="6428232" y="142646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WHAT IT MEANS IN THE BOOK</a:t>
            </a:r>
            <a:endParaRPr lang="en-US" sz="900" dirty="0"/>
          </a:p>
        </p:txBody>
      </p:sp>
      <p:sp>
        <p:nvSpPr>
          <p:cNvPr id="14" name="Text 12"/>
          <p:cNvSpPr/>
          <p:nvPr/>
        </p:nvSpPr>
        <p:spPr>
          <a:xfrm>
            <a:off x="6428232" y="1682496"/>
            <a:ext cx="4937760" cy="224028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Basis between two risk factors that share a driver is identically zero across the stress period. A position long one and short the other shows no profit-and-loss variance, and therefore attracts no capital, for a risk the desk demonstrably runs.</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This is the mechanism the NPR names in the preamble to SES: data limitations that cause models to “overstate the diversification benefits or understate price volatility (and therefore, understate the magnitude of potential losses)”. It engages standard (ii) directly, standard (i) by implication — a single-driver construction has no idiosyncratic component to capture — and the EBA condition that data inputs must not underestimate risk.</a:t>
            </a:r>
            <a:endParaRPr lang="en-US" sz="1050" dirty="0"/>
          </a:p>
        </p:txBody>
      </p:sp>
      <p:sp>
        <p:nvSpPr>
          <p:cNvPr id="15" name="Shape 13"/>
          <p:cNvSpPr/>
          <p:nvPr/>
        </p:nvSpPr>
        <p:spPr>
          <a:xfrm>
            <a:off x="548640" y="4251960"/>
            <a:ext cx="11064240" cy="1417320"/>
          </a:xfrm>
          <a:prstGeom prst="roundRect">
            <a:avLst>
              <a:gd name="adj" fmla="val 3226"/>
            </a:avLst>
          </a:prstGeom>
          <a:solidFill>
            <a:srgbClr val="F5F0E4"/>
          </a:solidFill>
          <a:ln w="9525">
            <a:solidFill>
              <a:srgbClr val="9A7212"/>
            </a:solidFill>
            <a:prstDash val="solid"/>
          </a:ln>
        </p:spPr>
      </p:sp>
      <p:sp>
        <p:nvSpPr>
          <p:cNvPr id="16" name="Text 14"/>
          <p:cNvSpPr/>
          <p:nvPr/>
        </p:nvSpPr>
        <p:spPr>
          <a:xfrm>
            <a:off x="804672" y="4398264"/>
            <a:ext cx="5394960" cy="219456"/>
          </a:xfrm>
          <a:prstGeom prst="rect">
            <a:avLst/>
          </a:prstGeom>
          <a:noFill/>
          <a:ln/>
        </p:spPr>
        <p:txBody>
          <a:bodyPr wrap="square" lIns="0" tIns="0" rIns="0" bIns="0" rtlCol="0" anchor="ctr"/>
          <a:lstStyle/>
          <a:p>
            <a:pPr indent="0" marL="0">
              <a:buNone/>
            </a:pPr>
            <a:r>
              <a:rPr lang="en-US" sz="900" b="1" spc="180" kern="0" dirty="0">
                <a:solidFill>
                  <a:srgbClr val="9A7212"/>
                </a:solidFill>
                <a:latin typeface="Calibri" pitchFamily="34" charset="0"/>
                <a:ea typeface="Calibri" pitchFamily="34" charset="-122"/>
                <a:cs typeface="Calibri" pitchFamily="34" charset="-120"/>
              </a:rPr>
              <a:t>BEFORE THIS SLIDE IS USED</a:t>
            </a:r>
            <a:endParaRPr lang="en-US" sz="900" dirty="0"/>
          </a:p>
        </p:txBody>
      </p:sp>
      <p:sp>
        <p:nvSpPr>
          <p:cNvPr id="17" name="Text 15"/>
          <p:cNvSpPr/>
          <p:nvPr/>
        </p:nvSpPr>
        <p:spPr>
          <a:xfrm>
            <a:off x="804672" y="4654296"/>
            <a:ext cx="10515600" cy="91440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result is exact only where the mapping is a positive scalar transform of the same underlying series. Where the construction draws different tenor slices of a surface, or adds a residual, correlation falls below one — though in practice it remains far above anything observed between the corresponding markets. The claim should be stated to match the construction as it actually is, because the arithmetic is the strongest point available here and it is also the easiest to lose on a technicality. Confirm the mapping before presenting.</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PROXIES</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Permitted, and conditioned on a comparison</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548640" y="1234440"/>
            <a:ext cx="5440680" cy="3931920"/>
          </a:xfrm>
          <a:prstGeom prst="roundRect">
            <a:avLst>
              <a:gd name="adj" fmla="val 1163"/>
            </a:avLst>
          </a:prstGeom>
          <a:solidFill>
            <a:srgbClr val="FFFFFF"/>
          </a:solidFill>
          <a:ln w="9525">
            <a:solidFill>
              <a:srgbClr val="D9D5CC"/>
            </a:solidFill>
            <a:prstDash val="solid"/>
          </a:ln>
        </p:spPr>
      </p:sp>
      <p:sp>
        <p:nvSpPr>
          <p:cNvPr id="6" name="Text 4"/>
          <p:cNvSpPr/>
          <p:nvPr/>
        </p:nvSpPr>
        <p:spPr>
          <a:xfrm>
            <a:off x="804672" y="1380744"/>
            <a:ext cx="5394960" cy="219456"/>
          </a:xfrm>
          <a:prstGeom prst="rect">
            <a:avLst/>
          </a:prstGeom>
          <a:noFill/>
          <a:ln/>
        </p:spPr>
        <p:txBody>
          <a:bodyPr wrap="square" lIns="0" tIns="0" rIns="0" bIns="0" rtlCol="0" anchor="ctr"/>
          <a:lstStyle/>
          <a:p>
            <a:pPr indent="0" marL="0">
              <a:buNone/>
            </a:pPr>
            <a:r>
              <a:rPr lang="en-US" sz="900" b="1" spc="180" kern="0" dirty="0">
                <a:solidFill>
                  <a:srgbClr val="33507F"/>
                </a:solidFill>
                <a:latin typeface="Calibri" pitchFamily="34" charset="0"/>
                <a:ea typeface="Calibri" pitchFamily="34" charset="-122"/>
                <a:cs typeface="Calibri" pitchFamily="34" charset="-120"/>
              </a:rPr>
              <a:t>THE THREE STANDARDS, AND WHAT EACH REQUIRES</a:t>
            </a:r>
            <a:endParaRPr lang="en-US" sz="900" dirty="0"/>
          </a:p>
        </p:txBody>
      </p:sp>
      <p:sp>
        <p:nvSpPr>
          <p:cNvPr id="7" name="Text 5"/>
          <p:cNvSpPr/>
          <p:nvPr/>
        </p:nvSpPr>
        <p:spPr>
          <a:xfrm>
            <a:off x="804672" y="1664208"/>
            <a:ext cx="49377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  Track record</a:t>
            </a:r>
            <a:endParaRPr lang="en-US" sz="1100" dirty="0"/>
          </a:p>
        </p:txBody>
      </p:sp>
      <p:sp>
        <p:nvSpPr>
          <p:cNvPr id="8" name="Text 6"/>
          <p:cNvSpPr/>
          <p:nvPr/>
        </p:nvSpPr>
        <p:spPr>
          <a:xfrm>
            <a:off x="804672" y="1901952"/>
            <a:ext cx="4937760" cy="9144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Sufficient evidence of appropriateness, such as an appropriate track record for the proxy's representation of a covered position. A track record is a history of the proxy performing against the actual — it cannot be produced from the proxy alone.</a:t>
            </a:r>
            <a:endParaRPr lang="en-US" sz="1050" dirty="0"/>
          </a:p>
        </p:txBody>
      </p:sp>
      <p:sp>
        <p:nvSpPr>
          <p:cNvPr id="9" name="Text 7"/>
          <p:cNvSpPr/>
          <p:nvPr/>
        </p:nvSpPr>
        <p:spPr>
          <a:xfrm>
            <a:off x="804672" y="2898648"/>
            <a:ext cx="49377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(B)  Volatility and correlation</a:t>
            </a:r>
            <a:endParaRPr lang="en-US" sz="1100" dirty="0"/>
          </a:p>
        </p:txBody>
      </p:sp>
      <p:sp>
        <p:nvSpPr>
          <p:cNvPr id="10" name="Text 8"/>
          <p:cNvSpPr/>
          <p:nvPr/>
        </p:nvSpPr>
        <p:spPr>
          <a:xfrm>
            <a:off x="804672" y="3136392"/>
            <a:ext cx="4937760" cy="9144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Sufficiently similar characteristics to the transactions represented, in terms of volatility level and correlations. Similarity is a two-sided measurement; it requires observations of the target as well as of the proxy.</a:t>
            </a:r>
            <a:endParaRPr lang="en-US" sz="1050" dirty="0"/>
          </a:p>
        </p:txBody>
      </p:sp>
      <p:sp>
        <p:nvSpPr>
          <p:cNvPr id="11" name="Text 9"/>
          <p:cNvSpPr/>
          <p:nvPr/>
        </p:nvSpPr>
        <p:spPr>
          <a:xfrm>
            <a:off x="804672" y="4133088"/>
            <a:ext cx="4937760" cy="237744"/>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  Instrument fit</a:t>
            </a:r>
            <a:endParaRPr lang="en-US" sz="1100" dirty="0"/>
          </a:p>
        </p:txBody>
      </p:sp>
      <p:sp>
        <p:nvSpPr>
          <p:cNvPr id="12" name="Text 10"/>
          <p:cNvSpPr/>
          <p:nvPr/>
        </p:nvSpPr>
        <p:spPr>
          <a:xfrm>
            <a:off x="804672" y="4370832"/>
            <a:ext cx="4937760" cy="9144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Appropriate for the region, credit spread, quality and type of instrument represented. Region is an explicit criterion, which means a cross-currency proxy is something to be defended rather than assumed.</a:t>
            </a:r>
            <a:endParaRPr lang="en-US" sz="1050" dirty="0"/>
          </a:p>
        </p:txBody>
      </p:sp>
      <p:sp>
        <p:nvSpPr>
          <p:cNvPr id="13" name="Shape 11"/>
          <p:cNvSpPr/>
          <p:nvPr/>
        </p:nvSpPr>
        <p:spPr>
          <a:xfrm>
            <a:off x="6172200" y="1234440"/>
            <a:ext cx="5440680" cy="1874520"/>
          </a:xfrm>
          <a:prstGeom prst="roundRect">
            <a:avLst>
              <a:gd name="adj" fmla="val 2439"/>
            </a:avLst>
          </a:prstGeom>
          <a:solidFill>
            <a:srgbClr val="F5F0E4"/>
          </a:solidFill>
          <a:ln w="9525">
            <a:solidFill>
              <a:srgbClr val="9A7212"/>
            </a:solidFill>
            <a:prstDash val="solid"/>
          </a:ln>
        </p:spPr>
      </p:sp>
      <p:sp>
        <p:nvSpPr>
          <p:cNvPr id="14" name="Text 12"/>
          <p:cNvSpPr/>
          <p:nvPr/>
        </p:nvSpPr>
        <p:spPr>
          <a:xfrm>
            <a:off x="6428232" y="1380744"/>
            <a:ext cx="5394960" cy="219456"/>
          </a:xfrm>
          <a:prstGeom prst="rect">
            <a:avLst/>
          </a:prstGeom>
          <a:noFill/>
          <a:ln/>
        </p:spPr>
        <p:txBody>
          <a:bodyPr wrap="square" lIns="0" tIns="0" rIns="0" bIns="0" rtlCol="0" anchor="ctr"/>
          <a:lstStyle/>
          <a:p>
            <a:pPr indent="0" marL="0">
              <a:buNone/>
            </a:pPr>
            <a:r>
              <a:rPr lang="en-US" sz="900" b="1" spc="180" kern="0" dirty="0">
                <a:solidFill>
                  <a:srgbClr val="9A7212"/>
                </a:solidFill>
                <a:latin typeface="Calibri" pitchFamily="34" charset="0"/>
                <a:ea typeface="Calibri" pitchFamily="34" charset="-122"/>
                <a:cs typeface="Calibri" pitchFamily="34" charset="-120"/>
              </a:rPr>
              <a:t>THE OPERATIVE CONSTRAINT</a:t>
            </a:r>
            <a:endParaRPr lang="en-US" sz="900" dirty="0"/>
          </a:p>
        </p:txBody>
      </p:sp>
      <p:sp>
        <p:nvSpPr>
          <p:cNvPr id="15" name="Text 13"/>
          <p:cNvSpPr/>
          <p:nvPr/>
        </p:nvSpPr>
        <p:spPr>
          <a:xfrm>
            <a:off x="6428232" y="1636776"/>
            <a:ext cx="4937760" cy="137160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Each of the three is a comparison, and each therefore requires evidence about the target risk factor, not only about the proxy. A proxy does not remove the data requirement; it relocates it, from building the series to evidencing the substitute.</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NPR preamble adds that the demonstration must be made empirically and on an ongoing basis, and that the proxy data must be a conservative representation of the underlying risk under adverse market conditions. Similarity established in benign conditions does not discharge a standard measured under stress.</a:t>
            </a:r>
            <a:endParaRPr lang="en-US" sz="1050" dirty="0"/>
          </a:p>
        </p:txBody>
      </p:sp>
      <p:sp>
        <p:nvSpPr>
          <p:cNvPr id="16" name="Shape 14"/>
          <p:cNvSpPr/>
          <p:nvPr/>
        </p:nvSpPr>
        <p:spPr>
          <a:xfrm>
            <a:off x="6172200" y="3291840"/>
            <a:ext cx="5440680" cy="1874520"/>
          </a:xfrm>
          <a:prstGeom prst="roundRect">
            <a:avLst>
              <a:gd name="adj" fmla="val 2439"/>
            </a:avLst>
          </a:prstGeom>
          <a:solidFill>
            <a:srgbClr val="F7F5F1"/>
          </a:solidFill>
          <a:ln w="9525">
            <a:solidFill>
              <a:srgbClr val="D9D5CC"/>
            </a:solidFill>
            <a:prstDash val="solid"/>
          </a:ln>
        </p:spPr>
      </p:sp>
      <p:sp>
        <p:nvSpPr>
          <p:cNvPr id="17" name="Text 15"/>
          <p:cNvSpPr/>
          <p:nvPr/>
        </p:nvSpPr>
        <p:spPr>
          <a:xfrm>
            <a:off x="6428232" y="343814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WHAT A SUPERVISOR WILL ACTUALLY TEST</a:t>
            </a:r>
            <a:endParaRPr lang="en-US" sz="900" dirty="0"/>
          </a:p>
        </p:txBody>
      </p:sp>
      <p:sp>
        <p:nvSpPr>
          <p:cNvPr id="18" name="Text 16"/>
          <p:cNvSpPr/>
          <p:nvPr/>
        </p:nvSpPr>
        <p:spPr>
          <a:xfrm>
            <a:off x="6428232" y="3694176"/>
            <a:ext cx="4937760" cy="137160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EBA sets out the assessment techniques a competent authority will apply: verify the correlation between proxy data and the data used to mark the risk factor at end of day; compare the resulting volatilities with the proxy in use and with it removed; and, for non-modellable factors, examine the rationale for proxying where at least twelve observations are available.</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second technique is the operative one. Running it requires the un-proxied series — so validating a proxy calls for the data the proxy was meant to replace.</a:t>
            </a:r>
            <a:endParaRPr lang="en-US" sz="1050" dirty="0"/>
          </a:p>
        </p:txBody>
      </p:sp>
      <p:sp>
        <p:nvSpPr>
          <p:cNvPr id="19" name="Text 17"/>
          <p:cNvSpPr/>
          <p:nvPr/>
        </p:nvSpPr>
        <p:spPr>
          <a:xfrm>
            <a:off x="548640" y="6309360"/>
            <a:ext cx="10424160" cy="27432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EBA material is persuasive rather than binding in the US context, and is cited as the most developed articulation of supervisory expectation.</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CONSEQUENCE</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What failing these standards actually costs</a:t>
            </a:r>
            <a:endParaRPr lang="en-US" sz="2500" dirty="0"/>
          </a:p>
        </p:txBody>
      </p:sp>
      <p:sp>
        <p:nvSpPr>
          <p:cNvPr id="4" name="Text 2"/>
          <p:cNvSpPr/>
          <p:nvPr/>
        </p:nvSpPr>
        <p:spPr>
          <a:xfrm>
            <a:off x="548640" y="1033272"/>
            <a:ext cx="11064240" cy="310896"/>
          </a:xfrm>
          <a:prstGeom prst="rect">
            <a:avLst/>
          </a:prstGeom>
          <a:noFill/>
          <a:ln/>
        </p:spPr>
        <p:txBody>
          <a:bodyPr wrap="square" lIns="0" tIns="0" rIns="0" bIns="0" rtlCol="0" anchor="t"/>
          <a:lstStyle/>
          <a:p>
            <a:pPr indent="0" marL="0">
              <a:buNone/>
            </a:pPr>
            <a:r>
              <a:rPr lang="en-US" sz="1200" dirty="0">
                <a:solidFill>
                  <a:srgbClr val="3F4A5A"/>
                </a:solidFill>
                <a:latin typeface="Calibri" pitchFamily="34" charset="0"/>
                <a:ea typeface="Calibri" pitchFamily="34" charset="-122"/>
                <a:cs typeface="Calibri" pitchFamily="34" charset="-120"/>
              </a:rPr>
              <a:t>The exposure is not a single capital number. It lands in four different places.</a:t>
            </a:r>
            <a:endParaRPr lang="en-US" sz="1200" dirty="0"/>
          </a:p>
        </p:txBody>
      </p:sp>
      <p:sp>
        <p:nvSpPr>
          <p:cNvPr id="5" name="Text 3"/>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572768"/>
            <a:ext cx="2697480" cy="3749040"/>
          </a:xfrm>
          <a:prstGeom prst="roundRect">
            <a:avLst>
              <a:gd name="adj" fmla="val 1695"/>
            </a:avLst>
          </a:prstGeom>
          <a:solidFill>
            <a:srgbClr val="FFFFFF"/>
          </a:solidFill>
          <a:ln w="9525">
            <a:solidFill>
              <a:srgbClr val="D9D5CC"/>
            </a:solidFill>
            <a:prstDash val="solid"/>
          </a:ln>
        </p:spPr>
      </p:sp>
      <p:sp>
        <p:nvSpPr>
          <p:cNvPr id="7" name="Shape 5"/>
          <p:cNvSpPr/>
          <p:nvPr/>
        </p:nvSpPr>
        <p:spPr>
          <a:xfrm>
            <a:off x="777240" y="1773936"/>
            <a:ext cx="329184" cy="329184"/>
          </a:xfrm>
          <a:prstGeom prst="roundRect">
            <a:avLst>
              <a:gd name="adj" fmla="val 27778"/>
            </a:avLst>
          </a:prstGeom>
          <a:solidFill>
            <a:srgbClr val="1B2A4A"/>
          </a:solidFill>
          <a:ln w="12700">
            <a:solidFill>
              <a:srgbClr val="1B2A4A"/>
            </a:solidFill>
            <a:prstDash val="solid"/>
          </a:ln>
        </p:spPr>
      </p:sp>
      <p:sp>
        <p:nvSpPr>
          <p:cNvPr id="8" name="Text 6"/>
          <p:cNvSpPr/>
          <p:nvPr/>
        </p:nvSpPr>
        <p:spPr>
          <a:xfrm>
            <a:off x="777240" y="2212848"/>
            <a:ext cx="228600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Capital</a:t>
            </a:r>
            <a:endParaRPr lang="en-US" sz="1400" dirty="0"/>
          </a:p>
        </p:txBody>
      </p:sp>
      <p:sp>
        <p:nvSpPr>
          <p:cNvPr id="9" name="Text 7"/>
          <p:cNvSpPr/>
          <p:nvPr/>
        </p:nvSpPr>
        <p:spPr>
          <a:xfrm>
            <a:off x="777240" y="2578608"/>
            <a:ext cx="2286000" cy="233172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Basel Principle 2 provides that where the data does not reflect idiosyncratic or general market risk, an NMRF charge applies to the aspects not adequately captured. Principle 7(a) adds that multifactor coefficients must be empirically based and not determined by judgment, and that where they are set by judgment they should generally be treated as NMRF. A proxy applied with no scaling carries an implicit coefficient of one; unless that value is empirically derived, it is a judgment-set coefficient on the plain reading. Note the text says “generally should”, not “must”.</a:t>
            </a:r>
            <a:endParaRPr lang="en-US" sz="950" dirty="0"/>
          </a:p>
        </p:txBody>
      </p:sp>
      <p:sp>
        <p:nvSpPr>
          <p:cNvPr id="10" name="Text 8"/>
          <p:cNvSpPr/>
          <p:nvPr/>
        </p:nvSpPr>
        <p:spPr>
          <a:xfrm>
            <a:off x="777240" y="4956048"/>
            <a:ext cx="2286000" cy="256032"/>
          </a:xfrm>
          <a:prstGeom prst="rect">
            <a:avLst/>
          </a:prstGeom>
          <a:noFill/>
          <a:ln/>
        </p:spPr>
        <p:txBody>
          <a:bodyPr wrap="square" lIns="0" tIns="0" rIns="0" bIns="0" rtlCol="0" anchor="ctr"/>
          <a:lstStyle/>
          <a:p>
            <a:pPr indent="0" marL="0">
              <a:buNone/>
            </a:pPr>
            <a:r>
              <a:rPr lang="en-US" sz="800" b="1" dirty="0">
                <a:solidFill>
                  <a:srgbClr val="9A7212"/>
                </a:solidFill>
                <a:latin typeface="Calibri" pitchFamily="34" charset="0"/>
                <a:ea typeface="Calibri" pitchFamily="34" charset="-122"/>
                <a:cs typeface="Calibri" pitchFamily="34" charset="-120"/>
              </a:rPr>
              <a:t>MAR31 PRINCIPLES 2 AND 7(a)</a:t>
            </a:r>
            <a:endParaRPr lang="en-US" sz="800" dirty="0"/>
          </a:p>
        </p:txBody>
      </p:sp>
      <p:sp>
        <p:nvSpPr>
          <p:cNvPr id="11" name="Shape 9"/>
          <p:cNvSpPr/>
          <p:nvPr/>
        </p:nvSpPr>
        <p:spPr>
          <a:xfrm>
            <a:off x="3374136" y="1572768"/>
            <a:ext cx="2697480" cy="3749040"/>
          </a:xfrm>
          <a:prstGeom prst="roundRect">
            <a:avLst>
              <a:gd name="adj" fmla="val 1695"/>
            </a:avLst>
          </a:prstGeom>
          <a:solidFill>
            <a:srgbClr val="FFFFFF"/>
          </a:solidFill>
          <a:ln w="9525">
            <a:solidFill>
              <a:srgbClr val="D9D5CC"/>
            </a:solidFill>
            <a:prstDash val="solid"/>
          </a:ln>
        </p:spPr>
      </p:sp>
      <p:sp>
        <p:nvSpPr>
          <p:cNvPr id="12" name="Shape 10"/>
          <p:cNvSpPr/>
          <p:nvPr/>
        </p:nvSpPr>
        <p:spPr>
          <a:xfrm>
            <a:off x="3602736" y="1773936"/>
            <a:ext cx="329184" cy="329184"/>
          </a:xfrm>
          <a:prstGeom prst="roundRect">
            <a:avLst>
              <a:gd name="adj" fmla="val 27778"/>
            </a:avLst>
          </a:prstGeom>
          <a:solidFill>
            <a:srgbClr val="D97706"/>
          </a:solidFill>
          <a:ln w="12700">
            <a:solidFill>
              <a:srgbClr val="D97706"/>
            </a:solidFill>
            <a:prstDash val="solid"/>
          </a:ln>
        </p:spPr>
      </p:sp>
      <p:sp>
        <p:nvSpPr>
          <p:cNvPr id="13" name="Text 11"/>
          <p:cNvSpPr/>
          <p:nvPr/>
        </p:nvSpPr>
        <p:spPr>
          <a:xfrm>
            <a:off x="3602736" y="2212848"/>
            <a:ext cx="228600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Model architecture</a:t>
            </a:r>
            <a:endParaRPr lang="en-US" sz="1400" dirty="0"/>
          </a:p>
        </p:txBody>
      </p:sp>
      <p:sp>
        <p:nvSpPr>
          <p:cNvPr id="14" name="Text 12"/>
          <p:cNvSpPr/>
          <p:nvPr/>
        </p:nvSpPr>
        <p:spPr>
          <a:xfrm>
            <a:off x="3602736" y="2578608"/>
            <a:ext cx="2286000" cy="233172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Under the US direct approach the ES measure is calculated on the full set of risk factors across the stress period, with proxies permitted to fill missing data subject to standard (vi). There is no provision for omitting a factor because its history cannot be justified — the choice is between having the data and demonstrating a proxy. Basel's alternative, under which the factor is omitted and the reduced set must still explain 75% of the fully specified model, belongs to its reduced-set architecture and should not be presented as US law.</a:t>
            </a:r>
            <a:endParaRPr lang="en-US" sz="950" dirty="0"/>
          </a:p>
        </p:txBody>
      </p:sp>
      <p:sp>
        <p:nvSpPr>
          <p:cNvPr id="15" name="Text 13"/>
          <p:cNvSpPr/>
          <p:nvPr/>
        </p:nvSpPr>
        <p:spPr>
          <a:xfrm>
            <a:off x="3602736" y="4956048"/>
            <a:ext cx="2286000" cy="256032"/>
          </a:xfrm>
          <a:prstGeom prst="rect">
            <a:avLst/>
          </a:prstGeom>
          <a:noFill/>
          <a:ln/>
        </p:spPr>
        <p:txBody>
          <a:bodyPr wrap="square" lIns="0" tIns="0" rIns="0" bIns="0" rtlCol="0" anchor="ctr"/>
          <a:lstStyle/>
          <a:p>
            <a:pPr indent="0" marL="0">
              <a:buNone/>
            </a:pPr>
            <a:r>
              <a:rPr lang="en-US" sz="800" b="1" dirty="0">
                <a:solidFill>
                  <a:srgbClr val="9A7212"/>
                </a:solidFill>
                <a:latin typeface="Calibri" pitchFamily="34" charset="0"/>
                <a:ea typeface="Calibri" pitchFamily="34" charset="-122"/>
                <a:cs typeface="Calibri" pitchFamily="34" charset="-120"/>
              </a:rPr>
              <a:t>§__.214  ·  MAR33.5(2)(b)</a:t>
            </a:r>
            <a:endParaRPr lang="en-US" sz="800" dirty="0"/>
          </a:p>
        </p:txBody>
      </p:sp>
      <p:sp>
        <p:nvSpPr>
          <p:cNvPr id="16" name="Shape 14"/>
          <p:cNvSpPr/>
          <p:nvPr/>
        </p:nvSpPr>
        <p:spPr>
          <a:xfrm>
            <a:off x="6199632" y="1572768"/>
            <a:ext cx="2697480" cy="3749040"/>
          </a:xfrm>
          <a:prstGeom prst="roundRect">
            <a:avLst>
              <a:gd name="adj" fmla="val 1695"/>
            </a:avLst>
          </a:prstGeom>
          <a:solidFill>
            <a:srgbClr val="FFFFFF"/>
          </a:solidFill>
          <a:ln w="9525">
            <a:solidFill>
              <a:srgbClr val="D9D5CC"/>
            </a:solidFill>
            <a:prstDash val="solid"/>
          </a:ln>
        </p:spPr>
      </p:sp>
      <p:sp>
        <p:nvSpPr>
          <p:cNvPr id="17" name="Shape 15"/>
          <p:cNvSpPr/>
          <p:nvPr/>
        </p:nvSpPr>
        <p:spPr>
          <a:xfrm>
            <a:off x="6428232" y="1773936"/>
            <a:ext cx="329184" cy="329184"/>
          </a:xfrm>
          <a:prstGeom prst="roundRect">
            <a:avLst>
              <a:gd name="adj" fmla="val 27778"/>
            </a:avLst>
          </a:prstGeom>
          <a:solidFill>
            <a:srgbClr val="C0392B"/>
          </a:solidFill>
          <a:ln w="12700">
            <a:solidFill>
              <a:srgbClr val="C0392B"/>
            </a:solidFill>
            <a:prstDash val="solid"/>
          </a:ln>
        </p:spPr>
      </p:sp>
      <p:sp>
        <p:nvSpPr>
          <p:cNvPr id="18" name="Text 16"/>
          <p:cNvSpPr/>
          <p:nvPr/>
        </p:nvSpPr>
        <p:spPr>
          <a:xfrm>
            <a:off x="6428232" y="2212848"/>
            <a:ext cx="228600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Desk eligibility</a:t>
            </a:r>
            <a:endParaRPr lang="en-US" sz="1400" dirty="0"/>
          </a:p>
        </p:txBody>
      </p:sp>
      <p:sp>
        <p:nvSpPr>
          <p:cNvPr id="19" name="Text 17"/>
          <p:cNvSpPr/>
          <p:nvPr/>
        </p:nvSpPr>
        <p:spPr>
          <a:xfrm>
            <a:off x="6428232" y="2578608"/>
            <a:ext cx="2286000" cy="233172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Basel Principle 7(b) provides that where a risk factor is represented by proxy data in the ES model, the proxy representation — not the risk factor itself — must be used in the risk-theoretical P&amp;L, unless the basis between them has been identified and properly capitalised. Since the hypothetical P&amp;L reflects actual pricing, that basis appears directly as divergence between the two series, which is the quantity the P&amp;L attribution test measures. Escaping it requires measuring the basis, which requires target-factor observations.</a:t>
            </a:r>
            <a:endParaRPr lang="en-US" sz="950" dirty="0"/>
          </a:p>
        </p:txBody>
      </p:sp>
      <p:sp>
        <p:nvSpPr>
          <p:cNvPr id="20" name="Text 18"/>
          <p:cNvSpPr/>
          <p:nvPr/>
        </p:nvSpPr>
        <p:spPr>
          <a:xfrm>
            <a:off x="6428232" y="4956048"/>
            <a:ext cx="2286000" cy="256032"/>
          </a:xfrm>
          <a:prstGeom prst="rect">
            <a:avLst/>
          </a:prstGeom>
          <a:noFill/>
          <a:ln/>
        </p:spPr>
        <p:txBody>
          <a:bodyPr wrap="square" lIns="0" tIns="0" rIns="0" bIns="0" rtlCol="0" anchor="ctr"/>
          <a:lstStyle/>
          <a:p>
            <a:pPr indent="0" marL="0">
              <a:buNone/>
            </a:pPr>
            <a:r>
              <a:rPr lang="en-US" sz="800" b="1" dirty="0">
                <a:solidFill>
                  <a:srgbClr val="9A7212"/>
                </a:solidFill>
                <a:latin typeface="Calibri" pitchFamily="34" charset="0"/>
                <a:ea typeface="Calibri" pitchFamily="34" charset="-122"/>
                <a:cs typeface="Calibri" pitchFamily="34" charset="-120"/>
              </a:rPr>
              <a:t>MAR31 PRINCIPLE 7(b)</a:t>
            </a:r>
            <a:endParaRPr lang="en-US" sz="800" dirty="0"/>
          </a:p>
        </p:txBody>
      </p:sp>
      <p:sp>
        <p:nvSpPr>
          <p:cNvPr id="21" name="Shape 19"/>
          <p:cNvSpPr/>
          <p:nvPr/>
        </p:nvSpPr>
        <p:spPr>
          <a:xfrm>
            <a:off x="9025128" y="1572768"/>
            <a:ext cx="2697480" cy="3749040"/>
          </a:xfrm>
          <a:prstGeom prst="roundRect">
            <a:avLst>
              <a:gd name="adj" fmla="val 1695"/>
            </a:avLst>
          </a:prstGeom>
          <a:solidFill>
            <a:srgbClr val="FFFFFF"/>
          </a:solidFill>
          <a:ln w="9525">
            <a:solidFill>
              <a:srgbClr val="D9D5CC"/>
            </a:solidFill>
            <a:prstDash val="solid"/>
          </a:ln>
        </p:spPr>
      </p:sp>
      <p:sp>
        <p:nvSpPr>
          <p:cNvPr id="22" name="Shape 20"/>
          <p:cNvSpPr/>
          <p:nvPr/>
        </p:nvSpPr>
        <p:spPr>
          <a:xfrm>
            <a:off x="9253728" y="1773936"/>
            <a:ext cx="329184" cy="329184"/>
          </a:xfrm>
          <a:prstGeom prst="roundRect">
            <a:avLst>
              <a:gd name="adj" fmla="val 27778"/>
            </a:avLst>
          </a:prstGeom>
          <a:solidFill>
            <a:srgbClr val="3F4A5A"/>
          </a:solidFill>
          <a:ln w="12700">
            <a:solidFill>
              <a:srgbClr val="3F4A5A"/>
            </a:solidFill>
            <a:prstDash val="solid"/>
          </a:ln>
        </p:spPr>
      </p:sp>
      <p:sp>
        <p:nvSpPr>
          <p:cNvPr id="23" name="Text 21"/>
          <p:cNvSpPr/>
          <p:nvPr/>
        </p:nvSpPr>
        <p:spPr>
          <a:xfrm>
            <a:off x="9253728" y="2212848"/>
            <a:ext cx="2286000" cy="292608"/>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Supervisory standing</a:t>
            </a:r>
            <a:endParaRPr lang="en-US" sz="1400" dirty="0"/>
          </a:p>
        </p:txBody>
      </p:sp>
      <p:sp>
        <p:nvSpPr>
          <p:cNvPr id="24" name="Text 22"/>
          <p:cNvSpPr/>
          <p:nvPr/>
        </p:nvSpPr>
        <p:spPr>
          <a:xfrm>
            <a:off x="9253728" y="2578608"/>
            <a:ext cx="2286000" cy="233172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The data must satisfy each applicable standard, and the supervisor may separately deem it unsuitable even where the listed requirements are met. A position that has not been evidenced is therefore not approved; it is unresolved, and it resolves at review. On an eighteen-month implementation horizon, an adverse resolution arrives at the point where remediation options have largely closed.</a:t>
            </a:r>
            <a:endParaRPr lang="en-US" sz="950" dirty="0"/>
          </a:p>
        </p:txBody>
      </p:sp>
      <p:sp>
        <p:nvSpPr>
          <p:cNvPr id="25" name="Text 23"/>
          <p:cNvSpPr/>
          <p:nvPr/>
        </p:nvSpPr>
        <p:spPr>
          <a:xfrm>
            <a:off x="9253728" y="4956048"/>
            <a:ext cx="2286000" cy="256032"/>
          </a:xfrm>
          <a:prstGeom prst="rect">
            <a:avLst/>
          </a:prstGeom>
          <a:noFill/>
          <a:ln/>
        </p:spPr>
        <p:txBody>
          <a:bodyPr wrap="square" lIns="0" tIns="0" rIns="0" bIns="0" rtlCol="0" anchor="ctr"/>
          <a:lstStyle/>
          <a:p>
            <a:pPr indent="0" marL="0">
              <a:buNone/>
            </a:pPr>
            <a:r>
              <a:rPr lang="en-US" sz="800" b="1" dirty="0">
                <a:solidFill>
                  <a:srgbClr val="9A7212"/>
                </a:solidFill>
                <a:latin typeface="Calibri" pitchFamily="34" charset="0"/>
                <a:ea typeface="Calibri" pitchFamily="34" charset="-122"/>
                <a:cs typeface="Calibri" pitchFamily="34" charset="-120"/>
              </a:rPr>
              <a:t>§__.214(b)(2)</a:t>
            </a:r>
            <a:endParaRPr lang="en-US" sz="800" dirty="0"/>
          </a:p>
        </p:txBody>
      </p:sp>
      <p:sp>
        <p:nvSpPr>
          <p:cNvPr id="26" name="Shape 24"/>
          <p:cNvSpPr/>
          <p:nvPr/>
        </p:nvSpPr>
        <p:spPr>
          <a:xfrm>
            <a:off x="548640" y="5486400"/>
            <a:ext cx="11064240" cy="530352"/>
          </a:xfrm>
          <a:prstGeom prst="roundRect">
            <a:avLst>
              <a:gd name="adj" fmla="val 8621"/>
            </a:avLst>
          </a:prstGeom>
          <a:solidFill>
            <a:srgbClr val="1B2A4A"/>
          </a:solidFill>
          <a:ln w="12700">
            <a:solidFill>
              <a:srgbClr val="1B2A4A"/>
            </a:solidFill>
            <a:prstDash val="solid"/>
          </a:ln>
        </p:spPr>
      </p:sp>
      <p:sp>
        <p:nvSpPr>
          <p:cNvPr id="27" name="Text 25"/>
          <p:cNvSpPr/>
          <p:nvPr/>
        </p:nvSpPr>
        <p:spPr>
          <a:xfrm>
            <a:off x="822960" y="5486400"/>
            <a:ext cx="10515600" cy="5303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SES is a capital number owned by risk. P&amp;L attribution outcomes move a desk to the standardised measure — which makes this a front-office question, not only a risk one.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SCOPE</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What the rule does not require</a:t>
            </a:r>
            <a:endParaRPr lang="en-US" sz="2500" dirty="0"/>
          </a:p>
        </p:txBody>
      </p:sp>
      <p:sp>
        <p:nvSpPr>
          <p:cNvPr id="4" name="Text 2"/>
          <p:cNvSpPr/>
          <p:nvPr/>
        </p:nvSpPr>
        <p:spPr>
          <a:xfrm>
            <a:off x="548640" y="1033272"/>
            <a:ext cx="11064240" cy="310896"/>
          </a:xfrm>
          <a:prstGeom prst="rect">
            <a:avLst/>
          </a:prstGeom>
          <a:noFill/>
          <a:ln/>
        </p:spPr>
        <p:txBody>
          <a:bodyPr wrap="square" lIns="0" tIns="0" rIns="0" bIns="0" rtlCol="0" anchor="t"/>
          <a:lstStyle/>
          <a:p>
            <a:pPr indent="0" marL="0">
              <a:buNone/>
            </a:pPr>
            <a:r>
              <a:rPr lang="en-US" sz="1200" dirty="0">
                <a:solidFill>
                  <a:srgbClr val="3F4A5A"/>
                </a:solidFill>
                <a:latin typeface="Calibri" pitchFamily="34" charset="0"/>
                <a:ea typeface="Calibri" pitchFamily="34" charset="-122"/>
                <a:cs typeface="Calibri" pitchFamily="34" charset="-120"/>
              </a:rPr>
              <a:t>The strongest text available to the retention position is set out here in full, because a position that has not absorbed it will not survive the room.</a:t>
            </a:r>
            <a:endParaRPr lang="en-US" sz="1200" dirty="0"/>
          </a:p>
        </p:txBody>
      </p:sp>
      <p:sp>
        <p:nvSpPr>
          <p:cNvPr id="5" name="Text 3"/>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572768"/>
            <a:ext cx="11064240" cy="1371600"/>
          </a:xfrm>
          <a:prstGeom prst="roundRect">
            <a:avLst>
              <a:gd name="adj" fmla="val 3333"/>
            </a:avLst>
          </a:prstGeom>
          <a:solidFill>
            <a:srgbClr val="F5F0E4"/>
          </a:solidFill>
          <a:ln w="9525">
            <a:solidFill>
              <a:srgbClr val="9A7212"/>
            </a:solidFill>
            <a:prstDash val="solid"/>
          </a:ln>
        </p:spPr>
      </p:sp>
      <p:sp>
        <p:nvSpPr>
          <p:cNvPr id="7" name="Text 5"/>
          <p:cNvSpPr/>
          <p:nvPr/>
        </p:nvSpPr>
        <p:spPr>
          <a:xfrm>
            <a:off x="822960" y="1700784"/>
            <a:ext cx="10515600" cy="219456"/>
          </a:xfrm>
          <a:prstGeom prst="rect">
            <a:avLst/>
          </a:prstGeom>
          <a:noFill/>
          <a:ln/>
        </p:spPr>
        <p:txBody>
          <a:bodyPr wrap="square" lIns="0" tIns="0" rIns="0" bIns="0" rtlCol="0" anchor="ctr"/>
          <a:lstStyle/>
          <a:p>
            <a:pPr indent="0" marL="0">
              <a:buNone/>
            </a:pPr>
            <a:r>
              <a:rPr lang="en-US" sz="900" b="1" spc="150" kern="0" dirty="0">
                <a:solidFill>
                  <a:srgbClr val="9A7212"/>
                </a:solidFill>
                <a:latin typeface="Calibri" pitchFamily="34" charset="0"/>
                <a:ea typeface="Calibri" pitchFamily="34" charset="-122"/>
                <a:cs typeface="Calibri" pitchFamily="34" charset="-120"/>
              </a:rPr>
              <a:t>BASEL MAR31 PRINCIPLE 1</a:t>
            </a:r>
            <a:endParaRPr lang="en-US" sz="900" dirty="0"/>
          </a:p>
        </p:txBody>
      </p:sp>
      <p:sp>
        <p:nvSpPr>
          <p:cNvPr id="8" name="Text 6"/>
          <p:cNvSpPr/>
          <p:nvPr/>
        </p:nvSpPr>
        <p:spPr>
          <a:xfrm>
            <a:off x="822960" y="1956816"/>
            <a:ext cx="10515600" cy="859536"/>
          </a:xfrm>
          <a:prstGeom prst="rect">
            <a:avLst/>
          </a:prstGeom>
          <a:noFill/>
          <a:ln/>
        </p:spPr>
        <p:txBody>
          <a:bodyPr wrap="square" lIns="0" tIns="0" rIns="0" bIns="0" rtlCol="0" anchor="t"/>
          <a:lstStyle/>
          <a:p>
            <a:pPr indent="0" marL="0">
              <a:lnSpc>
                <a:spcPts val="1500"/>
              </a:lnSpc>
              <a:buNone/>
            </a:pPr>
            <a:r>
              <a:rPr lang="en-US" sz="1050" i="1" dirty="0">
                <a:solidFill>
                  <a:srgbClr val="1B2A4A"/>
                </a:solidFill>
                <a:latin typeface="Calibri" pitchFamily="34" charset="0"/>
                <a:ea typeface="Calibri" pitchFamily="34" charset="-122"/>
                <a:cs typeface="Calibri" pitchFamily="34" charset="-120"/>
              </a:rPr>
              <a:t>“The data used may include combinations of modellable risk factors. Banks often price instruments as a combination of risk factors. Generally, risk factors derived solely from a combination of modellable risk factors are modellable. For example, risk factors derived through multifactor beta models for which inputs and calibrations are based solely on modellable risk factors, can be classified as modellable and can be included within the ES model.” Banks may also compress risk factors into a smaller dimension of orthogonal risk factors, and derive parameters — such as in models of stochastic implied volatility — without those parameters being directly observable in the market.</a:t>
            </a:r>
            <a:endParaRPr lang="en-US" sz="1050" dirty="0"/>
          </a:p>
        </p:txBody>
      </p:sp>
      <p:sp>
        <p:nvSpPr>
          <p:cNvPr id="9" name="Shape 7"/>
          <p:cNvSpPr/>
          <p:nvPr/>
        </p:nvSpPr>
        <p:spPr>
          <a:xfrm>
            <a:off x="548640" y="3090672"/>
            <a:ext cx="5440680" cy="2103120"/>
          </a:xfrm>
          <a:prstGeom prst="roundRect">
            <a:avLst>
              <a:gd name="adj" fmla="val 2174"/>
            </a:avLst>
          </a:prstGeom>
          <a:solidFill>
            <a:srgbClr val="FFFFFF"/>
          </a:solidFill>
          <a:ln w="9525">
            <a:solidFill>
              <a:srgbClr val="D9D5CC"/>
            </a:solidFill>
            <a:prstDash val="solid"/>
          </a:ln>
        </p:spPr>
      </p:sp>
      <p:sp>
        <p:nvSpPr>
          <p:cNvPr id="10" name="Text 8"/>
          <p:cNvSpPr/>
          <p:nvPr/>
        </p:nvSpPr>
        <p:spPr>
          <a:xfrm>
            <a:off x="804672" y="3236976"/>
            <a:ext cx="5394960" cy="219456"/>
          </a:xfrm>
          <a:prstGeom prst="rect">
            <a:avLst/>
          </a:prstGeom>
          <a:noFill/>
          <a:ln/>
        </p:spPr>
        <p:txBody>
          <a:bodyPr wrap="square" lIns="0" tIns="0" rIns="0" bIns="0" rtlCol="0" anchor="ctr"/>
          <a:lstStyle/>
          <a:p>
            <a:pPr indent="0" marL="0">
              <a:buNone/>
            </a:pPr>
            <a:r>
              <a:rPr lang="en-US" sz="900" b="1" spc="180" kern="0" dirty="0">
                <a:solidFill>
                  <a:srgbClr val="2F6F4E"/>
                </a:solidFill>
                <a:latin typeface="Calibri" pitchFamily="34" charset="0"/>
                <a:ea typeface="Calibri" pitchFamily="34" charset="-122"/>
                <a:cs typeface="Calibri" pitchFamily="34" charset="-120"/>
              </a:rPr>
              <a:t>SO THE RULE DOES NOT REQUIRE</a:t>
            </a:r>
            <a:endParaRPr lang="en-US" sz="900" dirty="0"/>
          </a:p>
        </p:txBody>
      </p:sp>
      <p:sp>
        <p:nvSpPr>
          <p:cNvPr id="11" name="Text 9"/>
          <p:cNvSpPr/>
          <p:nvPr/>
        </p:nvSpPr>
        <p:spPr>
          <a:xfrm>
            <a:off x="804672" y="3493008"/>
            <a:ext cx="4937760" cy="1600200"/>
          </a:xfrm>
          <a:prstGeom prst="rect">
            <a:avLst/>
          </a:prstGeom>
          <a:noFill/>
          <a:ln/>
        </p:spPr>
        <p:txBody>
          <a:bodyPr wrap="square" lIns="0" tIns="0" rIns="0" bIns="0" rtlCol="0" anchor="t"/>
          <a:lstStyle/>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Directly observed stress-period history for every risk factor. A prohibition on proxies — they are expressly permitted and expected. A prohibition on derived, interpolated, compressed or modelled risk factors. Regeneration of the full history from 2007.</a:t>
            </a:r>
            <a:endParaRPr lang="en-US" sz="1050" dirty="0"/>
          </a:p>
          <a:p>
            <a:pPr indent="0" marL="0">
              <a:lnSpc>
                <a:spcPts val="1400"/>
              </a:lnSpc>
              <a:buNone/>
            </a:pPr>
            <a:endParaRPr lang="en-US" sz="1050" dirty="0"/>
          </a:p>
          <a:p>
            <a:pPr indent="0" marL="0">
              <a:lnSpc>
                <a:spcPts val="1400"/>
              </a:lnSpc>
              <a:buNone/>
            </a:pPr>
            <a:r>
              <a:rPr lang="en-US" sz="1050" dirty="0">
                <a:solidFill>
                  <a:srgbClr val="3F4A5A"/>
                </a:solidFill>
                <a:latin typeface="Calibri" pitchFamily="34" charset="0"/>
                <a:ea typeface="Calibri" pitchFamily="34" charset="-122"/>
                <a:cs typeface="Calibri" pitchFamily="34" charset="-120"/>
              </a:rPr>
              <a:t>The correct position is therefore not that historical data must resemble today's raw market data. Transformation, derivation, proxying and reconstruction are all permitted. What the rule requires is that the resulting risk-factor history still satisfies the data standards.</a:t>
            </a:r>
            <a:endParaRPr lang="en-US" sz="1050" dirty="0"/>
          </a:p>
        </p:txBody>
      </p:sp>
      <p:sp>
        <p:nvSpPr>
          <p:cNvPr id="12" name="Shape 10"/>
          <p:cNvSpPr/>
          <p:nvPr/>
        </p:nvSpPr>
        <p:spPr>
          <a:xfrm>
            <a:off x="6172200" y="3090672"/>
            <a:ext cx="5440680" cy="2103120"/>
          </a:xfrm>
          <a:prstGeom prst="roundRect">
            <a:avLst>
              <a:gd name="adj" fmla="val 2174"/>
            </a:avLst>
          </a:prstGeom>
          <a:solidFill>
            <a:srgbClr val="F7F5F1"/>
          </a:solidFill>
          <a:ln w="9525">
            <a:solidFill>
              <a:srgbClr val="D9D5CC"/>
            </a:solidFill>
            <a:prstDash val="solid"/>
          </a:ln>
        </p:spPr>
      </p:sp>
      <p:sp>
        <p:nvSpPr>
          <p:cNvPr id="13" name="Text 11"/>
          <p:cNvSpPr/>
          <p:nvPr/>
        </p:nvSpPr>
        <p:spPr>
          <a:xfrm>
            <a:off x="6428232" y="3236976"/>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AND THE LIMITS THE SAME TEXTS IMPOSE</a:t>
            </a:r>
            <a:endParaRPr lang="en-US" sz="900" dirty="0"/>
          </a:p>
        </p:txBody>
      </p:sp>
      <p:sp>
        <p:nvSpPr>
          <p:cNvPr id="14" name="Text 12"/>
          <p:cNvSpPr/>
          <p:nvPr/>
        </p:nvSpPr>
        <p:spPr>
          <a:xfrm>
            <a:off x="6428232" y="3493008"/>
            <a:ext cx="4937760" cy="160020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Betas must be empirically based and must not be determined by judgment; where they are, the factor should generally be treated as NMRF. A multifactor model must have significant explanatory power for price movements and must provide an assessment of the uncertainty in the outcome arising from the use of a proxy. Remaining idiosyncratic risk must be demonstrably uncorrelated across issuers. A factor derived from modellable factors mapped to distinct buckets is modellable only if it also passes RFET. Interpolation must be consistent with the mappings used for PLA. Extrapolation requires supervisory approval and must not rely on a single nearby factor.</a:t>
            </a:r>
            <a:endParaRPr lang="en-US" sz="1050" dirty="0"/>
          </a:p>
        </p:txBody>
      </p:sp>
      <p:sp>
        <p:nvSpPr>
          <p:cNvPr id="15" name="Shape 13"/>
          <p:cNvSpPr/>
          <p:nvPr/>
        </p:nvSpPr>
        <p:spPr>
          <a:xfrm>
            <a:off x="548640" y="5394960"/>
            <a:ext cx="11064240" cy="530352"/>
          </a:xfrm>
          <a:prstGeom prst="roundRect">
            <a:avLst>
              <a:gd name="adj" fmla="val 8621"/>
            </a:avLst>
          </a:prstGeom>
          <a:solidFill>
            <a:srgbClr val="9A7212"/>
          </a:solidFill>
          <a:ln w="12700">
            <a:solidFill>
              <a:srgbClr val="9A7212"/>
            </a:solidFill>
            <a:prstDash val="solid"/>
          </a:ln>
        </p:spPr>
      </p:sp>
      <p:sp>
        <p:nvSpPr>
          <p:cNvPr id="16" name="Text 14"/>
          <p:cNvSpPr/>
          <p:nvPr/>
        </p:nvSpPr>
        <p:spPr>
          <a:xfrm>
            <a:off x="822960" y="5394960"/>
            <a:ext cx="10515600" cy="5303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question is therefore not proxy versus no proxy. It is calibrated model versus assignment.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ANTICIPATED OBJECTIONS</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The arguments against, and the answers</a:t>
            </a:r>
            <a:endParaRPr lang="en-US" sz="2500" dirty="0"/>
          </a:p>
        </p:txBody>
      </p:sp>
      <p:sp>
        <p:nvSpPr>
          <p:cNvPr id="4" name="Text 2"/>
          <p:cNvSpPr/>
          <p:nvPr/>
        </p:nvSpPr>
        <p:spPr>
          <a:xfrm>
            <a:off x="548640" y="1033272"/>
            <a:ext cx="11064240" cy="310896"/>
          </a:xfrm>
          <a:prstGeom prst="rect">
            <a:avLst/>
          </a:prstGeom>
          <a:noFill/>
          <a:ln/>
        </p:spPr>
        <p:txBody>
          <a:bodyPr wrap="square" lIns="0" tIns="0" rIns="0" bIns="0" rtlCol="0" anchor="t"/>
          <a:lstStyle/>
          <a:p>
            <a:pPr indent="0" marL="0">
              <a:buNone/>
            </a:pPr>
            <a:r>
              <a:rPr lang="en-US" sz="1200" dirty="0">
                <a:solidFill>
                  <a:srgbClr val="3F4A5A"/>
                </a:solidFill>
                <a:latin typeface="Calibri" pitchFamily="34" charset="0"/>
                <a:ea typeface="Calibri" pitchFamily="34" charset="-122"/>
                <a:cs typeface="Calibri" pitchFamily="34" charset="-120"/>
              </a:rPr>
              <a:t>Each of these is a reasonable position. None of them is disposed of by assertion.</a:t>
            </a:r>
            <a:endParaRPr lang="en-US" sz="1200" dirty="0"/>
          </a:p>
        </p:txBody>
      </p:sp>
      <p:sp>
        <p:nvSpPr>
          <p:cNvPr id="5" name="Text 3"/>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691640"/>
            <a:ext cx="5394960" cy="1280160"/>
          </a:xfrm>
          <a:prstGeom prst="roundRect">
            <a:avLst>
              <a:gd name="adj" fmla="val 3571"/>
            </a:avLst>
          </a:prstGeom>
          <a:solidFill>
            <a:srgbClr val="FFFFFF"/>
          </a:solidFill>
          <a:ln w="9525">
            <a:solidFill>
              <a:srgbClr val="D9D5CC"/>
            </a:solidFill>
            <a:prstDash val="solid"/>
          </a:ln>
        </p:spPr>
      </p:sp>
      <p:sp>
        <p:nvSpPr>
          <p:cNvPr id="7" name="Text 5"/>
          <p:cNvSpPr/>
          <p:nvPr/>
        </p:nvSpPr>
        <p:spPr>
          <a:xfrm>
            <a:off x="777240" y="1828800"/>
            <a:ext cx="4937760" cy="384048"/>
          </a:xfrm>
          <a:prstGeom prst="rect">
            <a:avLst/>
          </a:prstGeom>
          <a:noFill/>
          <a:ln/>
        </p:spPr>
        <p:txBody>
          <a:bodyPr wrap="square" lIns="0" tIns="0" rIns="0" bIns="0" rtlCol="0" anchor="t"/>
          <a:lstStyle/>
          <a:p>
            <a:pPr indent="0" marL="0">
              <a:lnSpc>
                <a:spcPts val="1500"/>
              </a:lnSpc>
              <a:buNone/>
            </a:pPr>
            <a:r>
              <a:rPr lang="en-US" sz="1100" dirty="0">
                <a:solidFill>
                  <a:srgbClr val="1B2A4A"/>
                </a:solidFill>
                <a:latin typeface="Calibri" pitchFamily="34" charset="0"/>
                <a:ea typeface="Calibri" pitchFamily="34" charset="-122"/>
                <a:cs typeface="Calibri" pitchFamily="34" charset="-120"/>
              </a:rPr>
              <a:t>“This data has been used for regulatory capital since Basel 2.5.”</a:t>
            </a:r>
            <a:endParaRPr lang="en-US" sz="1100" dirty="0"/>
          </a:p>
        </p:txBody>
      </p:sp>
      <p:sp>
        <p:nvSpPr>
          <p:cNvPr id="8" name="Text 6"/>
          <p:cNvSpPr/>
          <p:nvPr/>
        </p:nvSpPr>
        <p:spPr>
          <a:xfrm>
            <a:off x="777240" y="2221992"/>
            <a:ext cx="4937760" cy="658368"/>
          </a:xfrm>
          <a:prstGeom prst="rect">
            <a:avLst/>
          </a:prstGeom>
          <a:noFill/>
          <a:ln/>
        </p:spPr>
        <p:txBody>
          <a:bodyPr wrap="square" lIns="0" tIns="0" rIns="0" bIns="0" rtlCol="0" anchor="t"/>
          <a:lstStyle/>
          <a:p>
            <a:pPr indent="0" marL="0">
              <a:lnSpc>
                <a:spcPts val="1300"/>
              </a:lnSpc>
              <a:buNone/>
            </a:pPr>
            <a:r>
              <a:rPr lang="en-US" sz="1000" dirty="0">
                <a:solidFill>
                  <a:srgbClr val="3F4A5A"/>
                </a:solidFill>
                <a:latin typeface="Calibri" pitchFamily="34" charset="0"/>
                <a:ea typeface="Calibri" pitchFamily="34" charset="-122"/>
                <a:cs typeface="Calibri" pitchFamily="34" charset="-120"/>
              </a:rPr>
              <a:t>Prior acceptance was acceptance of a construction built for a different risk-factor taxonomy under a different capital measure. The standards define appropriateness by what the data lets the model do, not by its provenance or its history of use.</a:t>
            </a:r>
            <a:endParaRPr lang="en-US" sz="1000" dirty="0"/>
          </a:p>
        </p:txBody>
      </p:sp>
      <p:sp>
        <p:nvSpPr>
          <p:cNvPr id="9" name="Shape 7"/>
          <p:cNvSpPr/>
          <p:nvPr/>
        </p:nvSpPr>
        <p:spPr>
          <a:xfrm>
            <a:off x="6172200" y="1691640"/>
            <a:ext cx="5394960" cy="1280160"/>
          </a:xfrm>
          <a:prstGeom prst="roundRect">
            <a:avLst>
              <a:gd name="adj" fmla="val 3571"/>
            </a:avLst>
          </a:prstGeom>
          <a:solidFill>
            <a:srgbClr val="F7F5F1"/>
          </a:solidFill>
          <a:ln w="9525">
            <a:solidFill>
              <a:srgbClr val="D9D5CC"/>
            </a:solidFill>
            <a:prstDash val="solid"/>
          </a:ln>
        </p:spPr>
      </p:sp>
      <p:sp>
        <p:nvSpPr>
          <p:cNvPr id="10" name="Text 8"/>
          <p:cNvSpPr/>
          <p:nvPr/>
        </p:nvSpPr>
        <p:spPr>
          <a:xfrm>
            <a:off x="6400800" y="1828800"/>
            <a:ext cx="4937760" cy="384048"/>
          </a:xfrm>
          <a:prstGeom prst="rect">
            <a:avLst/>
          </a:prstGeom>
          <a:noFill/>
          <a:ln/>
        </p:spPr>
        <p:txBody>
          <a:bodyPr wrap="square" lIns="0" tIns="0" rIns="0" bIns="0" rtlCol="0" anchor="t"/>
          <a:lstStyle/>
          <a:p>
            <a:pPr indent="0" marL="0">
              <a:lnSpc>
                <a:spcPts val="1500"/>
              </a:lnSpc>
              <a:buNone/>
            </a:pPr>
            <a:r>
              <a:rPr lang="en-US" sz="1100" dirty="0">
                <a:solidFill>
                  <a:srgbClr val="1B2A4A"/>
                </a:solidFill>
                <a:latin typeface="Calibri" pitchFamily="34" charset="0"/>
                <a:ea typeface="Calibri" pitchFamily="34" charset="-122"/>
                <a:cs typeface="Calibri" pitchFamily="34" charset="-120"/>
              </a:rPr>
              <a:t>“These risk factors passed the eligibility test.”</a:t>
            </a:r>
            <a:endParaRPr lang="en-US" sz="1100" dirty="0"/>
          </a:p>
        </p:txBody>
      </p:sp>
      <p:sp>
        <p:nvSpPr>
          <p:cNvPr id="11" name="Text 9"/>
          <p:cNvSpPr/>
          <p:nvPr/>
        </p:nvSpPr>
        <p:spPr>
          <a:xfrm>
            <a:off x="6400800" y="2221992"/>
            <a:ext cx="4937760" cy="658368"/>
          </a:xfrm>
          <a:prstGeom prst="rect">
            <a:avLst/>
          </a:prstGeom>
          <a:noFill/>
          <a:ln/>
        </p:spPr>
        <p:txBody>
          <a:bodyPr wrap="square" lIns="0" tIns="0" rIns="0" bIns="0" rtlCol="0" anchor="t"/>
          <a:lstStyle/>
          <a:p>
            <a:pPr indent="0" marL="0">
              <a:lnSpc>
                <a:spcPts val="1300"/>
              </a:lnSpc>
              <a:buNone/>
            </a:pPr>
            <a:r>
              <a:rPr lang="en-US" sz="1000" dirty="0">
                <a:solidFill>
                  <a:srgbClr val="3F4A5A"/>
                </a:solidFill>
                <a:latin typeface="Calibri" pitchFamily="34" charset="0"/>
                <a:ea typeface="Calibri" pitchFamily="34" charset="-122"/>
                <a:cs typeface="Calibri" pitchFamily="34" charset="-120"/>
              </a:rPr>
              <a:t>RFET is a current-period count in §__.215. The data standards sit in §__.214(b)(2) and apply to the data behind every risk factor in the ES model. The two gates are independent, and the definition of modellability is conjunctive.</a:t>
            </a:r>
            <a:endParaRPr lang="en-US" sz="1000" dirty="0"/>
          </a:p>
        </p:txBody>
      </p:sp>
      <p:sp>
        <p:nvSpPr>
          <p:cNvPr id="12" name="Shape 10"/>
          <p:cNvSpPr/>
          <p:nvPr/>
        </p:nvSpPr>
        <p:spPr>
          <a:xfrm>
            <a:off x="548640" y="3108960"/>
            <a:ext cx="5394960" cy="1280160"/>
          </a:xfrm>
          <a:prstGeom prst="roundRect">
            <a:avLst>
              <a:gd name="adj" fmla="val 3571"/>
            </a:avLst>
          </a:prstGeom>
          <a:solidFill>
            <a:srgbClr val="FFFFFF"/>
          </a:solidFill>
          <a:ln w="9525">
            <a:solidFill>
              <a:srgbClr val="D9D5CC"/>
            </a:solidFill>
            <a:prstDash val="solid"/>
          </a:ln>
        </p:spPr>
      </p:sp>
      <p:sp>
        <p:nvSpPr>
          <p:cNvPr id="13" name="Text 11"/>
          <p:cNvSpPr/>
          <p:nvPr/>
        </p:nvSpPr>
        <p:spPr>
          <a:xfrm>
            <a:off x="777240" y="3246120"/>
            <a:ext cx="4937760" cy="384048"/>
          </a:xfrm>
          <a:prstGeom prst="rect">
            <a:avLst/>
          </a:prstGeom>
          <a:noFill/>
          <a:ln/>
        </p:spPr>
        <p:txBody>
          <a:bodyPr wrap="square" lIns="0" tIns="0" rIns="0" bIns="0" rtlCol="0" anchor="t"/>
          <a:lstStyle/>
          <a:p>
            <a:pPr indent="0" marL="0">
              <a:lnSpc>
                <a:spcPts val="1500"/>
              </a:lnSpc>
              <a:buNone/>
            </a:pPr>
            <a:r>
              <a:rPr lang="en-US" sz="1100" dirty="0">
                <a:solidFill>
                  <a:srgbClr val="1B2A4A"/>
                </a:solidFill>
                <a:latin typeface="Calibri" pitchFamily="34" charset="0"/>
                <a:ea typeface="Calibri" pitchFamily="34" charset="-122"/>
                <a:cs typeface="Calibri" pitchFamily="34" charset="-120"/>
              </a:rPr>
              <a:t>“Proxies are expressly permitted by the rule.”</a:t>
            </a:r>
            <a:endParaRPr lang="en-US" sz="1100" dirty="0"/>
          </a:p>
        </p:txBody>
      </p:sp>
      <p:sp>
        <p:nvSpPr>
          <p:cNvPr id="14" name="Text 12"/>
          <p:cNvSpPr/>
          <p:nvPr/>
        </p:nvSpPr>
        <p:spPr>
          <a:xfrm>
            <a:off x="777240" y="3639312"/>
            <a:ext cx="4937760" cy="658368"/>
          </a:xfrm>
          <a:prstGeom prst="rect">
            <a:avLst/>
          </a:prstGeom>
          <a:noFill/>
          <a:ln/>
        </p:spPr>
        <p:txBody>
          <a:bodyPr wrap="square" lIns="0" tIns="0" rIns="0" bIns="0" rtlCol="0" anchor="t"/>
          <a:lstStyle/>
          <a:p>
            <a:pPr indent="0" marL="0">
              <a:lnSpc>
                <a:spcPts val="1300"/>
              </a:lnSpc>
              <a:buNone/>
            </a:pPr>
            <a:r>
              <a:rPr lang="en-US" sz="1000" dirty="0">
                <a:solidFill>
                  <a:srgbClr val="3F4A5A"/>
                </a:solidFill>
                <a:latin typeface="Calibri" pitchFamily="34" charset="0"/>
                <a:ea typeface="Calibri" pitchFamily="34" charset="-122"/>
                <a:cs typeface="Calibri" pitchFamily="34" charset="-120"/>
              </a:rPr>
              <a:t>They are, and that is not in dispute. Permission is conditioned in every source on three demonstrations, each of which requires evidence about the target risk factor and not only about the proxy.</a:t>
            </a:r>
            <a:endParaRPr lang="en-US" sz="1000" dirty="0"/>
          </a:p>
        </p:txBody>
      </p:sp>
      <p:sp>
        <p:nvSpPr>
          <p:cNvPr id="15" name="Shape 13"/>
          <p:cNvSpPr/>
          <p:nvPr/>
        </p:nvSpPr>
        <p:spPr>
          <a:xfrm>
            <a:off x="6172200" y="3108960"/>
            <a:ext cx="5394960" cy="1280160"/>
          </a:xfrm>
          <a:prstGeom prst="roundRect">
            <a:avLst>
              <a:gd name="adj" fmla="val 3571"/>
            </a:avLst>
          </a:prstGeom>
          <a:solidFill>
            <a:srgbClr val="F7F5F1"/>
          </a:solidFill>
          <a:ln w="9525">
            <a:solidFill>
              <a:srgbClr val="D9D5CC"/>
            </a:solidFill>
            <a:prstDash val="solid"/>
          </a:ln>
        </p:spPr>
      </p:sp>
      <p:sp>
        <p:nvSpPr>
          <p:cNvPr id="16" name="Text 14"/>
          <p:cNvSpPr/>
          <p:nvPr/>
        </p:nvSpPr>
        <p:spPr>
          <a:xfrm>
            <a:off x="6400800" y="3246120"/>
            <a:ext cx="4937760" cy="384048"/>
          </a:xfrm>
          <a:prstGeom prst="rect">
            <a:avLst/>
          </a:prstGeom>
          <a:noFill/>
          <a:ln/>
        </p:spPr>
        <p:txBody>
          <a:bodyPr wrap="square" lIns="0" tIns="0" rIns="0" bIns="0" rtlCol="0" anchor="t"/>
          <a:lstStyle/>
          <a:p>
            <a:pPr indent="0" marL="0">
              <a:lnSpc>
                <a:spcPts val="1500"/>
              </a:lnSpc>
              <a:buNone/>
            </a:pPr>
            <a:r>
              <a:rPr lang="en-US" sz="1100" dirty="0">
                <a:solidFill>
                  <a:srgbClr val="1B2A4A"/>
                </a:solidFill>
                <a:latin typeface="Calibri" pitchFamily="34" charset="0"/>
                <a:ea typeface="Calibri" pitchFamily="34" charset="-122"/>
                <a:cs typeface="Calibri" pitchFamily="34" charset="-120"/>
              </a:rPr>
              <a:t>“'Sufficiently similar' has no numeric threshold, so this is a matter of judgment.”</a:t>
            </a:r>
            <a:endParaRPr lang="en-US" sz="1100" dirty="0"/>
          </a:p>
        </p:txBody>
      </p:sp>
      <p:sp>
        <p:nvSpPr>
          <p:cNvPr id="17" name="Text 15"/>
          <p:cNvSpPr/>
          <p:nvPr/>
        </p:nvSpPr>
        <p:spPr>
          <a:xfrm>
            <a:off x="6400800" y="3639312"/>
            <a:ext cx="4937760" cy="658368"/>
          </a:xfrm>
          <a:prstGeom prst="rect">
            <a:avLst/>
          </a:prstGeom>
          <a:noFill/>
          <a:ln/>
        </p:spPr>
        <p:txBody>
          <a:bodyPr wrap="square" lIns="0" tIns="0" rIns="0" bIns="0" rtlCol="0" anchor="t"/>
          <a:lstStyle/>
          <a:p>
            <a:pPr indent="0" marL="0">
              <a:lnSpc>
                <a:spcPts val="1300"/>
              </a:lnSpc>
              <a:buNone/>
            </a:pPr>
            <a:r>
              <a:rPr lang="en-US" sz="1000" dirty="0">
                <a:solidFill>
                  <a:srgbClr val="3F4A5A"/>
                </a:solidFill>
                <a:latin typeface="Calibri" pitchFamily="34" charset="0"/>
                <a:ea typeface="Calibri" pitchFamily="34" charset="-122"/>
                <a:cs typeface="Calibri" pitchFamily="34" charset="-120"/>
              </a:rPr>
              <a:t>Correct. The absence of a threshold does not remove the standard; it moves the outcome to supervisory discretion. The one numeric threshold in the framework is the 75% the reduced set must explain, and that is where retained gaps eventually register.</a:t>
            </a:r>
            <a:endParaRPr lang="en-US" sz="1000" dirty="0"/>
          </a:p>
        </p:txBody>
      </p:sp>
      <p:sp>
        <p:nvSpPr>
          <p:cNvPr id="18" name="Shape 16"/>
          <p:cNvSpPr/>
          <p:nvPr/>
        </p:nvSpPr>
        <p:spPr>
          <a:xfrm>
            <a:off x="548640" y="4526280"/>
            <a:ext cx="5394960" cy="1280160"/>
          </a:xfrm>
          <a:prstGeom prst="roundRect">
            <a:avLst>
              <a:gd name="adj" fmla="val 3571"/>
            </a:avLst>
          </a:prstGeom>
          <a:solidFill>
            <a:srgbClr val="FFFFFF"/>
          </a:solidFill>
          <a:ln w="9525">
            <a:solidFill>
              <a:srgbClr val="D9D5CC"/>
            </a:solidFill>
            <a:prstDash val="solid"/>
          </a:ln>
        </p:spPr>
      </p:sp>
      <p:sp>
        <p:nvSpPr>
          <p:cNvPr id="19" name="Text 17"/>
          <p:cNvSpPr/>
          <p:nvPr/>
        </p:nvSpPr>
        <p:spPr>
          <a:xfrm>
            <a:off x="777240" y="4663440"/>
            <a:ext cx="4937760" cy="384048"/>
          </a:xfrm>
          <a:prstGeom prst="rect">
            <a:avLst/>
          </a:prstGeom>
          <a:noFill/>
          <a:ln/>
        </p:spPr>
        <p:txBody>
          <a:bodyPr wrap="square" lIns="0" tIns="0" rIns="0" bIns="0" rtlCol="0" anchor="t"/>
          <a:lstStyle/>
          <a:p>
            <a:pPr indent="0" marL="0">
              <a:lnSpc>
                <a:spcPts val="1500"/>
              </a:lnSpc>
              <a:buNone/>
            </a:pPr>
            <a:r>
              <a:rPr lang="en-US" sz="1100" dirty="0">
                <a:solidFill>
                  <a:srgbClr val="1B2A4A"/>
                </a:solidFill>
                <a:latin typeface="Calibri" pitchFamily="34" charset="0"/>
                <a:ea typeface="Calibri" pitchFamily="34" charset="-122"/>
                <a:cs typeface="Calibri" pitchFamily="34" charset="-120"/>
              </a:rPr>
              <a:t>“The supervisor may take a pragmatic view.”</a:t>
            </a:r>
            <a:endParaRPr lang="en-US" sz="1100" dirty="0"/>
          </a:p>
        </p:txBody>
      </p:sp>
      <p:sp>
        <p:nvSpPr>
          <p:cNvPr id="20" name="Text 18"/>
          <p:cNvSpPr/>
          <p:nvPr/>
        </p:nvSpPr>
        <p:spPr>
          <a:xfrm>
            <a:off x="777240" y="5056632"/>
            <a:ext cx="4937760" cy="658368"/>
          </a:xfrm>
          <a:prstGeom prst="rect">
            <a:avLst/>
          </a:prstGeom>
          <a:noFill/>
          <a:ln/>
        </p:spPr>
        <p:txBody>
          <a:bodyPr wrap="square" lIns="0" tIns="0" rIns="0" bIns="0" rtlCol="0" anchor="t"/>
          <a:lstStyle/>
          <a:p>
            <a:pPr indent="0" marL="0">
              <a:lnSpc>
                <a:spcPts val="1300"/>
              </a:lnSpc>
              <a:buNone/>
            </a:pPr>
            <a:r>
              <a:rPr lang="en-US" sz="1000" dirty="0">
                <a:solidFill>
                  <a:srgbClr val="3F4A5A"/>
                </a:solidFill>
                <a:latin typeface="Calibri" pitchFamily="34" charset="0"/>
                <a:ea typeface="Calibri" pitchFamily="34" charset="-122"/>
                <a:cs typeface="Calibri" pitchFamily="34" charset="-120"/>
              </a:rPr>
              <a:t>Possible. But an unevidenced position is not approved, it is unresolved — and it resolves at review, by which point remediation options on an eighteen-month horizon have largely closed.</a:t>
            </a:r>
            <a:endParaRPr lang="en-US" sz="1000" dirty="0"/>
          </a:p>
        </p:txBody>
      </p:sp>
      <p:sp>
        <p:nvSpPr>
          <p:cNvPr id="21" name="Shape 19"/>
          <p:cNvSpPr/>
          <p:nvPr/>
        </p:nvSpPr>
        <p:spPr>
          <a:xfrm>
            <a:off x="6172200" y="4526280"/>
            <a:ext cx="5394960" cy="1280160"/>
          </a:xfrm>
          <a:prstGeom prst="roundRect">
            <a:avLst>
              <a:gd name="adj" fmla="val 3571"/>
            </a:avLst>
          </a:prstGeom>
          <a:solidFill>
            <a:srgbClr val="F7F5F1"/>
          </a:solidFill>
          <a:ln w="9525">
            <a:solidFill>
              <a:srgbClr val="D9D5CC"/>
            </a:solidFill>
            <a:prstDash val="solid"/>
          </a:ln>
        </p:spPr>
      </p:sp>
      <p:sp>
        <p:nvSpPr>
          <p:cNvPr id="22" name="Text 20"/>
          <p:cNvSpPr/>
          <p:nvPr/>
        </p:nvSpPr>
        <p:spPr>
          <a:xfrm>
            <a:off x="6400800" y="4663440"/>
            <a:ext cx="4937760" cy="384048"/>
          </a:xfrm>
          <a:prstGeom prst="rect">
            <a:avLst/>
          </a:prstGeom>
          <a:noFill/>
          <a:ln/>
        </p:spPr>
        <p:txBody>
          <a:bodyPr wrap="square" lIns="0" tIns="0" rIns="0" bIns="0" rtlCol="0" anchor="t"/>
          <a:lstStyle/>
          <a:p>
            <a:pPr indent="0" marL="0">
              <a:lnSpc>
                <a:spcPts val="1500"/>
              </a:lnSpc>
              <a:buNone/>
            </a:pPr>
            <a:r>
              <a:rPr lang="en-US" sz="1100" dirty="0">
                <a:solidFill>
                  <a:srgbClr val="1B2A4A"/>
                </a:solidFill>
                <a:latin typeface="Calibri" pitchFamily="34" charset="0"/>
                <a:ea typeface="Calibri" pitchFamily="34" charset="-122"/>
                <a:cs typeface="Calibri" pitchFamily="34" charset="-120"/>
              </a:rPr>
              <a:t>“EBA material is not binding in the United States.”</a:t>
            </a:r>
            <a:endParaRPr lang="en-US" sz="1100" dirty="0"/>
          </a:p>
        </p:txBody>
      </p:sp>
      <p:sp>
        <p:nvSpPr>
          <p:cNvPr id="23" name="Text 21"/>
          <p:cNvSpPr/>
          <p:nvPr/>
        </p:nvSpPr>
        <p:spPr>
          <a:xfrm>
            <a:off x="6400800" y="5056632"/>
            <a:ext cx="4937760" cy="658368"/>
          </a:xfrm>
          <a:prstGeom prst="rect">
            <a:avLst/>
          </a:prstGeom>
          <a:noFill/>
          <a:ln/>
        </p:spPr>
        <p:txBody>
          <a:bodyPr wrap="square" lIns="0" tIns="0" rIns="0" bIns="0" rtlCol="0" anchor="t"/>
          <a:lstStyle/>
          <a:p>
            <a:pPr indent="0" marL="0">
              <a:lnSpc>
                <a:spcPts val="1300"/>
              </a:lnSpc>
              <a:buNone/>
            </a:pPr>
            <a:r>
              <a:rPr lang="en-US" sz="1000" dirty="0">
                <a:solidFill>
                  <a:srgbClr val="3F4A5A"/>
                </a:solidFill>
                <a:latin typeface="Calibri" pitchFamily="34" charset="0"/>
                <a:ea typeface="Calibri" pitchFamily="34" charset="-122"/>
                <a:cs typeface="Calibri" pitchFamily="34" charset="-120"/>
              </a:rPr>
              <a:t>Correct, and it is cited on that basis. It is the most developed articulation of the assessment techniques an examiner is likely to apply under standards the US has adopted in substance.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HOW WE DECIDE</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Four dispositions, applied per risk-factor family</a:t>
            </a:r>
            <a:endParaRPr lang="en-US" sz="2500" dirty="0"/>
          </a:p>
        </p:txBody>
      </p:sp>
      <p:sp>
        <p:nvSpPr>
          <p:cNvPr id="4" name="Text 2"/>
          <p:cNvSpPr/>
          <p:nvPr/>
        </p:nvSpPr>
        <p:spPr>
          <a:xfrm>
            <a:off x="548640" y="1033272"/>
            <a:ext cx="11064240" cy="310896"/>
          </a:xfrm>
          <a:prstGeom prst="rect">
            <a:avLst/>
          </a:prstGeom>
          <a:noFill/>
          <a:ln/>
        </p:spPr>
        <p:txBody>
          <a:bodyPr wrap="square" lIns="0" tIns="0" rIns="0" bIns="0" rtlCol="0" anchor="t"/>
          <a:lstStyle/>
          <a:p>
            <a:pPr indent="0" marL="0">
              <a:buNone/>
            </a:pPr>
            <a:r>
              <a:rPr lang="en-US" sz="1200" dirty="0">
                <a:solidFill>
                  <a:srgbClr val="3F4A5A"/>
                </a:solidFill>
                <a:latin typeface="Calibri" pitchFamily="34" charset="0"/>
                <a:ea typeface="Calibri" pitchFamily="34" charset="-122"/>
                <a:cs typeface="Calibri" pitchFamily="34" charset="-120"/>
              </a:rPr>
              <a:t>The assessment is run against the six standards. The outcome determines the work, and the work determines the cost.</a:t>
            </a:r>
            <a:endParaRPr lang="en-US" sz="1200" dirty="0"/>
          </a:p>
        </p:txBody>
      </p:sp>
      <p:sp>
        <p:nvSpPr>
          <p:cNvPr id="5" name="Text 3"/>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783080"/>
            <a:ext cx="2697480" cy="3703320"/>
          </a:xfrm>
          <a:prstGeom prst="roundRect">
            <a:avLst>
              <a:gd name="adj" fmla="val 1695"/>
            </a:avLst>
          </a:prstGeom>
          <a:solidFill>
            <a:srgbClr val="F7F5F1"/>
          </a:solidFill>
          <a:ln w="9525">
            <a:solidFill>
              <a:srgbClr val="D9D5CC"/>
            </a:solidFill>
            <a:prstDash val="solid"/>
          </a:ln>
        </p:spPr>
      </p:sp>
      <p:sp>
        <p:nvSpPr>
          <p:cNvPr id="7" name="Shape 5"/>
          <p:cNvSpPr/>
          <p:nvPr/>
        </p:nvSpPr>
        <p:spPr>
          <a:xfrm>
            <a:off x="777240" y="1975104"/>
            <a:ext cx="329184" cy="329184"/>
          </a:xfrm>
          <a:prstGeom prst="ellipse">
            <a:avLst/>
          </a:prstGeom>
          <a:solidFill>
            <a:srgbClr val="2F6F4E"/>
          </a:solidFill>
          <a:ln w="12700">
            <a:solidFill>
              <a:srgbClr val="2F6F4E"/>
            </a:solidFill>
            <a:prstDash val="solid"/>
          </a:ln>
        </p:spPr>
      </p:sp>
      <p:sp>
        <p:nvSpPr>
          <p:cNvPr id="8" name="Text 6"/>
          <p:cNvSpPr/>
          <p:nvPr/>
        </p:nvSpPr>
        <p:spPr>
          <a:xfrm>
            <a:off x="777240" y="19751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7"/>
          <p:cNvSpPr/>
          <p:nvPr/>
        </p:nvSpPr>
        <p:spPr>
          <a:xfrm>
            <a:off x="1207008" y="1975104"/>
            <a:ext cx="1920240"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Prove</a:t>
            </a:r>
            <a:endParaRPr lang="en-US" sz="1500" dirty="0"/>
          </a:p>
        </p:txBody>
      </p:sp>
      <p:sp>
        <p:nvSpPr>
          <p:cNvPr id="10" name="Text 8"/>
          <p:cNvSpPr/>
          <p:nvPr/>
        </p:nvSpPr>
        <p:spPr>
          <a:xfrm>
            <a:off x="777240" y="24505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WHEN</a:t>
            </a:r>
            <a:endParaRPr lang="en-US" sz="800" dirty="0"/>
          </a:p>
        </p:txBody>
      </p:sp>
      <p:sp>
        <p:nvSpPr>
          <p:cNvPr id="11" name="Text 9"/>
          <p:cNvSpPr/>
          <p:nvPr/>
        </p:nvSpPr>
        <p:spPr>
          <a:xfrm>
            <a:off x="777240" y="2651760"/>
            <a:ext cx="2286000" cy="10972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History exists and is appropriate, or the existing proxy relationship can be demonstrated on volatility, correlation, region, instrument type and stress-period behaviour.</a:t>
            </a:r>
            <a:endParaRPr lang="en-US" sz="950" dirty="0"/>
          </a:p>
        </p:txBody>
      </p:sp>
      <p:sp>
        <p:nvSpPr>
          <p:cNvPr id="12" name="Text 10"/>
          <p:cNvSpPr/>
          <p:nvPr/>
        </p:nvSpPr>
        <p:spPr>
          <a:xfrm>
            <a:off x="777240" y="38221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WORK</a:t>
            </a:r>
            <a:endParaRPr lang="en-US" sz="800" dirty="0"/>
          </a:p>
        </p:txBody>
      </p:sp>
      <p:sp>
        <p:nvSpPr>
          <p:cNvPr id="13" name="Text 11"/>
          <p:cNvSpPr/>
          <p:nvPr/>
        </p:nvSpPr>
        <p:spPr>
          <a:xfrm>
            <a:off x="777240" y="4023360"/>
            <a:ext cx="2286000" cy="13258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Evidence, validation and documentation. No rebuild. This is the largest bucket if the assessment is done well, and it is the reason the assessment is worth running before any build is scoped.</a:t>
            </a:r>
            <a:endParaRPr lang="en-US" sz="950" dirty="0"/>
          </a:p>
        </p:txBody>
      </p:sp>
      <p:sp>
        <p:nvSpPr>
          <p:cNvPr id="14" name="Shape 12"/>
          <p:cNvSpPr/>
          <p:nvPr/>
        </p:nvSpPr>
        <p:spPr>
          <a:xfrm>
            <a:off x="3374136" y="1783080"/>
            <a:ext cx="2697480" cy="3703320"/>
          </a:xfrm>
          <a:prstGeom prst="roundRect">
            <a:avLst>
              <a:gd name="adj" fmla="val 1695"/>
            </a:avLst>
          </a:prstGeom>
          <a:solidFill>
            <a:srgbClr val="F7F5F1"/>
          </a:solidFill>
          <a:ln w="9525">
            <a:solidFill>
              <a:srgbClr val="D9D5CC"/>
            </a:solidFill>
            <a:prstDash val="solid"/>
          </a:ln>
        </p:spPr>
      </p:sp>
      <p:sp>
        <p:nvSpPr>
          <p:cNvPr id="15" name="Shape 13"/>
          <p:cNvSpPr/>
          <p:nvPr/>
        </p:nvSpPr>
        <p:spPr>
          <a:xfrm>
            <a:off x="3602736" y="1975104"/>
            <a:ext cx="329184" cy="329184"/>
          </a:xfrm>
          <a:prstGeom prst="ellipse">
            <a:avLst/>
          </a:prstGeom>
          <a:solidFill>
            <a:srgbClr val="1B2A4A"/>
          </a:solidFill>
          <a:ln w="12700">
            <a:solidFill>
              <a:srgbClr val="1B2A4A"/>
            </a:solidFill>
            <a:prstDash val="solid"/>
          </a:ln>
        </p:spPr>
      </p:sp>
      <p:sp>
        <p:nvSpPr>
          <p:cNvPr id="16" name="Text 14"/>
          <p:cNvSpPr/>
          <p:nvPr/>
        </p:nvSpPr>
        <p:spPr>
          <a:xfrm>
            <a:off x="3602736" y="19751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7" name="Text 15"/>
          <p:cNvSpPr/>
          <p:nvPr/>
        </p:nvSpPr>
        <p:spPr>
          <a:xfrm>
            <a:off x="4032504" y="1975104"/>
            <a:ext cx="1920240"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Remediate</a:t>
            </a:r>
            <a:endParaRPr lang="en-US" sz="1500" dirty="0"/>
          </a:p>
        </p:txBody>
      </p:sp>
      <p:sp>
        <p:nvSpPr>
          <p:cNvPr id="18" name="Text 16"/>
          <p:cNvSpPr/>
          <p:nvPr/>
        </p:nvSpPr>
        <p:spPr>
          <a:xfrm>
            <a:off x="3602736" y="24505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WHEN</a:t>
            </a:r>
            <a:endParaRPr lang="en-US" sz="800" dirty="0"/>
          </a:p>
        </p:txBody>
      </p:sp>
      <p:sp>
        <p:nvSpPr>
          <p:cNvPr id="19" name="Text 17"/>
          <p:cNvSpPr/>
          <p:nvPr/>
        </p:nvSpPr>
        <p:spPr>
          <a:xfrm>
            <a:off x="3602736" y="2651760"/>
            <a:ext cx="2286000" cy="10972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History exists but was constructed at inadequate granularity for today's risk-factor set, or the proxy relationship needs empirical calibration rather than assumption.</a:t>
            </a:r>
            <a:endParaRPr lang="en-US" sz="950" dirty="0"/>
          </a:p>
        </p:txBody>
      </p:sp>
      <p:sp>
        <p:nvSpPr>
          <p:cNvPr id="20" name="Text 18"/>
          <p:cNvSpPr/>
          <p:nvPr/>
        </p:nvSpPr>
        <p:spPr>
          <a:xfrm>
            <a:off x="3602736" y="38221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WORK</a:t>
            </a:r>
            <a:endParaRPr lang="en-US" sz="800" dirty="0"/>
          </a:p>
        </p:txBody>
      </p:sp>
      <p:sp>
        <p:nvSpPr>
          <p:cNvPr id="21" name="Text 19"/>
          <p:cNvSpPr/>
          <p:nvPr/>
        </p:nvSpPr>
        <p:spPr>
          <a:xfrm>
            <a:off x="3602736" y="4023360"/>
            <a:ext cx="2286000" cy="13258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Recalibrate scaling factors from data rather than judgment; rebuild the risk-factor representation from surviving market inputs; correct gap-filling; introduce explicit basis factors where the proxy leaves a residual.</a:t>
            </a:r>
            <a:endParaRPr lang="en-US" sz="950" dirty="0"/>
          </a:p>
        </p:txBody>
      </p:sp>
      <p:sp>
        <p:nvSpPr>
          <p:cNvPr id="22" name="Shape 20"/>
          <p:cNvSpPr/>
          <p:nvPr/>
        </p:nvSpPr>
        <p:spPr>
          <a:xfrm>
            <a:off x="6199632" y="1783080"/>
            <a:ext cx="2697480" cy="3703320"/>
          </a:xfrm>
          <a:prstGeom prst="roundRect">
            <a:avLst>
              <a:gd name="adj" fmla="val 1695"/>
            </a:avLst>
          </a:prstGeom>
          <a:solidFill>
            <a:srgbClr val="F7F5F1"/>
          </a:solidFill>
          <a:ln w="9525">
            <a:solidFill>
              <a:srgbClr val="D9D5CC"/>
            </a:solidFill>
            <a:prstDash val="solid"/>
          </a:ln>
        </p:spPr>
      </p:sp>
      <p:sp>
        <p:nvSpPr>
          <p:cNvPr id="23" name="Shape 21"/>
          <p:cNvSpPr/>
          <p:nvPr/>
        </p:nvSpPr>
        <p:spPr>
          <a:xfrm>
            <a:off x="6428232" y="1975104"/>
            <a:ext cx="329184" cy="329184"/>
          </a:xfrm>
          <a:prstGeom prst="ellipse">
            <a:avLst/>
          </a:prstGeom>
          <a:solidFill>
            <a:srgbClr val="D97706"/>
          </a:solidFill>
          <a:ln w="12700">
            <a:solidFill>
              <a:srgbClr val="D97706"/>
            </a:solidFill>
            <a:prstDash val="solid"/>
          </a:ln>
        </p:spPr>
      </p:sp>
      <p:sp>
        <p:nvSpPr>
          <p:cNvPr id="24" name="Text 22"/>
          <p:cNvSpPr/>
          <p:nvPr/>
        </p:nvSpPr>
        <p:spPr>
          <a:xfrm>
            <a:off x="6428232" y="19751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5" name="Text 23"/>
          <p:cNvSpPr/>
          <p:nvPr/>
        </p:nvSpPr>
        <p:spPr>
          <a:xfrm>
            <a:off x="6858000" y="1975104"/>
            <a:ext cx="1920240"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Build</a:t>
            </a:r>
            <a:endParaRPr lang="en-US" sz="1500" dirty="0"/>
          </a:p>
        </p:txBody>
      </p:sp>
      <p:sp>
        <p:nvSpPr>
          <p:cNvPr id="26" name="Text 24"/>
          <p:cNvSpPr/>
          <p:nvPr/>
        </p:nvSpPr>
        <p:spPr>
          <a:xfrm>
            <a:off x="6428232" y="24505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WHEN</a:t>
            </a:r>
            <a:endParaRPr lang="en-US" sz="800" dirty="0"/>
          </a:p>
        </p:txBody>
      </p:sp>
      <p:sp>
        <p:nvSpPr>
          <p:cNvPr id="27" name="Text 25"/>
          <p:cNvSpPr/>
          <p:nvPr/>
        </p:nvSpPr>
        <p:spPr>
          <a:xfrm>
            <a:off x="6428232" y="2651760"/>
            <a:ext cx="2286000" cy="10972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The underlying market observations do not exist in any retrievable form — neither internally, nor through vendor archives, consensus services or independent sources.</a:t>
            </a:r>
            <a:endParaRPr lang="en-US" sz="950" dirty="0"/>
          </a:p>
        </p:txBody>
      </p:sp>
      <p:sp>
        <p:nvSpPr>
          <p:cNvPr id="28" name="Text 26"/>
          <p:cNvSpPr/>
          <p:nvPr/>
        </p:nvSpPr>
        <p:spPr>
          <a:xfrm>
            <a:off x="6428232" y="38221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WORK</a:t>
            </a:r>
            <a:endParaRPr lang="en-US" sz="800" dirty="0"/>
          </a:p>
        </p:txBody>
      </p:sp>
      <p:sp>
        <p:nvSpPr>
          <p:cNvPr id="29" name="Text 27"/>
          <p:cNvSpPr/>
          <p:nvPr/>
        </p:nvSpPr>
        <p:spPr>
          <a:xfrm>
            <a:off x="6428232" y="4023360"/>
            <a:ext cx="2286000" cy="13258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New historical sourcing where a route exists, and a change of process to persist the inputs going forward so that the same gap does not recur at the next stress-period recalibration.</a:t>
            </a:r>
            <a:endParaRPr lang="en-US" sz="950" dirty="0"/>
          </a:p>
        </p:txBody>
      </p:sp>
      <p:sp>
        <p:nvSpPr>
          <p:cNvPr id="30" name="Shape 28"/>
          <p:cNvSpPr/>
          <p:nvPr/>
        </p:nvSpPr>
        <p:spPr>
          <a:xfrm>
            <a:off x="9025128" y="1783080"/>
            <a:ext cx="2697480" cy="3703320"/>
          </a:xfrm>
          <a:prstGeom prst="roundRect">
            <a:avLst>
              <a:gd name="adj" fmla="val 1695"/>
            </a:avLst>
          </a:prstGeom>
          <a:solidFill>
            <a:srgbClr val="F7F5F1"/>
          </a:solidFill>
          <a:ln w="9525">
            <a:solidFill>
              <a:srgbClr val="D9D5CC"/>
            </a:solidFill>
            <a:prstDash val="solid"/>
          </a:ln>
        </p:spPr>
      </p:sp>
      <p:sp>
        <p:nvSpPr>
          <p:cNvPr id="31" name="Shape 29"/>
          <p:cNvSpPr/>
          <p:nvPr/>
        </p:nvSpPr>
        <p:spPr>
          <a:xfrm>
            <a:off x="9253728" y="1975104"/>
            <a:ext cx="329184" cy="329184"/>
          </a:xfrm>
          <a:prstGeom prst="ellipse">
            <a:avLst/>
          </a:prstGeom>
          <a:solidFill>
            <a:srgbClr val="C0392B"/>
          </a:solidFill>
          <a:ln w="12700">
            <a:solidFill>
              <a:srgbClr val="C0392B"/>
            </a:solidFill>
            <a:prstDash val="solid"/>
          </a:ln>
        </p:spPr>
      </p:sp>
      <p:sp>
        <p:nvSpPr>
          <p:cNvPr id="32" name="Text 30"/>
          <p:cNvSpPr/>
          <p:nvPr/>
        </p:nvSpPr>
        <p:spPr>
          <a:xfrm>
            <a:off x="9253728" y="19751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3" name="Text 31"/>
          <p:cNvSpPr/>
          <p:nvPr/>
        </p:nvSpPr>
        <p:spPr>
          <a:xfrm>
            <a:off x="9683496" y="1975104"/>
            <a:ext cx="1920240" cy="329184"/>
          </a:xfrm>
          <a:prstGeom prst="rect">
            <a:avLst/>
          </a:prstGeom>
          <a:noFill/>
          <a:ln/>
        </p:spPr>
        <p:txBody>
          <a:bodyPr wrap="square" lIns="0" tIns="0" rIns="0" bIns="0" rtlCol="0" anchor="ctr"/>
          <a:lstStyle/>
          <a:p>
            <a:pPr indent="0" marL="0">
              <a:buNone/>
            </a:pPr>
            <a:r>
              <a:rPr lang="en-US" sz="1500" b="1" dirty="0">
                <a:solidFill>
                  <a:srgbClr val="1B2A4A"/>
                </a:solidFill>
                <a:latin typeface="Cambria" pitchFamily="34" charset="0"/>
                <a:ea typeface="Cambria" pitchFamily="34" charset="-122"/>
                <a:cs typeface="Cambria" pitchFamily="34" charset="-120"/>
              </a:rPr>
              <a:t>Accept</a:t>
            </a:r>
            <a:endParaRPr lang="en-US" sz="1500" dirty="0"/>
          </a:p>
        </p:txBody>
      </p:sp>
      <p:sp>
        <p:nvSpPr>
          <p:cNvPr id="34" name="Text 32"/>
          <p:cNvSpPr/>
          <p:nvPr/>
        </p:nvSpPr>
        <p:spPr>
          <a:xfrm>
            <a:off x="9253728" y="24505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WHEN</a:t>
            </a:r>
            <a:endParaRPr lang="en-US" sz="800" dirty="0"/>
          </a:p>
        </p:txBody>
      </p:sp>
      <p:sp>
        <p:nvSpPr>
          <p:cNvPr id="35" name="Text 33"/>
          <p:cNvSpPr/>
          <p:nvPr/>
        </p:nvSpPr>
        <p:spPr>
          <a:xfrm>
            <a:off x="9253728" y="2651760"/>
            <a:ext cx="2286000" cy="10972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There is no suitable history and no defensible proxy, and the cost of establishing one exceeds the capital consequence of not doing so.</a:t>
            </a:r>
            <a:endParaRPr lang="en-US" sz="950" dirty="0"/>
          </a:p>
        </p:txBody>
      </p:sp>
      <p:sp>
        <p:nvSpPr>
          <p:cNvPr id="36" name="Text 34"/>
          <p:cNvSpPr/>
          <p:nvPr/>
        </p:nvSpPr>
        <p:spPr>
          <a:xfrm>
            <a:off x="9253728" y="3822192"/>
            <a:ext cx="2286000" cy="201168"/>
          </a:xfrm>
          <a:prstGeom prst="rect">
            <a:avLst/>
          </a:prstGeom>
          <a:noFill/>
          <a:ln/>
        </p:spPr>
        <p:txBody>
          <a:bodyPr wrap="square" lIns="0" tIns="0" rIns="0" bIns="0" rtlCol="0" anchor="ctr"/>
          <a:lstStyle/>
          <a:p>
            <a:pPr indent="0" marL="0">
              <a:buNone/>
            </a:pPr>
            <a:r>
              <a:rPr lang="en-US" sz="800" b="1" spc="150" kern="0" dirty="0">
                <a:solidFill>
                  <a:srgbClr val="9A7212"/>
                </a:solidFill>
                <a:latin typeface="Calibri" pitchFamily="34" charset="0"/>
                <a:ea typeface="Calibri" pitchFamily="34" charset="-122"/>
                <a:cs typeface="Calibri" pitchFamily="34" charset="-120"/>
              </a:rPr>
              <a:t>WORK</a:t>
            </a:r>
            <a:endParaRPr lang="en-US" sz="800" dirty="0"/>
          </a:p>
        </p:txBody>
      </p:sp>
      <p:sp>
        <p:nvSpPr>
          <p:cNvPr id="37" name="Text 35"/>
          <p:cNvSpPr/>
          <p:nvPr/>
        </p:nvSpPr>
        <p:spPr>
          <a:xfrm>
            <a:off x="9253728" y="4023360"/>
            <a:ext cx="2286000" cy="1325880"/>
          </a:xfrm>
          <a:prstGeom prst="rect">
            <a:avLst/>
          </a:prstGeom>
          <a:noFill/>
          <a:ln/>
        </p:spPr>
        <p:txBody>
          <a:bodyPr wrap="square" lIns="0" tIns="0" rIns="0" bIns="0" rtlCol="0" anchor="t"/>
          <a:lstStyle/>
          <a:p>
            <a:pPr indent="0" marL="0">
              <a:lnSpc>
                <a:spcPts val="1250"/>
              </a:lnSpc>
              <a:buNone/>
            </a:pPr>
            <a:r>
              <a:rPr lang="en-US" sz="950" dirty="0">
                <a:solidFill>
                  <a:srgbClr val="3F4A5A"/>
                </a:solidFill>
                <a:latin typeface="Calibri" pitchFamily="34" charset="0"/>
                <a:ea typeface="Calibri" pitchFamily="34" charset="-122"/>
                <a:cs typeface="Calibri" pitchFamily="34" charset="-120"/>
              </a:rPr>
              <a:t>NMRF classification and the SES charge, or standardised treatment for the affected desk. This is a legitimate outcome. It should be chosen deliberately and documented as a decision, not arrived at by default.</a:t>
            </a:r>
            <a:endParaRPr lang="en-US" sz="950" dirty="0"/>
          </a:p>
        </p:txBody>
      </p:sp>
      <p:sp>
        <p:nvSpPr>
          <p:cNvPr id="38" name="Shape 36"/>
          <p:cNvSpPr/>
          <p:nvPr/>
        </p:nvSpPr>
        <p:spPr>
          <a:xfrm>
            <a:off x="548640" y="5623560"/>
            <a:ext cx="11064240" cy="530352"/>
          </a:xfrm>
          <a:prstGeom prst="roundRect">
            <a:avLst>
              <a:gd name="adj" fmla="val 8621"/>
            </a:avLst>
          </a:prstGeom>
          <a:solidFill>
            <a:srgbClr val="1B2A4A"/>
          </a:solidFill>
          <a:ln w="12700">
            <a:solidFill>
              <a:srgbClr val="1B2A4A"/>
            </a:solidFill>
            <a:prstDash val="solid"/>
          </a:ln>
        </p:spPr>
      </p:sp>
      <p:sp>
        <p:nvSpPr>
          <p:cNvPr id="39" name="Text 37"/>
          <p:cNvSpPr/>
          <p:nvPr/>
        </p:nvSpPr>
        <p:spPr>
          <a:xfrm>
            <a:off x="822960" y="5623560"/>
            <a:ext cx="10515600" cy="53035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Scope is set by the representations we retain — not by the size of the risk-factor inventory. Every proxy that can be evidenced reduces the build.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0789920" cy="237744"/>
          </a:xfrm>
          <a:prstGeom prst="rect">
            <a:avLst/>
          </a:prstGeom>
          <a:noFill/>
          <a:ln/>
        </p:spPr>
        <p:txBody>
          <a:bodyPr wrap="square" lIns="0" tIns="0" rIns="0" bIns="0" rtlCol="0" anchor="ctr"/>
          <a:lstStyle/>
          <a:p>
            <a:pPr indent="0" marL="0">
              <a:buNone/>
            </a:pPr>
            <a:r>
              <a:rPr lang="en-US" sz="950" b="1" spc="220" kern="0" dirty="0">
                <a:solidFill>
                  <a:srgbClr val="9A7212"/>
                </a:solidFill>
                <a:latin typeface="Calibri" pitchFamily="34" charset="0"/>
                <a:ea typeface="Calibri" pitchFamily="34" charset="-122"/>
                <a:cs typeface="Calibri" pitchFamily="34" charset="-120"/>
              </a:rPr>
              <a:t>THE QUESTION TO ANSWER</a:t>
            </a:r>
            <a:endParaRPr lang="en-US" sz="950" dirty="0"/>
          </a:p>
        </p:txBody>
      </p:sp>
      <p:sp>
        <p:nvSpPr>
          <p:cNvPr id="3" name="Text 1"/>
          <p:cNvSpPr/>
          <p:nvPr/>
        </p:nvSpPr>
        <p:spPr>
          <a:xfrm>
            <a:off x="548640" y="576072"/>
            <a:ext cx="11064240" cy="457200"/>
          </a:xfrm>
          <a:prstGeom prst="rect">
            <a:avLst/>
          </a:prstGeom>
          <a:noFill/>
          <a:ln/>
        </p:spPr>
        <p:txBody>
          <a:bodyPr wrap="square" lIns="0" tIns="0" rIns="0" bIns="0" rtlCol="0" anchor="ctr"/>
          <a:lstStyle/>
          <a:p>
            <a:pPr indent="0" marL="0">
              <a:buNone/>
            </a:pPr>
            <a:r>
              <a:rPr lang="en-US" sz="2500" b="1" dirty="0">
                <a:solidFill>
                  <a:srgbClr val="1B2A4A"/>
                </a:solidFill>
                <a:latin typeface="Cambria" pitchFamily="34" charset="0"/>
                <a:ea typeface="Cambria" pitchFamily="34" charset="-122"/>
                <a:cs typeface="Cambria" pitchFamily="34" charset="-120"/>
              </a:rPr>
              <a:t>What is being proposed</a:t>
            </a:r>
            <a:endParaRPr lang="en-US" sz="2500" dirty="0"/>
          </a:p>
        </p:txBody>
      </p:sp>
      <p:sp>
        <p:nvSpPr>
          <p:cNvPr id="4" name="Text 2"/>
          <p:cNvSpPr/>
          <p:nvPr/>
        </p:nvSpPr>
        <p:spPr>
          <a:xfrm>
            <a:off x="11109960" y="632764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5" name="Shape 3"/>
          <p:cNvSpPr/>
          <p:nvPr/>
        </p:nvSpPr>
        <p:spPr>
          <a:xfrm>
            <a:off x="548640" y="1280160"/>
            <a:ext cx="11064240" cy="1371600"/>
          </a:xfrm>
          <a:prstGeom prst="roundRect">
            <a:avLst>
              <a:gd name="adj" fmla="val 3333"/>
            </a:avLst>
          </a:prstGeom>
          <a:solidFill>
            <a:srgbClr val="1B2A4A"/>
          </a:solidFill>
          <a:ln w="9525">
            <a:solidFill>
              <a:srgbClr val="1B2A4A"/>
            </a:solidFill>
            <a:prstDash val="solid"/>
          </a:ln>
        </p:spPr>
      </p:sp>
      <p:sp>
        <p:nvSpPr>
          <p:cNvPr id="6" name="Text 4"/>
          <p:cNvSpPr/>
          <p:nvPr/>
        </p:nvSpPr>
        <p:spPr>
          <a:xfrm>
            <a:off x="868680" y="1280160"/>
            <a:ext cx="10424160" cy="1371600"/>
          </a:xfrm>
          <a:prstGeom prst="rect">
            <a:avLst/>
          </a:prstGeom>
          <a:noFill/>
          <a:ln/>
        </p:spPr>
        <p:txBody>
          <a:bodyPr wrap="square" lIns="0" tIns="0" rIns="0" bIns="0" rtlCol="0" anchor="ctr"/>
          <a:lstStyle/>
          <a:p>
            <a:pPr indent="0" marL="0">
              <a:lnSpc>
                <a:spcPts val="2400"/>
              </a:lnSpc>
              <a:buNone/>
            </a:pPr>
            <a:r>
              <a:rPr lang="en-US" sz="1700" b="1" dirty="0">
                <a:solidFill>
                  <a:srgbClr val="FFFFFF"/>
                </a:solidFill>
                <a:latin typeface="Cambria" pitchFamily="34" charset="0"/>
                <a:ea typeface="Cambria" pitchFamily="34" charset="-122"/>
                <a:cs typeface="Cambria" pitchFamily="34" charset="-120"/>
              </a:rPr>
              <a:t>For each material IMA risk factor, can the existing historical representation demonstrate compliance with the qualitative data standards — particularly stress-period representativeness, volatility and correlation preservation, and proxy appropriateness?</a:t>
            </a:r>
            <a:endParaRPr lang="en-US" sz="1700" dirty="0"/>
          </a:p>
        </p:txBody>
      </p:sp>
      <p:sp>
        <p:nvSpPr>
          <p:cNvPr id="7" name="Shape 5"/>
          <p:cNvSpPr/>
          <p:nvPr/>
        </p:nvSpPr>
        <p:spPr>
          <a:xfrm>
            <a:off x="548640" y="2834640"/>
            <a:ext cx="3566160" cy="1143000"/>
          </a:xfrm>
          <a:prstGeom prst="roundRect">
            <a:avLst>
              <a:gd name="adj" fmla="val 4000"/>
            </a:avLst>
          </a:prstGeom>
          <a:solidFill>
            <a:srgbClr val="FFFFFF"/>
          </a:solidFill>
          <a:ln w="9525">
            <a:solidFill>
              <a:srgbClr val="D9D5CC"/>
            </a:solidFill>
            <a:prstDash val="solid"/>
          </a:ln>
        </p:spPr>
      </p:sp>
      <p:sp>
        <p:nvSpPr>
          <p:cNvPr id="8" name="Text 6"/>
          <p:cNvSpPr/>
          <p:nvPr/>
        </p:nvSpPr>
        <p:spPr>
          <a:xfrm>
            <a:off x="804672" y="2999232"/>
            <a:ext cx="3017520" cy="329184"/>
          </a:xfrm>
          <a:prstGeom prst="rect">
            <a:avLst/>
          </a:prstGeom>
          <a:noFill/>
          <a:ln/>
        </p:spPr>
        <p:txBody>
          <a:bodyPr wrap="square" lIns="0" tIns="0" rIns="0" bIns="0" rtlCol="0" anchor="ctr"/>
          <a:lstStyle/>
          <a:p>
            <a:pPr indent="0" marL="0">
              <a:buNone/>
            </a:pPr>
            <a:r>
              <a:rPr lang="en-US" sz="1700" b="1" dirty="0">
                <a:solidFill>
                  <a:srgbClr val="2F6F4E"/>
                </a:solidFill>
                <a:latin typeface="Cambria" pitchFamily="34" charset="0"/>
                <a:ea typeface="Cambria" pitchFamily="34" charset="-122"/>
                <a:cs typeface="Cambria" pitchFamily="34" charset="-120"/>
              </a:rPr>
              <a:t>Yes</a:t>
            </a:r>
            <a:endParaRPr lang="en-US" sz="1700" dirty="0"/>
          </a:p>
        </p:txBody>
      </p:sp>
      <p:sp>
        <p:nvSpPr>
          <p:cNvPr id="9" name="Text 7"/>
          <p:cNvSpPr/>
          <p:nvPr/>
        </p:nvSpPr>
        <p:spPr>
          <a:xfrm>
            <a:off x="804672" y="3364992"/>
            <a:ext cx="3017520" cy="54864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Retain the history. Produce the evidence and document the conclusion.</a:t>
            </a:r>
            <a:endParaRPr lang="en-US" sz="1050" dirty="0"/>
          </a:p>
        </p:txBody>
      </p:sp>
      <p:sp>
        <p:nvSpPr>
          <p:cNvPr id="10" name="Shape 8"/>
          <p:cNvSpPr/>
          <p:nvPr/>
        </p:nvSpPr>
        <p:spPr>
          <a:xfrm>
            <a:off x="4297680" y="2834640"/>
            <a:ext cx="3566160" cy="1143000"/>
          </a:xfrm>
          <a:prstGeom prst="roundRect">
            <a:avLst>
              <a:gd name="adj" fmla="val 4000"/>
            </a:avLst>
          </a:prstGeom>
          <a:solidFill>
            <a:srgbClr val="FFFFFF"/>
          </a:solidFill>
          <a:ln w="9525">
            <a:solidFill>
              <a:srgbClr val="D9D5CC"/>
            </a:solidFill>
            <a:prstDash val="solid"/>
          </a:ln>
        </p:spPr>
      </p:sp>
      <p:sp>
        <p:nvSpPr>
          <p:cNvPr id="11" name="Text 9"/>
          <p:cNvSpPr/>
          <p:nvPr/>
        </p:nvSpPr>
        <p:spPr>
          <a:xfrm>
            <a:off x="4553712" y="2999232"/>
            <a:ext cx="3017520" cy="329184"/>
          </a:xfrm>
          <a:prstGeom prst="rect">
            <a:avLst/>
          </a:prstGeom>
          <a:noFill/>
          <a:ln/>
        </p:spPr>
        <p:txBody>
          <a:bodyPr wrap="square" lIns="0" tIns="0" rIns="0" bIns="0" rtlCol="0" anchor="ctr"/>
          <a:lstStyle/>
          <a:p>
            <a:pPr indent="0" marL="0">
              <a:buNone/>
            </a:pPr>
            <a:r>
              <a:rPr lang="en-US" sz="1700" b="1" dirty="0">
                <a:solidFill>
                  <a:srgbClr val="D97706"/>
                </a:solidFill>
                <a:latin typeface="Cambria" pitchFamily="34" charset="0"/>
                <a:ea typeface="Cambria" pitchFamily="34" charset="-122"/>
                <a:cs typeface="Cambria" pitchFamily="34" charset="-120"/>
              </a:rPr>
              <a:t>Partially</a:t>
            </a:r>
            <a:endParaRPr lang="en-US" sz="1700" dirty="0"/>
          </a:p>
        </p:txBody>
      </p:sp>
      <p:sp>
        <p:nvSpPr>
          <p:cNvPr id="12" name="Text 10"/>
          <p:cNvSpPr/>
          <p:nvPr/>
        </p:nvSpPr>
        <p:spPr>
          <a:xfrm>
            <a:off x="4553712" y="3364992"/>
            <a:ext cx="3017520" cy="54864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Remediate the specific deficiency identified, at the granularity at which it was found.</a:t>
            </a:r>
            <a:endParaRPr lang="en-US" sz="1050" dirty="0"/>
          </a:p>
        </p:txBody>
      </p:sp>
      <p:sp>
        <p:nvSpPr>
          <p:cNvPr id="13" name="Shape 11"/>
          <p:cNvSpPr/>
          <p:nvPr/>
        </p:nvSpPr>
        <p:spPr>
          <a:xfrm>
            <a:off x="8046720" y="2834640"/>
            <a:ext cx="3566160" cy="1143000"/>
          </a:xfrm>
          <a:prstGeom prst="roundRect">
            <a:avLst>
              <a:gd name="adj" fmla="val 4000"/>
            </a:avLst>
          </a:prstGeom>
          <a:solidFill>
            <a:srgbClr val="FFFFFF"/>
          </a:solidFill>
          <a:ln w="9525">
            <a:solidFill>
              <a:srgbClr val="D9D5CC"/>
            </a:solidFill>
            <a:prstDash val="solid"/>
          </a:ln>
        </p:spPr>
      </p:sp>
      <p:sp>
        <p:nvSpPr>
          <p:cNvPr id="14" name="Text 12"/>
          <p:cNvSpPr/>
          <p:nvPr/>
        </p:nvSpPr>
        <p:spPr>
          <a:xfrm>
            <a:off x="8302752" y="2999232"/>
            <a:ext cx="3017520" cy="329184"/>
          </a:xfrm>
          <a:prstGeom prst="rect">
            <a:avLst/>
          </a:prstGeom>
          <a:noFill/>
          <a:ln/>
        </p:spPr>
        <p:txBody>
          <a:bodyPr wrap="square" lIns="0" tIns="0" rIns="0" bIns="0" rtlCol="0" anchor="ctr"/>
          <a:lstStyle/>
          <a:p>
            <a:pPr indent="0" marL="0">
              <a:buNone/>
            </a:pPr>
            <a:r>
              <a:rPr lang="en-US" sz="1700" b="1" dirty="0">
                <a:solidFill>
                  <a:srgbClr val="C0392B"/>
                </a:solidFill>
                <a:latin typeface="Cambria" pitchFamily="34" charset="0"/>
                <a:ea typeface="Cambria" pitchFamily="34" charset="-122"/>
                <a:cs typeface="Cambria" pitchFamily="34" charset="-120"/>
              </a:rPr>
              <a:t>No</a:t>
            </a:r>
            <a:endParaRPr lang="en-US" sz="1700" dirty="0"/>
          </a:p>
        </p:txBody>
      </p:sp>
      <p:sp>
        <p:nvSpPr>
          <p:cNvPr id="15" name="Text 13"/>
          <p:cNvSpPr/>
          <p:nvPr/>
        </p:nvSpPr>
        <p:spPr>
          <a:xfrm>
            <a:off x="8302752" y="3364992"/>
            <a:ext cx="3017520" cy="54864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Reconstruct the representation, or adopt an alternative defensible treatment and price it.</a:t>
            </a:r>
            <a:endParaRPr lang="en-US" sz="1050" dirty="0"/>
          </a:p>
        </p:txBody>
      </p:sp>
      <p:sp>
        <p:nvSpPr>
          <p:cNvPr id="16" name="Shape 14"/>
          <p:cNvSpPr/>
          <p:nvPr/>
        </p:nvSpPr>
        <p:spPr>
          <a:xfrm>
            <a:off x="548640" y="4160520"/>
            <a:ext cx="5440680" cy="1600200"/>
          </a:xfrm>
          <a:prstGeom prst="roundRect">
            <a:avLst>
              <a:gd name="adj" fmla="val 2857"/>
            </a:avLst>
          </a:prstGeom>
          <a:solidFill>
            <a:srgbClr val="F5F0E4"/>
          </a:solidFill>
          <a:ln w="9525">
            <a:solidFill>
              <a:srgbClr val="9A7212"/>
            </a:solidFill>
            <a:prstDash val="solid"/>
          </a:ln>
        </p:spPr>
      </p:sp>
      <p:sp>
        <p:nvSpPr>
          <p:cNvPr id="17" name="Text 15"/>
          <p:cNvSpPr/>
          <p:nvPr/>
        </p:nvSpPr>
        <p:spPr>
          <a:xfrm>
            <a:off x="804672" y="4306824"/>
            <a:ext cx="5394960" cy="219456"/>
          </a:xfrm>
          <a:prstGeom prst="rect">
            <a:avLst/>
          </a:prstGeom>
          <a:noFill/>
          <a:ln/>
        </p:spPr>
        <p:txBody>
          <a:bodyPr wrap="square" lIns="0" tIns="0" rIns="0" bIns="0" rtlCol="0" anchor="ctr"/>
          <a:lstStyle/>
          <a:p>
            <a:pPr indent="0" marL="0">
              <a:buNone/>
            </a:pPr>
            <a:r>
              <a:rPr lang="en-US" sz="900" b="1" spc="180" kern="0" dirty="0">
                <a:solidFill>
                  <a:srgbClr val="9A7212"/>
                </a:solidFill>
                <a:latin typeface="Calibri" pitchFamily="34" charset="0"/>
                <a:ea typeface="Calibri" pitchFamily="34" charset="-122"/>
                <a:cs typeface="Calibri" pitchFamily="34" charset="-120"/>
              </a:rPr>
              <a:t>WHAT IS BEING ASKED FOR</a:t>
            </a:r>
            <a:endParaRPr lang="en-US" sz="900" dirty="0"/>
          </a:p>
        </p:txBody>
      </p:sp>
      <p:sp>
        <p:nvSpPr>
          <p:cNvPr id="18" name="Text 16"/>
          <p:cNvSpPr/>
          <p:nvPr/>
        </p:nvSpPr>
        <p:spPr>
          <a:xfrm>
            <a:off x="804672" y="4562856"/>
            <a:ext cx="4937760" cy="109728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An evidence assessment per risk-factor family against the six standards — not, at this stage, a decision to regenerate history. The assessment is self-scoping: it determines how much of a build is actually required, and it is considerably cheaper than either extreme. Where the evidence exists, the answer is documentation. Where it does not, the assessment tells us precisely where, and the cost of the remaining work becomes a number rather than an argument.</a:t>
            </a:r>
            <a:endParaRPr lang="en-US" sz="1050" dirty="0"/>
          </a:p>
        </p:txBody>
      </p:sp>
      <p:sp>
        <p:nvSpPr>
          <p:cNvPr id="19" name="Shape 17"/>
          <p:cNvSpPr/>
          <p:nvPr/>
        </p:nvSpPr>
        <p:spPr>
          <a:xfrm>
            <a:off x="6172200" y="4160520"/>
            <a:ext cx="5440680" cy="1600200"/>
          </a:xfrm>
          <a:prstGeom prst="roundRect">
            <a:avLst>
              <a:gd name="adj" fmla="val 2857"/>
            </a:avLst>
          </a:prstGeom>
          <a:solidFill>
            <a:srgbClr val="FFFFFF"/>
          </a:solidFill>
          <a:ln w="9525">
            <a:solidFill>
              <a:srgbClr val="D9D5CC"/>
            </a:solidFill>
            <a:prstDash val="solid"/>
          </a:ln>
        </p:spPr>
      </p:sp>
      <p:sp>
        <p:nvSpPr>
          <p:cNvPr id="20" name="Text 18"/>
          <p:cNvSpPr/>
          <p:nvPr/>
        </p:nvSpPr>
        <p:spPr>
          <a:xfrm>
            <a:off x="6428232" y="4306824"/>
            <a:ext cx="5394960" cy="219456"/>
          </a:xfrm>
          <a:prstGeom prst="rect">
            <a:avLst/>
          </a:prstGeom>
          <a:noFill/>
          <a:ln/>
        </p:spPr>
        <p:txBody>
          <a:bodyPr wrap="square" lIns="0" tIns="0" rIns="0" bIns="0" rtlCol="0" anchor="ctr"/>
          <a:lstStyle/>
          <a:p>
            <a:pPr indent="0" marL="0">
              <a:buNone/>
            </a:pPr>
            <a:r>
              <a:rPr lang="en-US" sz="900" b="1" spc="180" kern="0" dirty="0">
                <a:solidFill>
                  <a:srgbClr val="D97706"/>
                </a:solidFill>
                <a:latin typeface="Calibri" pitchFamily="34" charset="0"/>
                <a:ea typeface="Calibri" pitchFamily="34" charset="-122"/>
                <a:cs typeface="Calibri" pitchFamily="34" charset="-120"/>
              </a:rPr>
              <a:t>TO BE CONFIRMED BEFORE EXTERNAL USE</a:t>
            </a:r>
            <a:endParaRPr lang="en-US" sz="900" dirty="0"/>
          </a:p>
        </p:txBody>
      </p:sp>
      <p:sp>
        <p:nvSpPr>
          <p:cNvPr id="21" name="Text 19"/>
          <p:cNvSpPr/>
          <p:nvPr/>
        </p:nvSpPr>
        <p:spPr>
          <a:xfrm>
            <a:off x="6428232" y="4562856"/>
            <a:ext cx="4937760" cy="1097280"/>
          </a:xfrm>
          <a:prstGeom prst="rect">
            <a:avLst/>
          </a:prstGeom>
          <a:noFill/>
          <a:ln/>
        </p:spPr>
        <p:txBody>
          <a:bodyPr wrap="square" lIns="0" tIns="0" rIns="0" bIns="0" rtlCol="0" anchor="t"/>
          <a:lstStyle/>
          <a:p>
            <a:pPr indent="0" marL="0">
              <a:lnSpc>
                <a:spcPts val="1350"/>
              </a:lnSpc>
              <a:buNone/>
            </a:pPr>
            <a:r>
              <a:rPr lang="en-US" sz="1050" dirty="0">
                <a:solidFill>
                  <a:srgbClr val="3F4A5A"/>
                </a:solidFill>
                <a:latin typeface="Calibri" pitchFamily="34" charset="0"/>
                <a:ea typeface="Calibri" pitchFamily="34" charset="-122"/>
                <a:cs typeface="Calibri" pitchFamily="34" charset="-120"/>
              </a:rPr>
              <a:t>Clause numbering for §__.214(b)(2)(i)–(vi) and the supervisory-unsuitability provision, against the Federal Register text. The US treatment where a proxy cannot be demonstrated under the direct approach. Whether the US PLA provisions replicate Basel Principle 7(b). And the actual construction of the volatility proxy mapping, before the correlation result on slide 11 is presented as exact.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FRTB IMA — Historical Data: What the Rule Requires</dc:title>
  <dc:subject>PptxGenJS Presentation</dc:subject>
  <dc:creator>PptxGenJS</dc:creator>
  <cp:lastModifiedBy>PptxGenJS</cp:lastModifiedBy>
  <cp:revision>1</cp:revision>
  <dcterms:created xsi:type="dcterms:W3CDTF">2026-08-16T23:34:19Z</dcterms:created>
  <dcterms:modified xsi:type="dcterms:W3CDTF">2026-08-16T23:34:19Z</dcterms:modified>
</cp:coreProperties>
</file>