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Equities RFET — Key Business Design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92608" y="56692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5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Equity RFET fit with Macro RFET and the future Mercury stack?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11612880" cy="0"/>
          </a:xfrm>
          <a:prstGeom prst="line">
            <a:avLst/>
          </a:prstGeom>
          <a:noFill/>
          <a:ln w="25400">
            <a:solidFill>
              <a:srgbClr val="1B33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60704"/>
            <a:ext cx="4251960" cy="2578608"/>
          </a:xfrm>
          <a:prstGeom prst="roundRect">
            <a:avLst>
              <a:gd name="adj" fmla="val 2837"/>
            </a:avLst>
          </a:prstGeom>
          <a:solidFill>
            <a:srgbClr val="EEF3FB"/>
          </a:solidFill>
          <a:ln w="12700">
            <a:solidFill>
              <a:srgbClr val="C6D6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566928" cy="566928"/>
          </a:xfrm>
          <a:prstGeom prst="ellipse">
            <a:avLst/>
          </a:prstGeom>
          <a:solidFill>
            <a:srgbClr val="1B33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9903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280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KBD Decision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66928" y="2093976"/>
            <a:ext cx="292608" cy="292608"/>
          </a:xfrm>
          <a:prstGeom prst="ellipse">
            <a:avLst/>
          </a:prstGeom>
          <a:solidFill>
            <a:srgbClr val="1B335C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87552" y="2029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RFET for Equities vs Macro?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2587752"/>
            <a:ext cx="292608" cy="292608"/>
          </a:xfrm>
          <a:prstGeom prst="ellipse">
            <a:avLst/>
          </a:prstGeom>
          <a:solidFill>
            <a:srgbClr val="1B335C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258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25237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tech team owns Equity RFET?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3081528"/>
            <a:ext cx="292608" cy="292608"/>
          </a:xfrm>
          <a:prstGeom prst="ellipse">
            <a:avLst/>
          </a:prstGeom>
          <a:solidFill>
            <a:srgbClr val="1B335C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87552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Macro RFET components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build separately?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1060704"/>
            <a:ext cx="7223760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C3D2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060704"/>
            <a:ext cx="7223760" cy="384048"/>
          </a:xfrm>
          <a:prstGeom prst="roundRect">
            <a:avLst>
              <a:gd name="adj" fmla="val 19048"/>
            </a:avLst>
          </a:prstGeom>
          <a:solidFill>
            <a:srgbClr val="1B335C"/>
          </a:solidFill>
          <a:ln/>
        </p:spPr>
      </p:sp>
      <p:sp>
        <p:nvSpPr>
          <p:cNvPr id="20" name="Shape 17"/>
          <p:cNvSpPr/>
          <p:nvPr/>
        </p:nvSpPr>
        <p:spPr>
          <a:xfrm>
            <a:off x="4663440" y="1298448"/>
            <a:ext cx="7223760" cy="146304"/>
          </a:xfrm>
          <a:prstGeom prst="rect">
            <a:avLst/>
          </a:prstGeom>
          <a:solidFill>
            <a:srgbClr val="1B335C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106070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791456" y="1517904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E7EEF8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56" y="1572768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68696" y="15179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791456" y="195681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factors, MDO, trade positions, pricing, ES and SES are driven in the Vasara stack.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837176" y="2999232"/>
            <a:ext cx="2194560" cy="0"/>
          </a:xfrm>
          <a:prstGeom prst="line">
            <a:avLst/>
          </a:prstGeom>
          <a:noFill/>
          <a:ln w="12700">
            <a:solidFill>
              <a:srgbClr val="AAB9CC"/>
            </a:solidFill>
            <a:prstDash val="dash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3127248"/>
            <a:ext cx="310896" cy="31089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596128" y="3108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Vasara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7168896" y="1499616"/>
            <a:ext cx="0" cy="20848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78624" y="1517904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EAF2E5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1572768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101584" y="1517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Equities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278624" y="1975104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 live in RFDM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MDO lives in Mercury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is done in Mercury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and Greek sensitivities are done in Mars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10076688" y="1499616"/>
            <a:ext cx="0" cy="20848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6416" y="1737360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643616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RFDM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0140696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38" name="Text 31"/>
          <p:cNvSpPr/>
          <p:nvPr/>
        </p:nvSpPr>
        <p:spPr>
          <a:xfrm>
            <a:off x="10643616" y="23957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</a:t>
            </a:r>
            <a:endParaRPr lang="en-US" sz="14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6416" y="3054096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643616" y="30540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274320" y="3767328"/>
            <a:ext cx="116128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9FC5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502920" y="4160520"/>
            <a:ext cx="548640" cy="548640"/>
          </a:xfrm>
          <a:prstGeom prst="ellipse">
            <a:avLst/>
          </a:prstGeom>
          <a:solidFill>
            <a:srgbClr val="1F7A78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279392"/>
            <a:ext cx="310896" cy="31089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170432" y="40416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F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 Future</a:t>
            </a:r>
            <a:endParaRPr lang="en-US" sz="1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F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for Equities</a:t>
            </a:r>
            <a:endParaRPr lang="en-US" sz="1600" dirty="0"/>
          </a:p>
        </p:txBody>
      </p:sp>
      <p:sp>
        <p:nvSpPr>
          <p:cNvPr id="45" name="Shape 36"/>
          <p:cNvSpPr/>
          <p:nvPr/>
        </p:nvSpPr>
        <p:spPr>
          <a:xfrm>
            <a:off x="3200400" y="3931920"/>
            <a:ext cx="0" cy="1115568"/>
          </a:xfrm>
          <a:prstGeom prst="line">
            <a:avLst/>
          </a:prstGeom>
          <a:noFill/>
          <a:ln w="12700">
            <a:solidFill>
              <a:srgbClr val="C6D9D8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3429000" y="3840480"/>
            <a:ext cx="5852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calculations move to Mercury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 handles pricing (NPV), sensitivities, VaR and 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 needs access to all risk factor shocks and time series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MDO must extend from 2019 back to 2007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EQ_VOL, EQ_Dividend, and EQ_FundingSpread will be regenerated using a new model</a:t>
            </a:r>
            <a:endParaRPr lang="en-US" sz="11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0" y="4160520"/>
            <a:ext cx="566928" cy="56692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946404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</a:t>
            </a:r>
            <a:endParaRPr lang="en-US" sz="1300" dirty="0"/>
          </a:p>
        </p:txBody>
      </p:sp>
      <p:sp>
        <p:nvSpPr>
          <p:cNvPr id="49" name="Shape 39"/>
          <p:cNvSpPr/>
          <p:nvPr/>
        </p:nvSpPr>
        <p:spPr>
          <a:xfrm>
            <a:off x="10378440" y="4443984"/>
            <a:ext cx="822960" cy="0"/>
          </a:xfrm>
          <a:prstGeom prst="line">
            <a:avLst/>
          </a:prstGeom>
          <a:noFill/>
          <a:ln w="28575">
            <a:solidFill>
              <a:srgbClr val="1B335C"/>
            </a:solidFill>
            <a:prstDash val="dash"/>
            <a:tailEnd type="triangle"/>
          </a:ln>
        </p:spPr>
      </p:sp>
      <p:sp>
        <p:nvSpPr>
          <p:cNvPr id="50" name="Text 40"/>
          <p:cNvSpPr/>
          <p:nvPr/>
        </p:nvSpPr>
        <p:spPr>
          <a:xfrm>
            <a:off x="11201400" y="4023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000" dirty="0"/>
          </a:p>
        </p:txBody>
      </p:sp>
      <p:sp>
        <p:nvSpPr>
          <p:cNvPr id="51" name="Text 41"/>
          <p:cNvSpPr/>
          <p:nvPr/>
        </p:nvSpPr>
        <p:spPr>
          <a:xfrm>
            <a:off x="11109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274320" y="5321808"/>
            <a:ext cx="11612880" cy="1371600"/>
          </a:xfrm>
          <a:prstGeom prst="roundRect">
            <a:avLst>
              <a:gd name="adj" fmla="val 5333"/>
            </a:avLst>
          </a:prstGeom>
          <a:solidFill>
            <a:srgbClr val="EEF3E5"/>
          </a:solidFill>
          <a:ln w="12700">
            <a:solidFill>
              <a:srgbClr val="CBD9B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502920" y="5715000"/>
            <a:ext cx="548640" cy="548640"/>
          </a:xfrm>
          <a:prstGeom prst="ellipse">
            <a:avLst/>
          </a:prstGeom>
          <a:solidFill>
            <a:srgbClr val="4F7A28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" y="5843016"/>
            <a:ext cx="292608" cy="292608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1170432" y="5715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1800" dirty="0"/>
          </a:p>
        </p:txBody>
      </p:sp>
      <p:sp>
        <p:nvSpPr>
          <p:cNvPr id="56" name="Shape 45"/>
          <p:cNvSpPr/>
          <p:nvPr/>
        </p:nvSpPr>
        <p:spPr>
          <a:xfrm>
            <a:off x="3200400" y="5486400"/>
            <a:ext cx="0" cy="1042416"/>
          </a:xfrm>
          <a:prstGeom prst="line">
            <a:avLst/>
          </a:prstGeom>
          <a:noFill/>
          <a:ln w="12700">
            <a:solidFill>
              <a:srgbClr val="BFD0A6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3429000" y="541324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RFET ownership must be defined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whether Macro RFET buildout can be reused for Equities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whether Equity RPOs, qualitative tests, quantitative tests, and RFET classification are shared or built separately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1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Equities RFET Could Fit with Macro RFET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F5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chart for ownership, component reuse, and future-state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2860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1B335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B335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627632"/>
            <a:ext cx="2286000" cy="201168"/>
          </a:xfrm>
          <a:prstGeom prst="rect">
            <a:avLst/>
          </a:prstGeom>
          <a:solidFill>
            <a:srgbClr val="1B335C"/>
          </a:solidFill>
          <a:ln/>
        </p:spPr>
      </p:sp>
      <p:sp>
        <p:nvSpPr>
          <p:cNvPr id="7" name="Shape 5"/>
          <p:cNvSpPr/>
          <p:nvPr/>
        </p:nvSpPr>
        <p:spPr>
          <a:xfrm>
            <a:off x="402336" y="1472184"/>
            <a:ext cx="256032" cy="256032"/>
          </a:xfrm>
          <a:prstGeom prst="ellipse">
            <a:avLst/>
          </a:prstGeom>
          <a:solidFill>
            <a:srgbClr val="2C4E7E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472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Equity Stack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F0F5FC"/>
          </a:solidFill>
          <a:ln w="12700">
            <a:solidFill>
              <a:srgbClr val="B9CCE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15798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96696" y="1965960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RFDM —</a:t>
            </a:r>
            <a:endParaRPr lang="en-US" sz="1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2834640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F0F5FC"/>
          </a:solidFill>
          <a:ln w="12700">
            <a:solidFill>
              <a:srgbClr val="B9CCE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02666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96696" y="2834640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 —</a:t>
            </a:r>
            <a:endParaRPr lang="en-US" sz="1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1480" y="3703320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F0F5FC"/>
          </a:solidFill>
          <a:ln w="12700">
            <a:solidFill>
              <a:srgbClr val="B9CCE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89534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96696" y="3703320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 —</a:t>
            </a:r>
            <a:endParaRPr lang="en-US" sz="1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11480" y="4572000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F0F5FC"/>
          </a:solidFill>
          <a:ln w="12700">
            <a:solidFill>
              <a:srgbClr val="B9CCE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476402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6696" y="4572000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—</a:t>
            </a:r>
            <a:endParaRPr lang="en-US" sz="1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and Greek</a:t>
            </a:r>
            <a:endParaRPr lang="en-US" sz="1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Sensitivities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578608" y="3703320"/>
            <a:ext cx="329184" cy="384048"/>
          </a:xfrm>
          <a:prstGeom prst="rightArrow">
            <a:avLst/>
          </a:prstGeom>
          <a:solidFill>
            <a:srgbClr val="1B335C"/>
          </a:solidFill>
          <a:ln/>
        </p:spPr>
      </p:sp>
      <p:sp>
        <p:nvSpPr>
          <p:cNvPr id="23" name="Shape 17"/>
          <p:cNvSpPr/>
          <p:nvPr/>
        </p:nvSpPr>
        <p:spPr>
          <a:xfrm>
            <a:off x="2926080" y="1371600"/>
            <a:ext cx="3017520" cy="4572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1B335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926080" y="137160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1B335C"/>
          </a:solidFill>
          <a:ln/>
        </p:spPr>
      </p:sp>
      <p:sp>
        <p:nvSpPr>
          <p:cNvPr id="25" name="Shape 19"/>
          <p:cNvSpPr/>
          <p:nvPr/>
        </p:nvSpPr>
        <p:spPr>
          <a:xfrm>
            <a:off x="2926080" y="1627632"/>
            <a:ext cx="3017520" cy="201168"/>
          </a:xfrm>
          <a:prstGeom prst="rect">
            <a:avLst/>
          </a:prstGeom>
          <a:solidFill>
            <a:srgbClr val="1B335C"/>
          </a:solidFill>
          <a:ln/>
        </p:spPr>
      </p:sp>
      <p:sp>
        <p:nvSpPr>
          <p:cNvPr id="26" name="Shape 20"/>
          <p:cNvSpPr/>
          <p:nvPr/>
        </p:nvSpPr>
        <p:spPr>
          <a:xfrm>
            <a:off x="3054096" y="1472184"/>
            <a:ext cx="256032" cy="256032"/>
          </a:xfrm>
          <a:prstGeom prst="ellipse">
            <a:avLst/>
          </a:prstGeom>
          <a:solidFill>
            <a:srgbClr val="2C4E7E"/>
          </a:solidFill>
          <a:ln/>
        </p:spPr>
      </p:sp>
      <p:sp>
        <p:nvSpPr>
          <p:cNvPr id="27" name="Text 21"/>
          <p:cNvSpPr/>
          <p:nvPr/>
        </p:nvSpPr>
        <p:spPr>
          <a:xfrm>
            <a:off x="3054096" y="1472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383280" y="1371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FRTB Future State for Equities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3044952" y="1920240"/>
            <a:ext cx="12070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CE5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2029968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090672" y="2377440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 shocks and time series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4416552" y="192024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0F5FC"/>
          </a:solidFill>
          <a:ln w="12700">
            <a:solidFill>
              <a:srgbClr val="B9CCE5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221742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83480" y="1920240"/>
            <a:ext cx="749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 —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(NPV)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261104" y="2400300"/>
            <a:ext cx="146304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3044952" y="3063240"/>
            <a:ext cx="12070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CE5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172968"/>
            <a:ext cx="310896" cy="3108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090672" y="3520440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MDO: 2007–present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4416552" y="306324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0F5FC"/>
          </a:solidFill>
          <a:ln w="12700">
            <a:solidFill>
              <a:srgbClr val="B9CCE5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4568" y="3360420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983480" y="3063240"/>
            <a:ext cx="749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 —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Sensitivities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4261104" y="3543300"/>
            <a:ext cx="146304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3044952" y="4206240"/>
            <a:ext cx="12070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CE5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3008" y="4315968"/>
            <a:ext cx="310896" cy="31089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3090672" y="4663440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Regenerated EQ_VOL, EQ_Dividend, EQ_FundingSpread</a:t>
            </a:r>
            <a:endParaRPr lang="en-US" sz="800" dirty="0"/>
          </a:p>
        </p:txBody>
      </p:sp>
      <p:sp>
        <p:nvSpPr>
          <p:cNvPr id="46" name="Shape 35"/>
          <p:cNvSpPr/>
          <p:nvPr/>
        </p:nvSpPr>
        <p:spPr>
          <a:xfrm>
            <a:off x="4416552" y="420624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0F5FC"/>
          </a:solidFill>
          <a:ln w="12700">
            <a:solidFill>
              <a:srgbClr val="B9CCE5"/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4568" y="4503420"/>
            <a:ext cx="365760" cy="36576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4983480" y="4206240"/>
            <a:ext cx="749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 —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and ES</a:t>
            </a:r>
            <a:endParaRPr lang="en-US" sz="950" dirty="0"/>
          </a:p>
        </p:txBody>
      </p:sp>
      <p:sp>
        <p:nvSpPr>
          <p:cNvPr id="49" name="Shape 37"/>
          <p:cNvSpPr/>
          <p:nvPr/>
        </p:nvSpPr>
        <p:spPr>
          <a:xfrm>
            <a:off x="4261104" y="4686300"/>
            <a:ext cx="146304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50" name="Shape 38"/>
          <p:cNvSpPr/>
          <p:nvPr/>
        </p:nvSpPr>
        <p:spPr>
          <a:xfrm>
            <a:off x="5102352" y="2880360"/>
            <a:ext cx="0" cy="182880"/>
          </a:xfrm>
          <a:prstGeom prst="line">
            <a:avLst/>
          </a:prstGeom>
          <a:noFill/>
          <a:ln w="25400">
            <a:solidFill>
              <a:srgbClr val="1B335C"/>
            </a:solidFill>
            <a:prstDash val="solid"/>
            <a:tailEnd type="triangle"/>
          </a:ln>
        </p:spPr>
      </p:sp>
      <p:sp>
        <p:nvSpPr>
          <p:cNvPr id="51" name="Shape 39"/>
          <p:cNvSpPr/>
          <p:nvPr/>
        </p:nvSpPr>
        <p:spPr>
          <a:xfrm>
            <a:off x="5102352" y="4023360"/>
            <a:ext cx="0" cy="182880"/>
          </a:xfrm>
          <a:prstGeom prst="line">
            <a:avLst/>
          </a:prstGeom>
          <a:noFill/>
          <a:ln w="25400">
            <a:solidFill>
              <a:srgbClr val="1B335C"/>
            </a:solidFill>
            <a:prstDash val="solid"/>
            <a:tailEnd type="triangle"/>
          </a:ln>
        </p:spPr>
      </p:sp>
      <p:sp>
        <p:nvSpPr>
          <p:cNvPr id="52" name="Shape 40"/>
          <p:cNvSpPr/>
          <p:nvPr/>
        </p:nvSpPr>
        <p:spPr>
          <a:xfrm>
            <a:off x="5961888" y="3703320"/>
            <a:ext cx="329184" cy="384048"/>
          </a:xfrm>
          <a:prstGeom prst="rightArrow">
            <a:avLst/>
          </a:prstGeom>
          <a:solidFill>
            <a:srgbClr val="1B335C"/>
          </a:solidFill>
          <a:ln/>
        </p:spPr>
      </p:sp>
      <p:sp>
        <p:nvSpPr>
          <p:cNvPr id="53" name="Shape 41"/>
          <p:cNvSpPr/>
          <p:nvPr/>
        </p:nvSpPr>
        <p:spPr>
          <a:xfrm>
            <a:off x="6309360" y="1371600"/>
            <a:ext cx="2148840" cy="45720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1B335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4" name="Shape 42"/>
          <p:cNvSpPr/>
          <p:nvPr/>
        </p:nvSpPr>
        <p:spPr>
          <a:xfrm>
            <a:off x="6309360" y="137160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B335C"/>
          </a:solidFill>
          <a:ln/>
        </p:spPr>
      </p:sp>
      <p:sp>
        <p:nvSpPr>
          <p:cNvPr id="55" name="Shape 43"/>
          <p:cNvSpPr/>
          <p:nvPr/>
        </p:nvSpPr>
        <p:spPr>
          <a:xfrm>
            <a:off x="6309360" y="1627632"/>
            <a:ext cx="2148840" cy="201168"/>
          </a:xfrm>
          <a:prstGeom prst="rect">
            <a:avLst/>
          </a:prstGeom>
          <a:solidFill>
            <a:srgbClr val="1B335C"/>
          </a:solidFill>
          <a:ln/>
        </p:spPr>
      </p:sp>
      <p:sp>
        <p:nvSpPr>
          <p:cNvPr id="56" name="Shape 44"/>
          <p:cNvSpPr/>
          <p:nvPr/>
        </p:nvSpPr>
        <p:spPr>
          <a:xfrm>
            <a:off x="6437376" y="1472184"/>
            <a:ext cx="256032" cy="256032"/>
          </a:xfrm>
          <a:prstGeom prst="ellipse">
            <a:avLst/>
          </a:prstGeom>
          <a:solidFill>
            <a:srgbClr val="2C4E7E"/>
          </a:solidFill>
          <a:ln/>
        </p:spPr>
      </p:sp>
      <p:sp>
        <p:nvSpPr>
          <p:cNvPr id="57" name="Text 45"/>
          <p:cNvSpPr/>
          <p:nvPr/>
        </p:nvSpPr>
        <p:spPr>
          <a:xfrm>
            <a:off x="6437376" y="1472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46"/>
          <p:cNvSpPr/>
          <p:nvPr/>
        </p:nvSpPr>
        <p:spPr>
          <a:xfrm>
            <a:off x="67665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RFET</a:t>
            </a:r>
            <a:endParaRPr lang="en-US" sz="12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Questions</a:t>
            </a:r>
            <a:endParaRPr lang="en-US" sz="1250" dirty="0"/>
          </a:p>
        </p:txBody>
      </p:sp>
      <p:sp>
        <p:nvSpPr>
          <p:cNvPr id="59" name="Shape 47"/>
          <p:cNvSpPr/>
          <p:nvPr/>
        </p:nvSpPr>
        <p:spPr>
          <a:xfrm>
            <a:off x="6473952" y="2148840"/>
            <a:ext cx="402336" cy="402336"/>
          </a:xfrm>
          <a:prstGeom prst="ellipse">
            <a:avLst/>
          </a:prstGeom>
          <a:solidFill>
            <a:srgbClr val="1B335C"/>
          </a:solidFill>
          <a:ln/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4536" y="2249424"/>
            <a:ext cx="201168" cy="201168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6967728" y="2011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tech team owns Equity RFET?</a:t>
            </a:r>
            <a:endParaRPr lang="en-US" sz="1100" dirty="0"/>
          </a:p>
        </p:txBody>
      </p:sp>
      <p:sp>
        <p:nvSpPr>
          <p:cNvPr id="62" name="Shape 49"/>
          <p:cNvSpPr/>
          <p:nvPr/>
        </p:nvSpPr>
        <p:spPr>
          <a:xfrm>
            <a:off x="6473952" y="3337560"/>
            <a:ext cx="402336" cy="402336"/>
          </a:xfrm>
          <a:prstGeom prst="ellipse">
            <a:avLst/>
          </a:prstGeom>
          <a:solidFill>
            <a:srgbClr val="1B335C"/>
          </a:solidFill>
          <a:ln/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4536" y="3438144"/>
            <a:ext cx="201168" cy="201168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6967728" y="3200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Macro RFET buildout be leveraged?</a:t>
            </a:r>
            <a:endParaRPr lang="en-US" sz="1100" dirty="0"/>
          </a:p>
        </p:txBody>
      </p:sp>
      <p:sp>
        <p:nvSpPr>
          <p:cNvPr id="65" name="Shape 51"/>
          <p:cNvSpPr/>
          <p:nvPr/>
        </p:nvSpPr>
        <p:spPr>
          <a:xfrm>
            <a:off x="6473952" y="4526280"/>
            <a:ext cx="402336" cy="402336"/>
          </a:xfrm>
          <a:prstGeom prst="ellipse">
            <a:avLst/>
          </a:prstGeom>
          <a:solidFill>
            <a:srgbClr val="1B335C"/>
          </a:solidFill>
          <a:ln/>
        </p:spPr>
      </p:sp>
      <p:pic>
        <p:nvPicPr>
          <p:cNvPr id="6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4536" y="4626864"/>
            <a:ext cx="201168" cy="201168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6967728" y="4389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components or separate Equity build?</a:t>
            </a:r>
            <a:endParaRPr lang="en-US" sz="1100" dirty="0"/>
          </a:p>
        </p:txBody>
      </p:sp>
      <p:sp>
        <p:nvSpPr>
          <p:cNvPr id="68" name="Shape 53"/>
          <p:cNvSpPr/>
          <p:nvPr/>
        </p:nvSpPr>
        <p:spPr>
          <a:xfrm>
            <a:off x="8476488" y="3703320"/>
            <a:ext cx="329184" cy="384048"/>
          </a:xfrm>
          <a:prstGeom prst="rightArrow">
            <a:avLst/>
          </a:prstGeom>
          <a:solidFill>
            <a:srgbClr val="1B335C"/>
          </a:solidFill>
          <a:ln/>
        </p:spPr>
      </p:sp>
      <p:sp>
        <p:nvSpPr>
          <p:cNvPr id="69" name="Shape 54"/>
          <p:cNvSpPr/>
          <p:nvPr/>
        </p:nvSpPr>
        <p:spPr>
          <a:xfrm>
            <a:off x="8823960" y="1371600"/>
            <a:ext cx="3063240" cy="457200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5875">
            <a:solidFill>
              <a:srgbClr val="1B335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0" name="Shape 55"/>
          <p:cNvSpPr/>
          <p:nvPr/>
        </p:nvSpPr>
        <p:spPr>
          <a:xfrm>
            <a:off x="8823960" y="1371600"/>
            <a:ext cx="3063240" cy="457200"/>
          </a:xfrm>
          <a:prstGeom prst="roundRect">
            <a:avLst>
              <a:gd name="adj" fmla="val 16000"/>
            </a:avLst>
          </a:prstGeom>
          <a:solidFill>
            <a:srgbClr val="1B335C"/>
          </a:solidFill>
          <a:ln/>
        </p:spPr>
      </p:sp>
      <p:sp>
        <p:nvSpPr>
          <p:cNvPr id="71" name="Shape 56"/>
          <p:cNvSpPr/>
          <p:nvPr/>
        </p:nvSpPr>
        <p:spPr>
          <a:xfrm>
            <a:off x="8823960" y="1627632"/>
            <a:ext cx="3063240" cy="201168"/>
          </a:xfrm>
          <a:prstGeom prst="rect">
            <a:avLst/>
          </a:prstGeom>
          <a:solidFill>
            <a:srgbClr val="1B335C"/>
          </a:solidFill>
          <a:ln/>
        </p:spPr>
      </p:sp>
      <p:sp>
        <p:nvSpPr>
          <p:cNvPr id="72" name="Shape 57"/>
          <p:cNvSpPr/>
          <p:nvPr/>
        </p:nvSpPr>
        <p:spPr>
          <a:xfrm>
            <a:off x="8951976" y="1472184"/>
            <a:ext cx="256032" cy="256032"/>
          </a:xfrm>
          <a:prstGeom prst="ellipse">
            <a:avLst/>
          </a:prstGeom>
          <a:solidFill>
            <a:srgbClr val="2C4E7E"/>
          </a:solidFill>
          <a:ln/>
        </p:spPr>
      </p:sp>
      <p:sp>
        <p:nvSpPr>
          <p:cNvPr id="73" name="Text 58"/>
          <p:cNvSpPr/>
          <p:nvPr/>
        </p:nvSpPr>
        <p:spPr>
          <a:xfrm>
            <a:off x="8951976" y="1472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74" name="Text 59"/>
          <p:cNvSpPr/>
          <p:nvPr/>
        </p:nvSpPr>
        <p:spPr>
          <a:xfrm>
            <a:off x="928116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RFET Component Options</a:t>
            </a:r>
            <a:endParaRPr lang="en-US" sz="1250" dirty="0"/>
          </a:p>
        </p:txBody>
      </p:sp>
      <p:sp>
        <p:nvSpPr>
          <p:cNvPr id="75" name="Shape 60"/>
          <p:cNvSpPr/>
          <p:nvPr/>
        </p:nvSpPr>
        <p:spPr>
          <a:xfrm>
            <a:off x="8951976" y="1938528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12315C"/>
          </a:solidFill>
          <a:ln/>
        </p:spPr>
      </p:sp>
      <p:sp>
        <p:nvSpPr>
          <p:cNvPr id="76" name="Text 61"/>
          <p:cNvSpPr/>
          <p:nvPr/>
        </p:nvSpPr>
        <p:spPr>
          <a:xfrm>
            <a:off x="8951976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Macro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RFET Components</a:t>
            </a:r>
            <a:endParaRPr lang="en-US" sz="850" dirty="0"/>
          </a:p>
        </p:txBody>
      </p:sp>
      <p:sp>
        <p:nvSpPr>
          <p:cNvPr id="77" name="Shape 62"/>
          <p:cNvSpPr/>
          <p:nvPr/>
        </p:nvSpPr>
        <p:spPr>
          <a:xfrm>
            <a:off x="10396728" y="1938528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1F7A78"/>
          </a:solidFill>
          <a:ln/>
        </p:spPr>
      </p:sp>
      <p:sp>
        <p:nvSpPr>
          <p:cNvPr id="78" name="Text 63"/>
          <p:cNvSpPr/>
          <p:nvPr/>
        </p:nvSpPr>
        <p:spPr>
          <a:xfrm>
            <a:off x="10396728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Equity-Specific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RFET</a:t>
            </a:r>
            <a:endParaRPr lang="en-US" sz="850" dirty="0"/>
          </a:p>
        </p:txBody>
      </p:sp>
      <p:pic>
        <p:nvPicPr>
          <p:cNvPr id="7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8552" y="2697480"/>
            <a:ext cx="274320" cy="274320"/>
          </a:xfrm>
          <a:prstGeom prst="rect">
            <a:avLst/>
          </a:prstGeom>
        </p:spPr>
      </p:pic>
      <p:sp>
        <p:nvSpPr>
          <p:cNvPr id="80" name="Text 64"/>
          <p:cNvSpPr/>
          <p:nvPr/>
        </p:nvSpPr>
        <p:spPr>
          <a:xfrm>
            <a:off x="9317736" y="2606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common RPO services</a:t>
            </a:r>
            <a:endParaRPr lang="en-US" sz="850" dirty="0"/>
          </a:p>
        </p:txBody>
      </p:sp>
      <p:pic>
        <p:nvPicPr>
          <p:cNvPr id="8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33304" y="2697480"/>
            <a:ext cx="274320" cy="274320"/>
          </a:xfrm>
          <a:prstGeom prst="rect">
            <a:avLst/>
          </a:prstGeom>
        </p:spPr>
      </p:pic>
      <p:sp>
        <p:nvSpPr>
          <p:cNvPr id="82" name="Text 65"/>
          <p:cNvSpPr/>
          <p:nvPr/>
        </p:nvSpPr>
        <p:spPr>
          <a:xfrm>
            <a:off x="10762488" y="2606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RPOs</a:t>
            </a:r>
            <a:endParaRPr lang="en-US" sz="850" dirty="0"/>
          </a:p>
        </p:txBody>
      </p:sp>
      <p:pic>
        <p:nvPicPr>
          <p:cNvPr id="8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88552" y="3456432"/>
            <a:ext cx="274320" cy="274320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9317736" y="336499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qualitative tests</a:t>
            </a:r>
            <a:endParaRPr lang="en-US" sz="850" dirty="0"/>
          </a:p>
        </p:txBody>
      </p:sp>
      <p:pic>
        <p:nvPicPr>
          <p:cNvPr id="8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33304" y="3456432"/>
            <a:ext cx="274320" cy="274320"/>
          </a:xfrm>
          <a:prstGeom prst="rect">
            <a:avLst/>
          </a:prstGeom>
        </p:spPr>
      </p:pic>
      <p:sp>
        <p:nvSpPr>
          <p:cNvPr id="86" name="Text 67"/>
          <p:cNvSpPr/>
          <p:nvPr/>
        </p:nvSpPr>
        <p:spPr>
          <a:xfrm>
            <a:off x="10762488" y="336499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qualitative tests</a:t>
            </a:r>
            <a:endParaRPr lang="en-US" sz="850" dirty="0"/>
          </a:p>
        </p:txBody>
      </p:sp>
      <p:pic>
        <p:nvPicPr>
          <p:cNvPr id="8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88552" y="4215384"/>
            <a:ext cx="274320" cy="274320"/>
          </a:xfrm>
          <a:prstGeom prst="rect">
            <a:avLst/>
          </a:prstGeom>
        </p:spPr>
      </p:pic>
      <p:sp>
        <p:nvSpPr>
          <p:cNvPr id="88" name="Text 68"/>
          <p:cNvSpPr/>
          <p:nvPr/>
        </p:nvSpPr>
        <p:spPr>
          <a:xfrm>
            <a:off x="9317736" y="4123944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quantitative tests</a:t>
            </a:r>
            <a:endParaRPr lang="en-US" sz="850" dirty="0"/>
          </a:p>
        </p:txBody>
      </p:sp>
      <p:pic>
        <p:nvPicPr>
          <p:cNvPr id="8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33304" y="4215384"/>
            <a:ext cx="274320" cy="274320"/>
          </a:xfrm>
          <a:prstGeom prst="rect">
            <a:avLst/>
          </a:prstGeom>
        </p:spPr>
      </p:pic>
      <p:sp>
        <p:nvSpPr>
          <p:cNvPr id="90" name="Text 69"/>
          <p:cNvSpPr/>
          <p:nvPr/>
        </p:nvSpPr>
        <p:spPr>
          <a:xfrm>
            <a:off x="10762488" y="4123944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quantitative tests</a:t>
            </a:r>
            <a:endParaRPr lang="en-US" sz="850" dirty="0"/>
          </a:p>
        </p:txBody>
      </p:sp>
      <p:pic>
        <p:nvPicPr>
          <p:cNvPr id="9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88552" y="4974336"/>
            <a:ext cx="274320" cy="274320"/>
          </a:xfrm>
          <a:prstGeom prst="rect">
            <a:avLst/>
          </a:prstGeom>
        </p:spPr>
      </p:pic>
      <p:sp>
        <p:nvSpPr>
          <p:cNvPr id="92" name="Text 70"/>
          <p:cNvSpPr/>
          <p:nvPr/>
        </p:nvSpPr>
        <p:spPr>
          <a:xfrm>
            <a:off x="9317736" y="4882896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RFET classification</a:t>
            </a:r>
            <a:endParaRPr lang="en-US" sz="850" dirty="0"/>
          </a:p>
        </p:txBody>
      </p:sp>
      <p:pic>
        <p:nvPicPr>
          <p:cNvPr id="9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33304" y="4974336"/>
            <a:ext cx="274320" cy="274320"/>
          </a:xfrm>
          <a:prstGeom prst="rect">
            <a:avLst/>
          </a:prstGeom>
        </p:spPr>
      </p:pic>
      <p:sp>
        <p:nvSpPr>
          <p:cNvPr id="94" name="Text 71"/>
          <p:cNvSpPr/>
          <p:nvPr/>
        </p:nvSpPr>
        <p:spPr>
          <a:xfrm>
            <a:off x="10762488" y="4882896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RFET classification</a:t>
            </a:r>
            <a:endParaRPr lang="en-US" sz="850" dirty="0"/>
          </a:p>
        </p:txBody>
      </p:sp>
      <p:sp>
        <p:nvSpPr>
          <p:cNvPr id="95" name="Shape 72"/>
          <p:cNvSpPr/>
          <p:nvPr/>
        </p:nvSpPr>
        <p:spPr>
          <a:xfrm>
            <a:off x="274320" y="6080760"/>
            <a:ext cx="11612880" cy="658368"/>
          </a:xfrm>
          <a:prstGeom prst="roundRect">
            <a:avLst>
              <a:gd name="adj" fmla="val 11111"/>
            </a:avLst>
          </a:prstGeom>
          <a:solidFill>
            <a:srgbClr val="E9F3F2"/>
          </a:solidFill>
          <a:ln w="12700">
            <a:solidFill>
              <a:srgbClr val="9FC5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6" name="Shape 73"/>
          <p:cNvSpPr/>
          <p:nvPr/>
        </p:nvSpPr>
        <p:spPr>
          <a:xfrm>
            <a:off x="502920" y="6245352"/>
            <a:ext cx="365760" cy="365760"/>
          </a:xfrm>
          <a:prstGeom prst="ellipse">
            <a:avLst/>
          </a:prstGeom>
          <a:solidFill>
            <a:srgbClr val="1F7A78"/>
          </a:solidFill>
          <a:ln/>
        </p:spPr>
      </p:sp>
      <p:pic>
        <p:nvPicPr>
          <p:cNvPr id="9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4360" y="6336792"/>
            <a:ext cx="182880" cy="182880"/>
          </a:xfrm>
          <a:prstGeom prst="rect">
            <a:avLst/>
          </a:prstGeom>
        </p:spPr>
      </p:pic>
      <p:sp>
        <p:nvSpPr>
          <p:cNvPr id="98" name="Text 74"/>
          <p:cNvSpPr/>
          <p:nvPr/>
        </p:nvSpPr>
        <p:spPr>
          <a:xfrm>
            <a:off x="1051560" y="6080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 </a:t>
            </a:r>
            <a:pPr indent="0" marL="0">
              <a:buNone/>
            </a:pPr>
            <a:r>
              <a:rPr lang="en-US" sz="13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RFET ownership model and whether Equities will share Macro RFET services or use a separate implementation.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Desk Modellability &amp; Preliminary IMA Estimate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92608" y="53035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 </a:t>
            </a:r>
            <a:pPr indent="0" marL="0">
              <a:buNone/>
            </a:pPr>
            <a:r>
              <a:rPr lang="en-US" sz="1400" i="1" dirty="0">
                <a:solidFill>
                  <a:srgbClr val="1F5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Convertibles  |  Index Trading  |  Listed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11612880" cy="0"/>
          </a:xfrm>
          <a:prstGeom prst="line">
            <a:avLst/>
          </a:prstGeom>
          <a:noFill/>
          <a:ln w="25400">
            <a:solidFill>
              <a:srgbClr val="1B33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6949440" cy="1828800"/>
          </a:xfrm>
          <a:prstGeom prst="roundRect">
            <a:avLst>
              <a:gd name="adj" fmla="val 3500"/>
            </a:avLst>
          </a:prstGeom>
          <a:solidFill>
            <a:srgbClr val="EEF3FB"/>
          </a:solidFill>
          <a:ln w="12700">
            <a:solidFill>
              <a:srgbClr val="C6D6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310896"/>
          </a:xfrm>
          <a:prstGeom prst="rect">
            <a:avLst/>
          </a:prstGeom>
          <a:solidFill>
            <a:srgbClr val="1B33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6070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Result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26464"/>
            <a:ext cx="667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IMA benefit observed across the three desks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Convertibles: low benefit expected — and confirmed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Trading / Listed Flow: benefit expected, but not shown in current numbers</a:t>
            </a:r>
            <a:endParaRPr lang="en-US" sz="1150" dirty="0"/>
          </a:p>
          <a:p>
            <a:pPr marL="152400" indent="-152400">
              <a:lnSpc>
                <a:spcPct val="98000"/>
              </a:lnSpc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desk results are worse; combined view gives some diversification, but not enough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60920" y="1005840"/>
            <a:ext cx="4526280" cy="1828800"/>
          </a:xfrm>
          <a:prstGeom prst="roundRect">
            <a:avLst>
              <a:gd name="adj" fmla="val 3500"/>
            </a:avLst>
          </a:prstGeom>
          <a:solidFill>
            <a:srgbClr val="E9F3F2"/>
          </a:solidFill>
          <a:ln w="12700">
            <a:solidFill>
              <a:srgbClr val="9FC5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60920" y="1097280"/>
            <a:ext cx="64008" cy="310896"/>
          </a:xfrm>
          <a:prstGeom prst="rect">
            <a:avLst/>
          </a:prstGeom>
          <a:solidFill>
            <a:srgbClr val="1F7A78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06070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Driver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1426464"/>
            <a:ext cx="4251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impact mainly driven by Equity Implied Volatility</a:t>
            </a:r>
            <a:endParaRPr lang="en-US" sz="1100" dirty="0"/>
          </a:p>
          <a:p>
            <a:pPr lvl="1" marL="3048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Trading: index options</a:t>
            </a:r>
            <a:endParaRPr lang="en-US" sz="1100" dirty="0"/>
          </a:p>
          <a:p>
            <a:pPr lvl="1" marL="3048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 Flow: single-name options</a:t>
            </a:r>
            <a:endParaRPr lang="en-US" sz="1100" dirty="0"/>
          </a:p>
          <a:p>
            <a:pPr lvl="1" marL="304800" indent="-152400">
              <a:lnSpc>
                <a:spcPct val="98000"/>
              </a:lnSpc>
              <a:buSzPct val="100000"/>
              <a:buChar char="•"/>
            </a:pPr>
            <a:r>
              <a:rPr lang="en-US" sz="1100" dirty="0">
                <a:solidFill>
                  <a:srgbClr val="4A5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Convertibles: single-name option risk + issuer credit-spread risk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62656"/>
            <a:ext cx="69494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C3D2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54096"/>
            <a:ext cx="64008" cy="310896"/>
          </a:xfrm>
          <a:prstGeom prst="rect">
            <a:avLst/>
          </a:prstGeom>
          <a:solidFill>
            <a:srgbClr val="1B33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6675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Long-dated vol risk beyond ~2Y is expected to be more non-modellable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counts are short-end concentrated, but market value / risk is larger in long-end tenors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2007–2008 history relies heavily on SPX proxy data — ~75% of drivers use SPX</a:t>
            </a:r>
            <a:endParaRPr lang="en-US" sz="1150" dirty="0"/>
          </a:p>
          <a:p>
            <a:pPr marL="152400" indent="-152400">
              <a:lnSpc>
                <a:spcPct val="98000"/>
              </a:lnSpc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basis, beta, issuer scaling, and punitive stress adjustments not fully reflected yet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60920" y="2962656"/>
            <a:ext cx="4526280" cy="2011680"/>
          </a:xfrm>
          <a:prstGeom prst="roundRect">
            <a:avLst>
              <a:gd name="adj" fmla="val 3182"/>
            </a:avLst>
          </a:prstGeom>
          <a:solidFill>
            <a:srgbClr val="FDF7E8"/>
          </a:solidFill>
          <a:ln w="12700">
            <a:solidFill>
              <a:srgbClr val="E2C98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054096"/>
            <a:ext cx="64008" cy="310896"/>
          </a:xfrm>
          <a:prstGeom prst="rect">
            <a:avLst/>
          </a:prstGeom>
          <a:solidFill>
            <a:srgbClr val="B06E12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3017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/ Upside Risk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3383280"/>
            <a:ext cx="4251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Convertibles and Listed Flow estimates may be understated</a:t>
            </a:r>
            <a:endParaRPr lang="en-US" sz="11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does not yet include full capital stress scenarios</a:t>
            </a:r>
            <a:endParaRPr lang="en-US" sz="1100" dirty="0"/>
          </a:p>
          <a:p>
            <a:pPr marL="152400" indent="-152400">
              <a:lnSpc>
                <a:spcPct val="98000"/>
              </a:lnSpc>
              <a:buSzPct val="100000"/>
              <a:buChar char="•"/>
            </a:pPr>
            <a:r>
              <a:rPr 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Convertibles credit-spread stress window may move from 2008 to COVID — potentially increasing capital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5102352"/>
            <a:ext cx="11612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B335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5102352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B335C"/>
          </a:solidFill>
          <a:ln/>
        </p:spPr>
      </p:sp>
      <p:sp>
        <p:nvSpPr>
          <p:cNvPr id="23" name="Shape 21"/>
          <p:cNvSpPr/>
          <p:nvPr/>
        </p:nvSpPr>
        <p:spPr>
          <a:xfrm>
            <a:off x="2423160" y="5102352"/>
            <a:ext cx="365760" cy="1463040"/>
          </a:xfrm>
          <a:prstGeom prst="rect">
            <a:avLst/>
          </a:prstGeom>
          <a:solidFill>
            <a:srgbClr val="1B335C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5605272"/>
            <a:ext cx="457200" cy="457200"/>
          </a:xfrm>
          <a:prstGeom prst="ellipse">
            <a:avLst/>
          </a:prstGeom>
          <a:solidFill>
            <a:srgbClr val="2C4E7E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715000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7280" y="5102352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3017520" y="5212080"/>
            <a:ext cx="8686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B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IMA estimates are preliminary and likely optimistic.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b="1" dirty="0">
                <a:solidFill>
                  <a:srgbClr val="B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methodology completion is more likely to worsen results than to create material IMA benefit.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2026-07-12T19:00:41Z</dcterms:created>
  <dcterms:modified xsi:type="dcterms:W3CDTF">2026-07-12T19:00:41Z</dcterms:modified>
</cp:coreProperties>
</file>