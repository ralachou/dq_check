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212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IMA Assessment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Equity Desk Modellability &amp; Preliminary IMA Estimate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Convertibles • Index Trading • Listed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58200" y="38404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DE9E7"/>
          </a:solidFill>
          <a:ln w="15240">
            <a:solidFill>
              <a:srgbClr val="D95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68512" y="5486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36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material IMA benefit observed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20040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73152" cy="111556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Convertibles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07208" y="13533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889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43560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" y="1737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Low benefit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1993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Current: Low / no benefit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41648" y="1234440"/>
            <a:ext cx="320040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41648" y="1234440"/>
            <a:ext cx="73152" cy="111556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Trading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45936" y="13533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889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43560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42816" y="1737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Meaningful benefit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42816" y="1993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Current: No significant benefit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0376" y="1234440"/>
            <a:ext cx="320040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0376" y="1234440"/>
            <a:ext cx="73152" cy="111556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81544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Listed Flow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84664" y="13533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889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0384" y="143560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81544" y="1737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Meaningful benefit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81544" y="1993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Current: No significant benefit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2624328"/>
            <a:ext cx="3675888" cy="295351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624328"/>
            <a:ext cx="3675888" cy="3931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27249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driving the result?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261104" y="2624328"/>
            <a:ext cx="3675888" cy="295351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61104" y="2624328"/>
            <a:ext cx="3675888" cy="3931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5696" y="27249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 &amp; assumptions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19288" y="2624328"/>
            <a:ext cx="3675888" cy="295351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9288" y="2624328"/>
            <a:ext cx="3675888" cy="39319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27249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/ downside risk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13232" y="3182112"/>
            <a:ext cx="3246120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b="1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implied volatility is the primary capital driver</a:t>
            </a:r>
            <a:endParaRPr lang="en-US" sz="1070" dirty="0"/>
          </a:p>
          <a:p>
            <a:pPr marL="330200" indent="-3302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Trading: index options</a:t>
            </a:r>
            <a:endParaRPr lang="en-US" sz="1070" dirty="0"/>
          </a:p>
          <a:p>
            <a:pPr marL="330200" indent="-3302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Listed Flow: single-name options</a:t>
            </a:r>
            <a:endParaRPr lang="en-US" sz="1070" dirty="0"/>
          </a:p>
          <a:p>
            <a:pPr marL="330200" indent="-3302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Convertibles: single-name option risk plus issuer credit spread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desk results worsen; combining desks adds diversification, but not enough to create a material benefit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4471416" y="3182112"/>
            <a:ext cx="3246120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b="1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Long-dated vol risk beyond ~2Y is expected to be more non-modellable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counts are concentrated in short tenors, but long-dated positions carry larger market value and risk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explains why Listed Flow has not yet shown the expected IMA benefit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b="1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2007–2008 history is heavily proxy-driven: ~75% of drivers use SPX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8229600" y="3182112"/>
            <a:ext cx="3246120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b="1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Convertibles and Listed Flow estimates may be understated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 does not yet fully include punitive capital stress scenarios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Proxy-basis, beta and issuer-level scaling adjustments are not fully reflected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314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Convertibles credit-spread stress window may shift from 2008 to COVID, potentially increasing capital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502920" y="5742432"/>
            <a:ext cx="11192256" cy="594360"/>
          </a:xfrm>
          <a:prstGeom prst="roundRect">
            <a:avLst>
              <a:gd name="adj" fmla="val 769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59161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takeaway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103120" y="5870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estimates are preliminary and likely optimistic; completing stress, proxy and scaling treatments is more likely to increase capital than create material IMA benefit.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Desk Modellability &amp; Preliminary IMA Estimate</dc:title>
  <dc:subject>Equity Desk Modellability and Preliminary IMA Estimate</dc:subject>
  <dc:creator>OpenAI</dc:creator>
  <cp:lastModifiedBy>OpenAI</cp:lastModifiedBy>
  <cp:revision>1</cp:revision>
  <dcterms:created xsi:type="dcterms:W3CDTF">2026-07-12T19:02:04Z</dcterms:created>
  <dcterms:modified xsi:type="dcterms:W3CDTF">2026-07-12T19:02:04Z</dcterms:modified>
</cp:coreProperties>
</file>