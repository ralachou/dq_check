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Factor Eligibility Test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RFET Under FRTB IMA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77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RFET = proof that each risk factor is suitable and liquid enough to be treated as modellable under FRTB IMA.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3657600" cy="1463040"/>
          </a:xfrm>
          <a:prstGeom prst="rect">
            <a:avLst/>
          </a:prstGeom>
          <a:solidFill>
            <a:srgbClr val="25327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3832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 Test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05840" y="37947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risk factor suitable, trustworthy, representative, and defensible? Not just "is the data good?" — is it suitable for the model and the actual risk being modeled?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3200400"/>
            <a:ext cx="3657600" cy="1463040"/>
          </a:xfrm>
          <a:prstGeom prst="rect">
            <a:avLst/>
          </a:prstGeom>
          <a:solidFill>
            <a:srgbClr val="25327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3832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Test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029200" y="37947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enough valid Real Price Observations to prove market liquidity? RPOs must come from executed trades, firm quotes, or verifiable vendor observations.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implementation challenge is not just collecting prices; it is linking RPOs to the correct risk factor bucket, instrument, tenor, curve point, surface point, proxy, and model usage.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RFET Risk Factor Categories &amp; Mapping Complexity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risk factor must pass RFET quarterly. Classification depends on both qualitative suitability and quantitative RPO evidence.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32918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Factor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RFET Mapping Challenge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Single-Dimension RFs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EUR/USD spot, equity spot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1-to-1 mapping from RPO metadata to risk factor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Multi-Dimensional RFs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curves, vol surfaces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bucketing logic by tenor, expiry, strike, delta, maturity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Composed / Hybrid RFs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XCCY basis, bond price, equity forward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prove which embedded risks the RPO supports: IR, FX, basis, credit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Parametric RFs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SABR alpha, beta, rho, nu; skew/smile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 are calibrated, not directly observed; need strong methodology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 / Derived RFs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SOFR backfill, sector proxy, illiquid vol proxy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prove proxy is economically representative and defensible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416052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message: </a:t>
            </a:r>
            <a:pPr indent="0" marL="0">
              <a:buNone/>
            </a:pPr>
            <a:r>
              <a:rPr lang="en-US" sz="110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RFET is not just counting prices. The real work is proving that each RPO is real, representative, correctly mapped, bucketed, and suitable for the risk factor it supports.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Composed Risk Factors — Where RFET Becomes Hard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Composed risk factors combine multiple economic risks into one "all-in" market input.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31089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Composed RF 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Risks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RFET Qualitative Challenge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 all-in yield / price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+ credit spread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RPO may not clearly prove the credit spread component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XCCY all-in curve / forward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+ FX + basis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risk may be hidden inside the all-in level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forward all-in level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spot + dividend yield + funding spread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Dividend and funding risks may not be separately observable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3108960"/>
            <a:ext cx="7680960" cy="6400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310896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310896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RFET issue: </a:t>
            </a:r>
            <a:pPr indent="0" marL="0">
              <a:buNone/>
            </a:pPr>
            <a:r>
              <a:rPr lang="en-US" sz="110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all-in quote may be a valid market observation, but it may fail the qualitative test if we cannot prove which underlying risk factor it represents.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3931920"/>
            <a:ext cx="7680960" cy="822960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3931920"/>
            <a:ext cx="54864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393192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message: </a:t>
            </a:r>
            <a:pPr indent="0" marL="0">
              <a:buNone/>
            </a:pPr>
            <a:r>
              <a:rPr lang="en-US" sz="110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composed risk factors, RFET is not only "do we have RPOs?" It is: can we decompose, justify, and map the RPO to the correct underlying risk drivers?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Composed Risk Factors — Why They Create RFET Risk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Composed data objects may be acceptable for pricing, but they are risky as shockable risk factors if the embedded risks cannot be separated, mapped, and capitalized correctly.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468880" cy="201168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246888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Qualitative Test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must capture both general market risk and idiosyncratic risk. If one component is hidden, it may become NMRF.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all-in yield = IR + credit spread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10712" y="1463040"/>
            <a:ext cx="2468880" cy="201168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10712" y="1463040"/>
            <a:ext cx="24688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Liquidity Horizon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47872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embedded risks may require different liquidity horizons. Blending them can understate capital.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47872" y="2788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may be 10-day; credit spread may be 60-day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89904" y="1463040"/>
            <a:ext cx="2468880" cy="201168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1463040"/>
            <a:ext cx="246888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6227064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IMCC Aggregation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27064" y="19659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/ IMCC requires risk-class views. A blended RF makes risk-class attribution harder.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27064" y="2788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XCCY all-in curve = IR + FX + basis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703320"/>
            <a:ext cx="3657600" cy="10515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703320"/>
            <a:ext cx="54864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749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composed example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beta decomposed into sector factor + equity index factor + residual/idiosyncratic factor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703320"/>
            <a:ext cx="3657600" cy="10515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3703320"/>
            <a:ext cx="54864" cy="1051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749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composed examples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all-in RF: IR + credit spread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XCCY all-in RF: IR + FX + basis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forward all-in: dividend + funding spread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Parametric IV / Vol Risk Factors — RFET Treatment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502920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05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rule: If we represent a curve/surface using model parameters, RFET is tested on the market data used to calibrate the parameters, not directly on the parameters themselves.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7680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  <a:gridCol w="3657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Represents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RFET 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 / level of volatility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be supported by ATM option quotes/trades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 / correlation between underlying and vol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be supported by OTM strikes / delta points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Vol-of-vol / smile curvature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be supported by multiple OTM strikes across smile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Elasticity / model-shape assumption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a model parameter, not a directly observable market RF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749040"/>
            <a:ext cx="7680960" cy="6858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374904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374904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 on Beta: </a:t>
            </a:r>
            <a:pPr indent="0" marL="0">
              <a:buNone/>
            </a:pPr>
            <a:r>
              <a:rPr lang="en-US" sz="105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is not usually a "real" market-observed risk factor. Unless the bank can show beta is dynamically calibrated from eligible option RPOs and materially shockable, it should be treated as a model parameter / calibration assumption, not a standalone RFET risk factor.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parametric vol, the RFET evidence should sit behind the option market data: ATM, OTM strikes, expiry, delta/moneyness — not just the stored SABR parameters.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Price Observations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That Matter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83080"/>
            <a:ext cx="3749040" cy="132588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83080"/>
            <a:ext cx="374904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really counts as an RPO?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price is a Real Price Observation. What are the criteria that separate a valid RPO from an unusable data point?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783080"/>
            <a:ext cx="3749040" cy="132588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783080"/>
            <a:ext cx="37490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920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9496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Having enough RPOs ≠ modellable?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37760" y="23317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the quantitative count threshold is necessary but not sufficient. Quality, representativeness, and mapping must also hold.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3337560"/>
            <a:ext cx="3749040" cy="132588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337560"/>
            <a:ext cx="374904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474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3474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RPOs apply to qualitative vs quantitative tests?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3886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RPOs serve a dual role: they prove liquidity (quantitative) and must also be suitable, representative, and defensible (qualitative).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3337560"/>
            <a:ext cx="3749040" cy="132588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337560"/>
            <a:ext cx="37490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474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94960" y="3474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RPO implications across risk factor categories?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937760" y="3886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Single-dimension, multi-dimensional, composed, parametric, and proxy RFs each face different RPO mapping and evidence challenges.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Really Counts as an RPO?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price observation is considered “real” if it originates from an actual, executed trade/transaction, commercial transaction processed by the bank, or from a vendor.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65760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AS RPO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3657600" cy="5943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011680"/>
            <a:ext cx="54864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0391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Trades
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completed, settled transaction between counterparties. The price reflects where the market actually cleared.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3657600" cy="5943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697480"/>
            <a:ext cx="54864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249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/ Firm Quotes
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actionable, binding quote from a broker, market maker, or dealer. The quoting party is obligated to trade at the stated level.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3657600" cy="5943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383280"/>
            <a:ext cx="54864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4107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/ Vendor Prices
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estimated market price provided by a data vendor, derived from real transaction data or consensus pricing methodologies.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508760"/>
            <a:ext cx="365760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ACCEPTED AS RPO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011680"/>
            <a:ext cx="3657600" cy="5943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2011680"/>
            <a:ext cx="54864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0391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Prices / Quotes
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think the 5-year EUR/USD basis swap is around 14 bps, but I am not obligated to trade at this level.” No commitment, no RPO.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697480"/>
            <a:ext cx="3657600" cy="5943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2697480"/>
            <a:ext cx="54864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7249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Marks
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valuations set by the trading desk. These are the bank’s own estimate, not an observed market event.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383280"/>
            <a:ext cx="3657600" cy="59436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3383280"/>
            <a:ext cx="54864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34107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Screen Prices
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source bond prices from Bloomberg” is not enough. The price must be linked to a specific trade, instrument, or firm quote — not a generic feed.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4160520"/>
            <a:ext cx="54864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test: </a:t>
            </a:r>
            <a:pPr indent="0" marL="0">
              <a:buNone/>
            </a:pPr>
            <a:r>
              <a:rPr lang="en-US" sz="110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RPOs must be linked to actual trades, transactions, or instruments. “My desk saves the mark daily” or “we source rates from Bloomberg” does not qualify. Each observation must evidence a real market pricing event.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Having Enough RPOs ≠ Modellable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factor can pass the quantitative RPO count and still fail RFET. If the qualitative test is not met, the risk factor becomes a Non-Modellable Risk Factor (NMRF) — specifically Type B.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560320" cy="82296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25603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Test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PASS — enough RPOs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1645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A92A8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931920" y="1554480"/>
            <a:ext cx="2560320" cy="82296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931920" y="1554480"/>
            <a:ext cx="256032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Test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FAIL — not defensible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1645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A92A8"/>
                </a:solidFill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132320" y="1554480"/>
            <a:ext cx="1371600" cy="8229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0" y="1645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NMRF
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would a risk factor fail the qualitative test?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7680960" cy="475488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017520"/>
            <a:ext cx="54864" cy="47548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01752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 in Proxies:  </a:t>
            </a:r>
            <a:pPr indent="0" marL="0">
              <a:buNone/>
            </a:pPr>
            <a:r>
              <a:rPr lang="en-US" sz="95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proxy used to represent the risk factor is not economically representative. The relationship between the proxy and the actual risk is weak, unstable, or not defensible under scrutiny.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3566160"/>
            <a:ext cx="7680960" cy="475488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566160"/>
            <a:ext cx="54864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56616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Flawed Risk Factor Derivation:  </a:t>
            </a:r>
            <a:pPr indent="0" marL="0">
              <a:buNone/>
            </a:pPr>
            <a:r>
              <a:rPr lang="en-US" sz="95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risk factor is derived or constructed is questionable. The methodology to extract, interpolate, or calibrate the risk factor from market data cannot be justified or documented.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4114800"/>
            <a:ext cx="7680960" cy="475488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114800"/>
            <a:ext cx="54864" cy="4754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11480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to Capture Proper Risk:  </a:t>
            </a:r>
            <a:pPr indent="0" marL="0">
              <a:buNone/>
            </a:pPr>
            <a:r>
              <a:rPr lang="en-US" sz="95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factor does not adequately represent the actual risk being modeled. Key risk drivers may be missing, blended, or masked — meaning the P&amp;L explanation and capital attribution break down.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520" y="4617720"/>
            <a:ext cx="76809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617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quantity alone is not proof of modellability. If the qualitative test fails, the risk factor is NMRF Type B regardless of how many RPOs exist.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RPOs Apply to Qualitative &amp; Quantitative Tests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RPOs serve a dual purpose in RFET. They are counted for the quantitative threshold and scrutinized for quality under the qualitative test. Both must pass.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65760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Test — Proving Liquidity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3657600" cy="530352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842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asks
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enough RPOs over the assessment period to evidence that this risk factor is actively priced?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2587752"/>
            <a:ext cx="36576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06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role
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RPO is counted. The total count must meet the regulatory threshold for the risk factor to pass.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3209544"/>
            <a:ext cx="3657600" cy="530352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278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criteria
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number of RPOs in the observation window (e.g., 24 RPOs over 12 months with no 90-day gap, or alternative monthly count test).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3831336"/>
            <a:ext cx="36576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4962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outcome
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NMRF Type A — insufficient liquidity evidence. The risk factor cannot be included in the ES model.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417320"/>
            <a:ext cx="365760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417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Test — Proving Suitability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965960"/>
            <a:ext cx="3657600" cy="53035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9842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asks
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RPOs suitable, trustworthy, representative of the actual risk, and defensible under regulatory review?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587752"/>
            <a:ext cx="36576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606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role
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RPO is examined for quality: does it map to the right risk factor, bucket, tenor, curve/surface point, and model usage?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3209544"/>
            <a:ext cx="3657600" cy="53035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2278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criteria
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RPOs must be correctly linked, representative of the modeled risk, and not weakened by proxy gaps, derivation flaws, or blended risk factors.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3831336"/>
            <a:ext cx="365760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84962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outcome
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NMRF Type B — qualitative deficiency. Even with enough RPOs, the risk factor fails if the evidence is not suitable or defensible.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520" y="4526280"/>
            <a:ext cx="76809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tests must pass independently. Quantitative pass + qualitative fail = NMRF Type B.  Quantitative fail = NMRF Type A.  Both pass = Modellable.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Mapping RPOs to Risk Factors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mapping approach depends on the risk factor category.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60120"/>
          <a:ext cx="7680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011680"/>
                <a:gridCol w="42062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RPO Readiness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Mapping Approach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Ready — IR Swaps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mapping. Swap transactions map to curve tenor points.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Single-Dimension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Ready — cash, stocks, ETFs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mapping. Cash positions, equity trades map 1-to-1.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Composed RFs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 Two approaches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A: Pick the most representative RPO for the risk.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B: Decompose into all components, run RFET for each.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Parametric RFs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 Run RFET on inputs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RFET is tested on the market data used to calibrate the parameters, not the parameters themselves.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2880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XCCY Basis — Two Approaches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" y="3200400"/>
            <a:ext cx="3657600" cy="96012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3200400"/>
            <a:ext cx="3657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27355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A: Decompose XCCY
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RFET separately for each component:
</a:t>
            </a:r>
            <a:endParaRPr lang="en-US" sz="1050" dirty="0"/>
          </a:p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Index 1  •  IR Index 2  •  FX Spot  •  FX Forward  •  Basis Risk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80" y="3200400"/>
            <a:ext cx="3657600" cy="960120"/>
          </a:xfrm>
          <a:prstGeom prst="rect">
            <a:avLst/>
          </a:prstGeom>
          <a:solidFill>
            <a:srgbClr val="F0F2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3200400"/>
            <a:ext cx="36576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327355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B: Most Representative RPO
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2D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executed XCCY swap transaction itself as the RPO for the composed basis risk factor.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31520" y="4343400"/>
            <a:ext cx="768096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3708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Mapping Chain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RPO  →  Instrument Attributes  →  RF (Underlying) + Representativeness Decision  →  RFET Count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RFET Under FRTB IMA</dc:title>
  <dc:subject>PptxGenJS Presentation</dc:subject>
  <dc:creator>RFET Team</dc:creator>
  <cp:lastModifiedBy>RFET Team</cp:lastModifiedBy>
  <cp:revision>1</cp:revision>
  <dcterms:created xsi:type="dcterms:W3CDTF">2026-05-19T20:20:15Z</dcterms:created>
  <dcterms:modified xsi:type="dcterms:W3CDTF">2026-05-19T20:20:15Z</dcterms:modified>
</cp:coreProperties>
</file>